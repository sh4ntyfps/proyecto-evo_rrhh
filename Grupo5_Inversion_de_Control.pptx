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8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Reparto sugerido: teoría (láminas 2 a 8), práctica (9 a 14) y cierre (15 y 16). Todos deben poder responder sobre todo el tema: el dominio del tema y las respuestas valen 10 de 20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Inversión de Control es un principio general: el control del flujo o de la creación de objetos lo toma un elemento externo (framework o contenedor). Ejemplo cotidiano: en ASP.NET Core nosotros no llamamos a los controladores; el framework los crea y los llama.
Pregunta probable: ¿IoC es lo mismo que inyección de dependencias? No. La inyección de dependencias es una técnica para lograr IoC.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una clase hace new de sus dependencias queda atada a ellas. Consecuencias: acoplamiento alto, pruebas difíciles porque no se pueden sustituir y cambios costosos porque un cambio de implementación obliga a editar varias clases.
Pregunta probable: ¿siempre es malo usar new? No. Para objetos simples (modelos, listas) está bien. El problema aparece con dependencias que pueden cambiar o que necesitamos sustituir, como base de datos, correo o archivos.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Antes: la clase decide qué implementación usa (Correo) y la crea con new. Después: la clase solo declara lo que necesita (una interfaz, ICorreo) y lo recibe por el constructor.
Esto es lo que significa que una clase no deba controlar directamente la creación de sus dependencias: alguien externo se las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depender de una interfaz, la clase de alto nivel y la de bajo nivel dependen de la abstracción: la flecha de la implementación se invierte hacia la interfaz. Ese es el Principio de Inversión de Dependencias (DIP), la D de SOLID. Reduce el acoplamiento porque la clase ya no conoce los detalles de la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Depender de una clase concreta ata a quien la usa a su forma de construcción. Depender de una interfaz solo expone el contrato: la implementación se cambia en un solo lugar (el registro) y en las pruebas se sustituye por un doble.
Pregunta probable: ¿hace falta una interfaz para todo? No. Conviene cuando hay varias implementaciones posibles, en los límites del sistema (base de datos, correo, archivos) o cuando necesitamos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IoC es el principio; la inyección de dependencias es la técnica (por constructor, propiedad o método); la abstracción es el contrato; la interfaz es la forma de expresarlo en C#. El contenedor de ASP.NET Core automatiza la creación y entrega. No es obligatorio: se puede inyectar a mano, pero el contenedor lo automatiza.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Mantenimiento: un cambio en un solo lugar. Pruebas unitarias: se reemplazan las dependencias por dobles y se prueba la clase en aislamiento. Evolución: se agregan implementaciones nuevas sin modificar código ya probado, que es la idea del principio abierto-cerrado.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proyecto ya usa el contenedor de ASP.NET Core con inyección por constructor. Lo que falta es la abstracción: EmpleadoServicio depende de clases concretas (EmpleadoData y PersonaData), que a su vez reciben EvoRRLDbContext. Cifras verificadas en el repositorio: 11 controladores usan EmpleadoServicio, no existe ninguna interfaz en la solución y Program.cs registra 77 clases de datos como concretas.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líneas reales de Services/EmpleadoServicio.cs (líneas 5 a 14). Las líneas 7, 8 y 10 fijan la dependencia a clases concretas. Además, EmpleadoData y PersonaData reciben EvoRRLDbContext, así que probar la lógica del servicio exige una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1: crear Capa Datos/Data/IEmpleadoData.cs con solo el método que el servicio usa (Listar). Paso 2: EmpleadoData implementa la interfaz; el cuerpo de la clase no cambia. Se repite igual con IPersonaData y PersonaData.
CÓDIGO PARA COPIAR
// Capa Datos/Data/IEmpleadoData.cs (archivo nuevo)
using Capa_Entidades;
namespace Capa_Datos;
public interface IEmpleadoData
{
    Task&lt;List&lt;Empleado&gt;&gt; Listar();
}
// Capa Datos/Data/IPersonaData.cs (archivo nuevo, igual pero con Persona)
using Capa_Entidades;
namespace Capa_Datos;
public interface IPersonaData
{
    Task&lt;List&lt;Persona&gt;&gt; Listar();
}
// EmpleadoData.cs, línea 6:  public class EmpleadoData : IEmpleadoData
// PersonaData.cs,  línea 6:  public class PersonaData : IPersonaData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3: EmpleadoServicio.cs cambia solo los tipos (líneas 7, 8 y 10); el cuerpo del servicio queda igual. Paso 4: Program.cs registra cada interfaz con su implementación. Se conservan los registros concretos que ya existen porque otras clases todavía los usan.
Pregunta probable: ¿por qué AddScoped? Porque el DbContext vive por solicitud (scoped); un servicio Singleton no puede depender de él.
CÓDIGO PARA COPIAR
// Services/EmpleadoServicio.cs, líneas 7, 8 y 10
private readonly IEmpleadoData _empleadoData;
private readonly IPersonaData _personaData;
public EmpleadoServicio(IEmpleadoData empleadoData, IPersonaData personaData)
// Program.cs, después de la línea 111
// Abstracciones de acceso a datos (Inversion de Control)
builder.Services.AddScoped&lt;IEmpleadoData, EmpleadoData&gt;();
builder.Services.AddScoped&lt;IPersonaData, PersonaData&gt;();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11 controladores no cambian: dependen de EmpleadoServicio, cuyo constructor ahora pide interfaces y el contenedor las resuelve. La misma clase se usa con la implementación real en producción y con un doble de prueba en las pruebas. Lo mismo aplica a IPersonaData y PersonaData.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de pruebas (xUnit) todavía no existe en la solución; se agrega después. La prueba crea EmpleadoServicio con dobles en memoria y verifica la lógica de nombres.
CÓDIGO COMPLETO DE LA PRUEBA (incluye los dobles)
using Capa_Datos;
using Capa_Entidades;
using Proyecto_Evo_RRLL.Services;
using Xunit;
namespace Proyecto_Evo_RRLL.Tests;
public class EmpleadoServicioTests
{
    [Fact]
    public async Task Sin_persona_usa_el_codigo()
    {
        var empleado = new Empleado { IdEmpleado = 3 };
        var servicio = new EmpleadoServicio(
            new EmpleadoDataFalso(empleado),
            new PersonaDataFalsa());
        var lista = await servicio.EmpleadosAsync();
        Assert.Equal("(Empleado 3)", lista[0].Nombre);
    }
    private class EmpleadoDataFalso(params Empleado[] datos) : IEmpleadoData
    {
        public Task&lt;List&lt;Empleado&gt;&gt; Listar() =&gt; Task.FromResult(datos.ToList());
    }
    private class PersonaDataFalsa(params Persona[] datos) : IPersonaData
    {
        public Task&lt;List&lt;Persona&gt;&gt; Listar() =&gt; Task.FromResult(datos.ToList());
    }
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Depender de abstracciones reduce el acoplamiento. 2) Las dependencias se entregan; la clase no las crea. 3) Al depender de interfaces, se agregan implementaciones sin modificar código ya probado: abierto a extensión y cerrado a modificación.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FRECUENTES PARA PREPARARSE
¿Qué es un contenedor de IoC? Componente que crea los objetos y resuelve sus dependencias según los registros.
¿Qué tiempos de vida existen? Singleton: una instancia para toda la aplicación. Scoped: una por solicitud. Transient: una nueva cada vez que se pide.
¿Qué es Service Locator? Pedir las dependencias al contenedor desde dentro de la clase (por ejemplo con GetService). Oculta las dependencias; se prefiere la inyección por constructor.
¿Diferencia entre un fake y un mock? El fake es una implementación simple (por ejemplo con datos en memoria); el mock además verifica las interacciones.
¿IoC, DI y DIP son lo mismo? No. IoC es el principio general, DI es una técnica para lograrlo y DIP es la regla de depender de abstracciones.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PE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Control</a:t>
            </a:r>
            <a:endParaRPr lang="es-PE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30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5</a:t>
            </a:r>
            <a:endParaRPr lang="es-PE" sz="3000" dirty="0"/>
          </a:p>
        </p:txBody>
      </p:sp>
      <p:sp>
        <p:nvSpPr>
          <p:cNvPr id="4" name="Text 2"/>
          <p:cNvSpPr/>
          <p:nvPr/>
        </p:nvSpPr>
        <p:spPr>
          <a:xfrm>
            <a:off x="9189720" y="20116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500" dirty="0"/>
          </a:p>
        </p:txBody>
      </p:sp>
      <p:sp>
        <p:nvSpPr>
          <p:cNvPr id="5" name="Text 3"/>
          <p:cNvSpPr/>
          <p:nvPr/>
        </p:nvSpPr>
        <p:spPr>
          <a:xfrm>
            <a:off x="8503920" y="411480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s-PE" sz="1500" dirty="0"/>
          </a:p>
        </p:txBody>
      </p:sp>
      <p:sp>
        <p:nvSpPr>
          <p:cNvPr id="6" name="Text 4"/>
          <p:cNvSpPr/>
          <p:nvPr/>
        </p:nvSpPr>
        <p:spPr>
          <a:xfrm>
            <a:off x="10149840" y="41148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9144000" y="2578608"/>
            <a:ext cx="41148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0561320" y="2578608"/>
            <a:ext cx="32004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784080" y="4398264"/>
            <a:ext cx="365760" cy="0"/>
          </a:xfrm>
          <a:prstGeom prst="line">
            <a:avLst/>
          </a:prstGeom>
          <a:noFill/>
          <a:ln w="25400">
            <a:solidFill>
              <a:srgbClr val="AAB4C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Inversión de Control?</a:t>
            </a:r>
            <a:endParaRPr lang="es-PE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de crear y entregar las dependencias pasa de la clase a un elemento externo.</a:t>
            </a:r>
            <a:endParaRPr lang="es-PE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245352" y="23774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IoC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6519672" y="260604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IoC</a:t>
            </a:r>
            <a:endParaRPr lang="es-PE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</a:t>
            </a:r>
            <a:endParaRPr lang="es-PE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34290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B</a:t>
            </a:r>
            <a:endParaRPr lang="es-PE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3817620"/>
            <a:ext cx="1097280" cy="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274320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</a:t>
            </a:r>
            <a:endParaRPr lang="es-P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controla sus dependencias.</a:t>
            </a:r>
            <a:endParaRPr lang="es-PE" sz="1700" dirty="0"/>
          </a:p>
        </p:txBody>
      </p:sp>
      <p:sp>
        <p:nvSpPr>
          <p:cNvPr id="13" name="Text 11"/>
          <p:cNvSpPr/>
          <p:nvPr/>
        </p:nvSpPr>
        <p:spPr>
          <a:xfrm>
            <a:off x="7845552" y="309067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</a:t>
            </a:r>
            <a:endParaRPr lang="es-PE" sz="1600" dirty="0"/>
          </a:p>
        </p:txBody>
      </p:sp>
      <p:sp>
        <p:nvSpPr>
          <p:cNvPr id="15" name="Text 13"/>
          <p:cNvSpPr/>
          <p:nvPr/>
        </p:nvSpPr>
        <p:spPr>
          <a:xfrm>
            <a:off x="9601200" y="4069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B</a:t>
            </a:r>
            <a:endParaRPr lang="es-PE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7452360" y="3657600"/>
            <a:ext cx="868680" cy="41148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9555480" y="3657600"/>
            <a:ext cx="914400" cy="41148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8321040" y="4411980"/>
            <a:ext cx="128016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658368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s-P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639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</a:t>
            </a:r>
            <a:endParaRPr lang="es-PE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096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s-PE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 las crea y las entrega.</a:t>
            </a:r>
            <a:endParaRPr lang="es-PE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Hollywood: «no nos llames, nosotros te llamamos».</a:t>
            </a:r>
            <a:endParaRPr lang="es-PE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resuelve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852160" cy="4206240"/>
          </a:xfrm>
          <a:prstGeom prst="roundRect">
            <a:avLst>
              <a:gd name="adj" fmla="val 2174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800" dirty="0"/>
          </a:p>
        </p:txBody>
      </p:sp>
      <p:sp>
        <p:nvSpPr>
          <p:cNvPr id="5" name="Text 3"/>
          <p:cNvSpPr/>
          <p:nvPr/>
        </p:nvSpPr>
        <p:spPr>
          <a:xfrm>
            <a:off x="416052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ServidorCorreo</a:t>
            </a:r>
            <a:endParaRPr lang="es-PE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2606040" y="2240280"/>
            <a:ext cx="1554480" cy="118872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3520440" y="1947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30632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GeneradorPdf</a:t>
            </a:r>
            <a:endParaRPr lang="es-PE" sz="1500" dirty="0"/>
          </a:p>
        </p:txBody>
      </p:sp>
      <p:sp>
        <p:nvSpPr>
          <p:cNvPr id="9" name="Shape 7"/>
          <p:cNvSpPr/>
          <p:nvPr/>
        </p:nvSpPr>
        <p:spPr>
          <a:xfrm>
            <a:off x="2606040" y="3429000"/>
            <a:ext cx="1554480" cy="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352044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42519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BaseDatos</a:t>
            </a:r>
            <a:endParaRPr lang="es-PE" sz="1500" dirty="0"/>
          </a:p>
        </p:txBody>
      </p:sp>
      <p:sp>
        <p:nvSpPr>
          <p:cNvPr id="12" name="Shape 10"/>
          <p:cNvSpPr/>
          <p:nvPr/>
        </p:nvSpPr>
        <p:spPr>
          <a:xfrm>
            <a:off x="2606040" y="3429000"/>
            <a:ext cx="1554480" cy="1188720"/>
          </a:xfrm>
          <a:prstGeom prst="line">
            <a:avLst/>
          </a:prstGeom>
          <a:noFill/>
          <a:ln w="2222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3520440" y="4325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200" i="1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s-PE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crea y conoce cada implementación.</a:t>
            </a:r>
            <a:endParaRPr lang="es-PE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150876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995160" y="184708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1691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Acoplamiento alto</a:t>
            </a:r>
            <a:endParaRPr lang="es-PE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1122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queda atada a una implementación.</a:t>
            </a:r>
            <a:endParaRPr lang="es-PE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292608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995160" y="326440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108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difíciles</a:t>
            </a:r>
            <a:endParaRPr lang="es-PE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52958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sustituir por un doble.</a:t>
            </a:r>
            <a:endParaRPr lang="es-PE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434340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995160" y="4681728"/>
            <a:ext cx="548640" cy="54864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526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costosos</a:t>
            </a:r>
            <a:endParaRPr lang="es-PE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946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la implementación obliga a editar varias clases.</a:t>
            </a:r>
            <a:endParaRPr lang="es-PE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no crea lo que necesita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603504" y="1481328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s-PE" sz="1300" dirty="0"/>
          </a:p>
        </p:txBody>
      </p:sp>
      <p:sp>
        <p:nvSpPr>
          <p:cNvPr id="4" name="Text 2"/>
          <p:cNvSpPr/>
          <p:nvPr/>
        </p:nvSpPr>
        <p:spPr>
          <a:xfrm>
            <a:off x="6217920" y="1481328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s-PE" sz="1300" dirty="0"/>
          </a:p>
        </p:txBody>
      </p:sp>
      <p:pic>
        <p:nvPicPr>
          <p:cNvPr id="5" name="Image 0" descr="Código C# de ejemplo: la clase Reporte crea su dependencia con new Correo() dentro del constructo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965960"/>
            <a:ext cx="5247084" cy="3524250"/>
          </a:xfrm>
          <a:prstGeom prst="rect">
            <a:avLst/>
          </a:prstGeom>
        </p:spPr>
      </p:pic>
      <p:pic>
        <p:nvPicPr>
          <p:cNvPr id="6" name="Image 1" descr="Código C# de ejemplo: la clase Reporte recibe un ICorreo por el constructor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65960"/>
            <a:ext cx="5358705" cy="35242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decide qué usa.</a:t>
            </a:r>
            <a:endParaRPr lang="es-PE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recibe lo que usa.</a:t>
            </a:r>
            <a:endParaRPr lang="es-PE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acoplamiento con abstracciones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937760" y="1508760"/>
            <a:ext cx="6702552" cy="3931920"/>
          </a:xfrm>
          <a:prstGeom prst="roundRect">
            <a:avLst>
              <a:gd name="adj" fmla="val 2326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s-PE" sz="1300" dirty="0"/>
          </a:p>
        </p:txBody>
      </p:sp>
      <p:sp>
        <p:nvSpPr>
          <p:cNvPr id="6" name="Text 4"/>
          <p:cNvSpPr/>
          <p:nvPr/>
        </p:nvSpPr>
        <p:spPr>
          <a:xfrm>
            <a:off x="5212080" y="173736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301752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</a:t>
            </a:r>
            <a:endParaRPr lang="es-PE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429000"/>
            <a:ext cx="822960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un detalle.</a:t>
            </a:r>
            <a:endParaRPr lang="es-PE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3017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s-PE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7889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FF4D6"/>
          </a:solidFill>
          <a:ln w="19050">
            <a:solidFill>
              <a:srgbClr val="1B243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«interfaz»</a:t>
            </a:r>
            <a:endParaRPr lang="es-PE" sz="1200" dirty="0"/>
          </a:p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ICorreo</a:t>
            </a:r>
            <a:endParaRPr lang="es-PE" sz="1200" dirty="0"/>
          </a:p>
        </p:txBody>
      </p:sp>
      <p:sp>
        <p:nvSpPr>
          <p:cNvPr id="13" name="Text 11"/>
          <p:cNvSpPr/>
          <p:nvPr/>
        </p:nvSpPr>
        <p:spPr>
          <a:xfrm>
            <a:off x="10104120" y="21945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</a:t>
            </a:r>
            <a:endParaRPr lang="es-PE" sz="1500" dirty="0"/>
          </a:p>
        </p:txBody>
      </p:sp>
      <p:sp>
        <p:nvSpPr>
          <p:cNvPr id="14" name="Text 12"/>
          <p:cNvSpPr/>
          <p:nvPr/>
        </p:nvSpPr>
        <p:spPr>
          <a:xfrm>
            <a:off x="10104120" y="39319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CorreoFalso</a:t>
            </a:r>
            <a:endParaRPr lang="es-PE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10412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s-PE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04120" y="4700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s-PE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429000"/>
            <a:ext cx="868680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 flipH="1">
            <a:off x="9326880" y="2560320"/>
            <a:ext cx="777240" cy="54864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 flipH="1" flipV="1">
            <a:off x="9326880" y="3749040"/>
            <a:ext cx="777240" cy="54864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52120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un contrato.</a:t>
            </a:r>
            <a:endParaRPr lang="es-PE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de dependencia apuntan a la abstracción.</a:t>
            </a:r>
            <a:endParaRPr lang="es-PE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 frente a interfaz</a:t>
            </a:r>
            <a:endParaRPr lang="es-PE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6" cy="42519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concreta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conoce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está construida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su contrato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Cambiar la implementación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 a editar a quien la usa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cambia en un solo lugar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Requieren la clase real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altLang="en-US" sz="2000" dirty="0">
                          <a:solidFill>
                            <a:srgbClr val="3A46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Admiten un doble de prueba</a:t>
                      </a:r>
                      <a:endParaRPr lang="es-PE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relacionan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Control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E6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Principio: otro decide cómo se crean y conectan los objetos.</a:t>
            </a:r>
            <a:endParaRPr lang="es-PE" sz="2200" dirty="0"/>
          </a:p>
        </p:txBody>
      </p:sp>
      <p:sp>
        <p:nvSpPr>
          <p:cNvPr id="4" name="Shape 2"/>
          <p:cNvSpPr/>
          <p:nvPr/>
        </p:nvSpPr>
        <p:spPr>
          <a:xfrm>
            <a:off x="2980944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454237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Técnica: se entregan a la clase, por lo general por el constructor.</a:t>
            </a:r>
            <a:endParaRPr lang="es-PE" sz="2200" dirty="0"/>
          </a:p>
        </p:txBody>
      </p:sp>
      <p:sp>
        <p:nvSpPr>
          <p:cNvPr id="6" name="Shape 4"/>
          <p:cNvSpPr/>
          <p:nvPr/>
        </p:nvSpPr>
        <p:spPr>
          <a:xfrm>
            <a:off x="5886541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359835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del que depende la clase.</a:t>
            </a:r>
            <a:endParaRPr lang="es-PE" sz="2200" dirty="0"/>
          </a:p>
        </p:txBody>
      </p:sp>
      <p:sp>
        <p:nvSpPr>
          <p:cNvPr id="8" name="Shape 6"/>
          <p:cNvSpPr/>
          <p:nvPr/>
        </p:nvSpPr>
        <p:spPr>
          <a:xfrm>
            <a:off x="8792139" y="3108960"/>
            <a:ext cx="418429" cy="0"/>
          </a:xfrm>
          <a:prstGeom prst="line">
            <a:avLst/>
          </a:prstGeom>
          <a:noFill/>
          <a:ln w="28575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265432" y="19202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3F5F8"/>
          </a:solidFill>
          <a:ln w="12700">
            <a:solidFill>
              <a:srgbClr val="D5DBE3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</a:t>
            </a:r>
            <a:endParaRPr lang="es-PE" sz="2200" dirty="0"/>
          </a:p>
          <a:p>
            <a:pPr marL="0" indent="0" algn="l">
              <a:buNone/>
            </a:pPr>
            <a:r>
              <a:rPr lang="es-PE" altLang="en-US" sz="17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expresa la abstracción en C#.</a:t>
            </a:r>
            <a:endParaRPr lang="es-PE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4D6"/>
          </a:solidFill>
          <a:ln w="6350">
            <a:solidFill>
              <a:srgbClr val="FFF4D6"/>
            </a:solidFill>
          </a:ln>
        </p:spPr>
        <p:txBody>
          <a:bodyPr wrap="square" lIns="228600" tIns="228600" rIns="228600" bIns="228600" rtlCol="0" anchor="ctr"/>
          <a:lstStyle/>
          <a:p>
            <a:pPr marL="0" indent="0" algn="l">
              <a:buNone/>
            </a:pPr>
            <a:r>
              <a:rPr lang="es-PE" alt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ASP.NET Core, el contenedor crea las implementaciones y las entrega.</a:t>
            </a:r>
            <a:endParaRPr lang="es-PE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para el proyecto</a:t>
            </a:r>
            <a:endParaRPr lang="es-PE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s-P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se hace en un solo lugar.</a:t>
            </a:r>
            <a:endParaRPr lang="es-PE" sz="2200" dirty="0"/>
          </a:p>
        </p:txBody>
      </p:sp>
      <p:sp>
        <p:nvSpPr>
          <p:cNvPr id="7" name="Shape 5"/>
          <p:cNvSpPr/>
          <p:nvPr/>
        </p:nvSpPr>
        <p:spPr>
          <a:xfrm>
            <a:off x="4319168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684928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684928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</a:t>
            </a:r>
            <a:endParaRPr lang="es-PE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84928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se reemplazan por dobles de prueba.</a:t>
            </a:r>
            <a:endParaRPr lang="es-PE" sz="2200" dirty="0"/>
          </a:p>
        </p:txBody>
      </p:sp>
      <p:sp>
        <p:nvSpPr>
          <p:cNvPr id="11" name="Shape 9"/>
          <p:cNvSpPr/>
          <p:nvPr/>
        </p:nvSpPr>
        <p:spPr>
          <a:xfrm>
            <a:off x="8089697" y="1691640"/>
            <a:ext cx="3557016" cy="4023360"/>
          </a:xfrm>
          <a:prstGeom prst="roundRect">
            <a:avLst>
              <a:gd name="adj" fmla="val 2571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455457" y="2103120"/>
            <a:ext cx="731520" cy="7315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455457" y="31546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s-PE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55457" y="3840480"/>
            <a:ext cx="2825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agregan implementaciones sin modificar código ya probado.</a:t>
            </a:r>
            <a:endParaRPr lang="es-PE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caso: EmpleadoServicio</a:t>
            </a:r>
            <a:endParaRPr lang="es-PE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8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identificado: el servicio usa implementaciones concretas en lugar de interfaces.</a:t>
            </a:r>
            <a:endParaRPr lang="es-PE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AsistenciaController</a:t>
            </a:r>
            <a:endParaRPr lang="es-PE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2423160"/>
            <a:ext cx="594360" cy="82296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SaludController</a:t>
            </a:r>
            <a:endParaRPr lang="es-PE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3154680"/>
            <a:ext cx="594360" cy="9144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FamiliaController</a:t>
            </a:r>
            <a:endParaRPr lang="es-PE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2880360" y="3246120"/>
            <a:ext cx="594360" cy="64008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4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controladores</a:t>
            </a:r>
            <a:endParaRPr lang="es-PE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874520"/>
            <a:ext cx="1773936" cy="329184"/>
          </a:xfrm>
          <a:prstGeom prst="roundRect">
            <a:avLst>
              <a:gd name="adj" fmla="val 22222"/>
            </a:avLst>
          </a:prstGeom>
          <a:solidFill>
            <a:srgbClr val="B4443C"/>
          </a:solidFill>
          <a:ln w="6350">
            <a:solidFill>
              <a:srgbClr val="B444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concretas</a:t>
            </a:r>
            <a:endParaRPr lang="es-PE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</a:t>
            </a:r>
            <a:endParaRPr lang="es-PE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34290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PersonaData</a:t>
            </a:r>
            <a:endParaRPr lang="es-PE" sz="1500" dirty="0"/>
          </a:p>
        </p:txBody>
      </p:sp>
      <p:sp>
        <p:nvSpPr>
          <p:cNvPr id="15" name="Shape 13"/>
          <p:cNvSpPr/>
          <p:nvPr/>
        </p:nvSpPr>
        <p:spPr>
          <a:xfrm flipV="1">
            <a:off x="5669280" y="2697480"/>
            <a:ext cx="594360" cy="54864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669280" y="3246120"/>
            <a:ext cx="594360" cy="54864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869680" y="26974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EvoRRLDbContext</a:t>
            </a:r>
            <a:endParaRPr lang="es-PE" sz="1500" dirty="0"/>
          </a:p>
        </p:txBody>
      </p:sp>
      <p:sp>
        <p:nvSpPr>
          <p:cNvPr id="18" name="Shape 16"/>
          <p:cNvSpPr/>
          <p:nvPr/>
        </p:nvSpPr>
        <p:spPr>
          <a:xfrm>
            <a:off x="8275320" y="2697480"/>
            <a:ext cx="594360" cy="36576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 flipV="1">
            <a:off x="8275320" y="3246120"/>
            <a:ext cx="594360" cy="54864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281160" y="3840480"/>
            <a:ext cx="1371600" cy="868680"/>
          </a:xfrm>
          <a:prstGeom prst="can">
            <a:avLst/>
          </a:prstGeom>
          <a:solidFill>
            <a:srgbClr val="1B2430"/>
          </a:solidFill>
          <a:ln w="12700">
            <a:solidFill>
              <a:srgbClr val="1B24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s-PE" sz="1300" dirty="0"/>
          </a:p>
        </p:txBody>
      </p:sp>
      <p:sp>
        <p:nvSpPr>
          <p:cNvPr id="21" name="Shape 19"/>
          <p:cNvSpPr/>
          <p:nvPr/>
        </p:nvSpPr>
        <p:spPr>
          <a:xfrm>
            <a:off x="9966960" y="3429000"/>
            <a:ext cx="0" cy="41148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s-PE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controladores usan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500" dirty="0"/>
          </a:p>
        </p:txBody>
      </p:sp>
      <p:sp>
        <p:nvSpPr>
          <p:cNvPr id="25" name="Shape 23"/>
          <p:cNvSpPr/>
          <p:nvPr/>
        </p:nvSpPr>
        <p:spPr>
          <a:xfrm>
            <a:off x="429768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457200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s-PE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en toda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s-PE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4937760"/>
            <a:ext cx="3593592" cy="1234440"/>
          </a:xfrm>
          <a:prstGeom prst="roundRect">
            <a:avLst>
              <a:gd name="adj" fmla="val 7407"/>
            </a:avLst>
          </a:prstGeom>
          <a:solidFill>
            <a:srgbClr val="F3F5F8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 txBox="1"/>
          <p:nvPr/>
        </p:nvSpPr>
        <p:spPr>
          <a:xfrm>
            <a:off x="8321040" y="50292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4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s-PE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5029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 datos</a:t>
            </a:r>
            <a:endParaRPr lang="es-PE" sz="1500" dirty="0"/>
          </a:p>
          <a:p>
            <a:pPr marL="0" indent="0" algn="l">
              <a:buNone/>
            </a:pPr>
            <a:r>
              <a:rPr lang="es-PE" altLang="en-US" sz="15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registradas como concretas</a:t>
            </a:r>
            <a:endParaRPr lang="es-PE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dependencias concretas</a:t>
            </a:r>
            <a:endParaRPr lang="es-PE" sz="3400" dirty="0"/>
          </a:p>
        </p:txBody>
      </p:sp>
      <p:pic>
        <p:nvPicPr>
          <p:cNvPr id="3" name="Image 0" descr="Código real de Services/EmpleadoServicio.cs, líneas 5 a 14. Las líneas 7, 8 y 10 dependen de EmpleadoData y PersonaData, clases concreta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9377005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349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concreta: EmpleadoData</a:t>
            </a:r>
            <a:endParaRPr lang="es-PE" sz="1500" dirty="0"/>
          </a:p>
        </p:txBody>
      </p:sp>
      <p:sp>
        <p:nvSpPr>
          <p:cNvPr id="5" name="Text 2"/>
          <p:cNvSpPr/>
          <p:nvPr/>
        </p:nvSpPr>
        <p:spPr>
          <a:xfrm>
            <a:off x="4023360" y="5349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concreta: PersonaData</a:t>
            </a:r>
            <a:endParaRPr lang="es-PE" sz="1500" dirty="0"/>
          </a:p>
        </p:txBody>
      </p:sp>
      <p:sp>
        <p:nvSpPr>
          <p:cNvPr id="6" name="Text 3"/>
          <p:cNvSpPr/>
          <p:nvPr/>
        </p:nvSpPr>
        <p:spPr>
          <a:xfrm>
            <a:off x="7498080" y="5349240"/>
            <a:ext cx="4142232" cy="73152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B444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sustituir ni</a:t>
            </a:r>
            <a:endParaRPr lang="es-PE" sz="1500" dirty="0"/>
          </a:p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sin base de datos</a:t>
            </a:r>
            <a:endParaRPr lang="es-PE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y 2: el contrato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71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la interfaz</a:t>
            </a:r>
            <a:endParaRPr lang="es-PE" sz="2000" dirty="0"/>
          </a:p>
        </p:txBody>
      </p:sp>
      <p:sp>
        <p:nvSpPr>
          <p:cNvPr id="5" name="Text 3"/>
          <p:cNvSpPr/>
          <p:nvPr/>
        </p:nvSpPr>
        <p:spPr>
          <a:xfrm>
            <a:off x="5550408" y="132588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44768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la implementa</a:t>
            </a:r>
            <a:endParaRPr lang="es-PE" sz="2000" dirty="0"/>
          </a:p>
        </p:txBody>
      </p:sp>
      <p:pic>
        <p:nvPicPr>
          <p:cNvPr id="7" name="Image 0" descr="Archivo nuevo IEmpleadoData.cs: interfaz con el método Listar que devuelve Task de List de Emplead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4688919" cy="3022600"/>
          </a:xfrm>
          <a:prstGeom prst="rect">
            <a:avLst/>
          </a:prstGeom>
        </p:spPr>
      </p:pic>
      <p:pic>
        <p:nvPicPr>
          <p:cNvPr id="8" name="Image 1" descr="EmpleadoData.cs: la línea 6 ahora declara que la clase implementa IEmpleadoData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965960"/>
            <a:ext cx="6043255" cy="3022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declara lo que el servicio necesita.</a:t>
            </a:r>
            <a:endParaRPr lang="es-PE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550408" y="5212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una línea: la clase implementa la interfaz.</a:t>
            </a:r>
            <a:endParaRPr lang="es-PE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patrón se repite con IPersonaData y PersonaData.</a:t>
            </a:r>
            <a:endParaRPr lang="es-PE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3 y 4: recibir y registrar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depende de las interfaces</a:t>
            </a:r>
            <a:endParaRPr lang="es-PE" sz="2000" dirty="0"/>
          </a:p>
        </p:txBody>
      </p:sp>
      <p:pic>
        <p:nvPicPr>
          <p:cNvPr id="5" name="Image 0" descr="EmpleadoServicio.cs después del cambio: los campos y el constructor usan IEmpleadoData e IPersonaData en las líneas 7, 8 y 1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9585365" cy="195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s-PE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9684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contenedor entrega la implementación</a:t>
            </a:r>
            <a:endParaRPr lang="es-PE" sz="2000" dirty="0"/>
          </a:p>
        </p:txBody>
      </p:sp>
      <p:pic>
        <p:nvPicPr>
          <p:cNvPr id="8" name="Image 1" descr="Program.cs: se registran IEmpleadoData con EmpleadoData e IPersonaData con PersonaData mediante AddScope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7189232" cy="16891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03632" y="4709160"/>
            <a:ext cx="3536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7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pide IEmpleadoData, el contenedor entrega EmpleadoData.</a:t>
            </a:r>
            <a:endParaRPr lang="es-PE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Después: dependemos del contrato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487168"/>
            <a:ext cx="1316736" cy="329184"/>
          </a:xfrm>
          <a:prstGeom prst="roundRect">
            <a:avLst>
              <a:gd name="adj" fmla="val 22222"/>
            </a:avLst>
          </a:prstGeom>
          <a:solidFill>
            <a:srgbClr val="1F7A5C"/>
          </a:solidFill>
          <a:ln w="6350">
            <a:solidFill>
              <a:srgbClr val="1F7A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cambios</a:t>
            </a:r>
            <a:endParaRPr lang="es-PE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9050">
            <a:solidFill>
              <a:srgbClr val="D5DBE3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controladores</a:t>
            </a:r>
            <a:endParaRPr lang="es-PE" sz="1600" dirty="0"/>
          </a:p>
        </p:txBody>
      </p:sp>
      <p:sp>
        <p:nvSpPr>
          <p:cNvPr id="5" name="Text 3"/>
          <p:cNvSpPr/>
          <p:nvPr/>
        </p:nvSpPr>
        <p:spPr>
          <a:xfrm>
            <a:off x="3246120" y="2971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EmpleadoServicio</a:t>
            </a:r>
            <a:endParaRPr lang="es-PE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PE" altLang="en-US" sz="13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cambia el constructor</a:t>
            </a:r>
            <a:endParaRPr lang="es-PE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8346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4D6"/>
          </a:solidFill>
          <a:ln w="19050">
            <a:solidFill>
              <a:srgbClr val="1B2430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2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«interfaz»</a:t>
            </a:r>
            <a:endParaRPr lang="es-PE" sz="1200" dirty="0"/>
          </a:p>
          <a:p>
            <a:pPr marL="0" indent="0" algn="ctr">
              <a:buNone/>
            </a:pPr>
            <a:r>
              <a:rPr lang="es-PE" alt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IEmpleadoData</a:t>
            </a:r>
            <a:endParaRPr lang="es-PE" sz="1200" dirty="0"/>
          </a:p>
        </p:txBody>
      </p:sp>
      <p:sp>
        <p:nvSpPr>
          <p:cNvPr id="8" name="Text 6"/>
          <p:cNvSpPr/>
          <p:nvPr/>
        </p:nvSpPr>
        <p:spPr>
          <a:xfrm>
            <a:off x="9098280" y="1600200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1B2430"/>
          </a:solidFill>
          <a:ln w="6350">
            <a:solidFill>
              <a:srgbClr val="1B24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s-PE" sz="1300" dirty="0"/>
          </a:p>
        </p:txBody>
      </p:sp>
      <p:sp>
        <p:nvSpPr>
          <p:cNvPr id="9" name="Text 7"/>
          <p:cNvSpPr/>
          <p:nvPr/>
        </p:nvSpPr>
        <p:spPr>
          <a:xfrm>
            <a:off x="9098280" y="201168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</a:t>
            </a:r>
            <a:endParaRPr lang="es-PE" sz="1600" dirty="0"/>
          </a:p>
        </p:txBody>
      </p:sp>
      <p:sp>
        <p:nvSpPr>
          <p:cNvPr id="10" name="Text 8"/>
          <p:cNvSpPr/>
          <p:nvPr/>
        </p:nvSpPr>
        <p:spPr>
          <a:xfrm>
            <a:off x="9098280" y="3794760"/>
            <a:ext cx="950976" cy="329184"/>
          </a:xfrm>
          <a:prstGeom prst="roundRect">
            <a:avLst>
              <a:gd name="adj" fmla="val 22222"/>
            </a:avLst>
          </a:prstGeom>
          <a:solidFill>
            <a:srgbClr val="1B2430"/>
          </a:solidFill>
          <a:ln w="6350">
            <a:solidFill>
              <a:srgbClr val="1B24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s-PE" sz="1300" dirty="0"/>
          </a:p>
        </p:txBody>
      </p:sp>
      <p:sp>
        <p:nvSpPr>
          <p:cNvPr id="11" name="Text 9"/>
          <p:cNvSpPr/>
          <p:nvPr/>
        </p:nvSpPr>
        <p:spPr>
          <a:xfrm>
            <a:off x="9098280" y="420624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243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EmpleadoDataFalso</a:t>
            </a:r>
            <a:endParaRPr lang="es-PE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3429000"/>
            <a:ext cx="685800" cy="0"/>
          </a:xfrm>
          <a:prstGeom prst="line">
            <a:avLst/>
          </a:prstGeom>
          <a:noFill/>
          <a:ln w="2540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5440680" y="3429000"/>
            <a:ext cx="685800" cy="0"/>
          </a:xfrm>
          <a:prstGeom prst="line">
            <a:avLst/>
          </a:prstGeom>
          <a:noFill/>
          <a:ln w="31750">
            <a:solidFill>
              <a:srgbClr val="1B243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 flipH="1">
            <a:off x="8412480" y="2423160"/>
            <a:ext cx="685800" cy="73152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 flipH="1" flipV="1">
            <a:off x="8412480" y="3703320"/>
            <a:ext cx="685800" cy="914400"/>
          </a:xfrm>
          <a:prstGeom prst="line">
            <a:avLst/>
          </a:prstGeom>
          <a:noFill/>
          <a:ln w="22225">
            <a:solidFill>
              <a:srgbClr val="1B2430"/>
            </a:solidFill>
            <a:prstDash val="dash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flechas ahora apuntan a la abstracción.</a:t>
            </a:r>
            <a:endParaRPr lang="es-PE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se prueba sin base de datos</a:t>
            </a:r>
            <a:endParaRPr lang="es-PE" sz="3400" dirty="0"/>
          </a:p>
        </p:txBody>
      </p:sp>
      <p:pic>
        <p:nvPicPr>
          <p:cNvPr id="3" name="Image 0" descr="Prueba unitaria de EmpleadoServicio con dobles en memoria: un empleado sin persona debe llamarse (Empleado 3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76693" cy="4089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26760"/>
            <a:ext cx="6876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400" dirty="0">
                <a:solidFill>
                  <a:srgbClr val="667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ejemplo con xUnit.</a:t>
            </a:r>
            <a:endParaRPr lang="es-PE" sz="1400" dirty="0"/>
          </a:p>
        </p:txBody>
      </p:sp>
      <p:sp>
        <p:nvSpPr>
          <p:cNvPr id="5" name="Text 2"/>
          <p:cNvSpPr/>
          <p:nvPr/>
        </p:nvSpPr>
        <p:spPr>
          <a:xfrm>
            <a:off x="7836813" y="161848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522613" y="160020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de prueba</a:t>
            </a:r>
            <a:endParaRPr lang="es-PE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522613" y="203911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IEmpleadoData con datos en memoria.</a:t>
            </a:r>
            <a:endParaRPr lang="es-PE" sz="1600" dirty="0"/>
          </a:p>
        </p:txBody>
      </p:sp>
      <p:sp>
        <p:nvSpPr>
          <p:cNvPr id="8" name="Text 5"/>
          <p:cNvSpPr/>
          <p:nvPr/>
        </p:nvSpPr>
        <p:spPr>
          <a:xfrm>
            <a:off x="7836813" y="303580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22613" y="301752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s-PE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522613" y="345643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 SQL Server.</a:t>
            </a:r>
            <a:endParaRPr lang="es-PE" sz="1600" dirty="0"/>
          </a:p>
        </p:txBody>
      </p:sp>
      <p:sp>
        <p:nvSpPr>
          <p:cNvPr id="11" name="Text 8"/>
          <p:cNvSpPr/>
          <p:nvPr/>
        </p:nvSpPr>
        <p:spPr>
          <a:xfrm>
            <a:off x="7836813" y="4453128"/>
            <a:ext cx="502920" cy="50292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522613" y="4434840"/>
            <a:ext cx="3117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protegida</a:t>
            </a:r>
            <a:endParaRPr lang="es-PE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522613" y="4873752"/>
            <a:ext cx="31176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PE" altLang="en-US" sz="1600" dirty="0">
                <a:solidFill>
                  <a:srgbClr val="3A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nombre si no hay persona.</a:t>
            </a:r>
            <a:endParaRPr lang="es-PE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s-PE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s-PE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7373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Depender de abstracciones reduce el acoplamiento.</a:t>
            </a:r>
            <a:endParaRPr lang="es-PE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s-PE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31089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se entregan: la clase no las crea.</a:t>
            </a:r>
            <a:endParaRPr lang="es-PE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F2A900"/>
          </a:solidFill>
          <a:ln w="63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s-PE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448056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PE" alt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queda abierto a la extensión y cerrado a la modificación.</a:t>
            </a:r>
            <a:endParaRPr lang="es-PE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PE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s-PE" sz="5400" dirty="0"/>
          </a:p>
        </p:txBody>
      </p:sp>
      <p:sp>
        <p:nvSpPr>
          <p:cNvPr id="4" name="Text 2"/>
          <p:cNvSpPr/>
          <p:nvPr/>
        </p:nvSpPr>
        <p:spPr>
          <a:xfrm>
            <a:off x="9189720" y="20116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2A900"/>
          </a:solidFill>
          <a:ln w="19050">
            <a:solidFill>
              <a:srgbClr val="F2A900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s-PE" sz="1500" dirty="0"/>
          </a:p>
        </p:txBody>
      </p:sp>
      <p:sp>
        <p:nvSpPr>
          <p:cNvPr id="5" name="Text 3"/>
          <p:cNvSpPr/>
          <p:nvPr/>
        </p:nvSpPr>
        <p:spPr>
          <a:xfrm>
            <a:off x="8503920" y="411480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endParaRPr lang="es-PE" sz="1500" dirty="0"/>
          </a:p>
        </p:txBody>
      </p:sp>
      <p:sp>
        <p:nvSpPr>
          <p:cNvPr id="6" name="Text 4"/>
          <p:cNvSpPr/>
          <p:nvPr/>
        </p:nvSpPr>
        <p:spPr>
          <a:xfrm>
            <a:off x="10149840" y="41148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6313F"/>
          </a:solidFill>
          <a:ln w="19050">
            <a:solidFill>
              <a:srgbClr val="5B6878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9144000" y="2578608"/>
            <a:ext cx="41148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0561320" y="2578608"/>
            <a:ext cx="320040" cy="1536192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784080" y="4398264"/>
            <a:ext cx="365760" cy="0"/>
          </a:xfrm>
          <a:prstGeom prst="line">
            <a:avLst/>
          </a:prstGeom>
          <a:noFill/>
          <a:ln w="25400">
            <a:solidFill>
              <a:srgbClr val="AAB4C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</Words>
  <Application>Microsoft Office PowerPoint</Application>
  <PresentationFormat>Panorámica</PresentationFormat>
  <Paragraphs>197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Inversión de Control</vt:lpstr>
      <vt:lpstr>¿Qué es la Inversión de Control?</vt:lpstr>
      <vt:lpstr>El problema que resuelve</vt:lpstr>
      <vt:lpstr>La clase no crea lo que necesita</vt:lpstr>
      <vt:lpstr>Menos acoplamiento con abstracciones</vt:lpstr>
      <vt:lpstr>Clase concreta frente a interfaz</vt:lpstr>
      <vt:lpstr>Cómo se relacionan</vt:lpstr>
      <vt:lpstr>Beneficios para el proyecto</vt:lpstr>
      <vt:lpstr>Nuestro caso: EmpleadoServicio</vt:lpstr>
      <vt:lpstr>Antes: dependencias concretas</vt:lpstr>
      <vt:lpstr>Pasos 1 y 2: el contrato</vt:lpstr>
      <vt:lpstr>Pasos 3 y 4: recibir y registrar</vt:lpstr>
      <vt:lpstr>Después: dependemos del contrato</vt:lpstr>
      <vt:lpstr>Ahora se prueba sin base de datos</vt:lpstr>
      <vt:lpstr>Conclusiones</vt:lpstr>
      <vt:lpstr>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Inversión de Control - Grupo 5</dc:title>
  <dc:subject>Inversión de Control</dc:subject>
  <dc:creator>Grupo 5</dc:creator>
  <cp:lastModifiedBy>Deymer Esteban Aguilar Quezada</cp:lastModifiedBy>
  <cp:revision>2</cp:revision>
  <dcterms:created xsi:type="dcterms:W3CDTF">2026-09-30T07:34:32Z</dcterms:created>
  <dcterms:modified xsi:type="dcterms:W3CDTF">2026-09-30T07:55:01Z</dcterms:modified>
</cp:coreProperties>
</file>