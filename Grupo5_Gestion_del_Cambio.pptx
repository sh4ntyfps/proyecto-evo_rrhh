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7" d="100"/>
          <a:sy n="107" d="100"/>
        </p:scale>
        <p:origin x="714"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066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Presentamos la gestión del cambio: primero el marco teórico y luego cómo la aplicamos a nuestro proyecto final, el Sistema de Recursos Humanos Evo-RRLL.</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gestión del cambio forma parte de la gestión de la configuración del software. Un cambio es toda modificación sobre un elemento que ya fue aprobado (línea base). Se controla porque los sistemas están interconectados: tocar una tabla o un controlador puede romper otros módulos.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Problemas típicos de cambiar sin evaluar: regresiones, falta de trazabilidad, desborde del alcance y pérdida de la versión estable. La gestión del cambio los previene con registro, evaluación y aprobación.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norma ISO/IEC 25010 considera la mantenibilidad una característica de calidad. La gestión del cambio la favorece porque cada modificación queda analizada, probada y documentada.</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Correctivo: arregla defectos. Adaptativo: ajusta el sistema a un entorno nuevo. Perfectivo: mejora o amplía funciones. Preventivo: evita fallas futuras y mejora la mantenibilidad. Cada tipo tiene un ejemplo en nuestras solicitudes de cambio.</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proceso mínimo tiene 8 etapas. La decisión del comité es el punto de control principal: lo que no se aprueba no se implementa.</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 5 solicitudes salen del código real del sistema. SC-001: el formulario de permisos no valida fechas. SC-002: el login no limita intentos. SC-003: RR.HH. necesita exportar asistencia. SC-004: la clave del admin ya se lee de Seguridad__AdminClave; falta llevar la cadena de conexión a variable de entorno en producción. SC-005: Permisos trae toda la tabla a memoria. SC-006 y SC-007 ya se implementaron: la reestructuración en capas (perfectivo) obligó a actualizar la evidencia del slide 14, y el rediseño de la interfaz (perfectivo). La BD normalizada no es una solicitud: solo es un posible cambio futuro.</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análisis de impacto está dentro del Excel de la matriz. Aquí mostramos el resumen: la mayoría de cambios afecta controladores y vistas; SC-002 es el único que cambia la estructura de la base de datos. SC-006 tocó casi todas las capas, pero no la BD ni las vistas; SC-007 solo vistas y configuración del frontend (Tailwind).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flujo tiene 9 actividades en 5 carriles. Hay tres puntos de decisión: si la solicitud está completa, la decisión del comité (aprobado, rechazado o diferido) y si el cambio pasa las pruebas.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433"/>
        </a:solidFill>
        <a:effectLst/>
      </p:bgPr>
    </p:bg>
    <p:spTree>
      <p:nvGrpSpPr>
        <p:cNvPr id="1" name=""/>
        <p:cNvGrpSpPr/>
        <p:nvPr/>
      </p:nvGrpSpPr>
      <p:grpSpPr>
        <a:xfrm>
          <a:off x="0" y="0"/>
          <a:ext cx="0" cy="0"/>
          <a:chOff x="0" y="0"/>
          <a:chExt cx="0" cy="0"/>
        </a:xfrm>
      </p:grpSpPr>
      <p:sp>
        <p:nvSpPr>
          <p:cNvPr id="2" name="TextBox 1"/>
          <p:cNvSpPr txBox="1"/>
          <p:nvPr/>
        </p:nvSpPr>
        <p:spPr>
          <a:xfrm>
            <a:off x="731520" y="1965960"/>
            <a:ext cx="6949440" cy="1645920"/>
          </a:xfrm>
          <a:prstGeom prst="rect">
            <a:avLst/>
          </a:prstGeom>
          <a:noFill/>
        </p:spPr>
        <p:txBody>
          <a:bodyPr wrap="square" lIns="0" tIns="0" rIns="0" bIns="0" anchor="t"/>
          <a:lstStyle/>
          <a:p>
            <a:pPr algn="l">
              <a:spcAft>
                <a:spcPts val="0"/>
              </a:spcAft>
            </a:pPr>
            <a:r>
              <a:rPr sz="4600" b="1" i="0">
                <a:solidFill>
                  <a:srgbClr val="FFFFFF"/>
                </a:solidFill>
                <a:latin typeface="Arial"/>
              </a:rPr>
              <a:t>Gestión del Cambio</a:t>
            </a:r>
          </a:p>
          <a:p>
            <a:pPr algn="l">
              <a:spcAft>
                <a:spcPts val="0"/>
              </a:spcAft>
            </a:pPr>
            <a:r>
              <a:rPr sz="4600" b="1" i="0">
                <a:solidFill>
                  <a:srgbClr val="FFFFFF"/>
                </a:solidFill>
                <a:latin typeface="Arial"/>
              </a:rPr>
              <a:t>en el Software</a:t>
            </a:r>
          </a:p>
        </p:txBody>
      </p:sp>
      <p:sp>
        <p:nvSpPr>
          <p:cNvPr id="3" name="TextBox 2"/>
          <p:cNvSpPr txBox="1"/>
          <p:nvPr/>
        </p:nvSpPr>
        <p:spPr>
          <a:xfrm>
            <a:off x="731520" y="3703320"/>
            <a:ext cx="6949440" cy="457200"/>
          </a:xfrm>
          <a:prstGeom prst="rect">
            <a:avLst/>
          </a:prstGeom>
          <a:noFill/>
        </p:spPr>
        <p:txBody>
          <a:bodyPr wrap="square" lIns="0" tIns="0" rIns="0" bIns="0" anchor="t"/>
          <a:lstStyle/>
          <a:p>
            <a:pPr algn="l">
              <a:spcAft>
                <a:spcPts val="400"/>
              </a:spcAft>
            </a:pPr>
            <a:r>
              <a:rPr sz="2400" b="1" i="0">
                <a:solidFill>
                  <a:srgbClr val="F2A900"/>
                </a:solidFill>
                <a:latin typeface="Arial"/>
              </a:rPr>
              <a:t>Grupo 5</a:t>
            </a:r>
          </a:p>
        </p:txBody>
      </p:sp>
      <p:sp>
        <p:nvSpPr>
          <p:cNvPr id="4" name="TextBox 3"/>
          <p:cNvSpPr txBox="1"/>
          <p:nvPr/>
        </p:nvSpPr>
        <p:spPr>
          <a:xfrm>
            <a:off x="731520" y="4206240"/>
            <a:ext cx="6949440" cy="822960"/>
          </a:xfrm>
          <a:prstGeom prst="rect">
            <a:avLst/>
          </a:prstGeom>
          <a:noFill/>
        </p:spPr>
        <p:txBody>
          <a:bodyPr wrap="square" lIns="0" tIns="0" rIns="0" bIns="0" anchor="t"/>
          <a:lstStyle/>
          <a:p>
            <a:pPr algn="l">
              <a:spcAft>
                <a:spcPts val="200"/>
              </a:spcAft>
            </a:pPr>
            <a:r>
              <a:rPr sz="1500" b="0" i="0">
                <a:solidFill>
                  <a:srgbClr val="C7CBD3"/>
                </a:solidFill>
                <a:latin typeface="Arial"/>
              </a:rPr>
              <a:t>Evolución y Configuración de Software · Semana 9</a:t>
            </a:r>
          </a:p>
          <a:p>
            <a:pPr algn="l">
              <a:spcAft>
                <a:spcPts val="200"/>
              </a:spcAft>
            </a:pPr>
            <a:r>
              <a:rPr sz="1500" b="0" i="0">
                <a:solidFill>
                  <a:srgbClr val="C7CBD3"/>
                </a:solidFill>
                <a:latin typeface="Arial"/>
              </a:rPr>
              <a:t>Aplicado al Sistema de Recursos Humanos Evo-RRLL</a:t>
            </a:r>
          </a:p>
        </p:txBody>
      </p:sp>
      <p:sp>
        <p:nvSpPr>
          <p:cNvPr id="5" name="TextBox 4"/>
          <p:cNvSpPr txBox="1"/>
          <p:nvPr/>
        </p:nvSpPr>
        <p:spPr>
          <a:xfrm>
            <a:off x="731520" y="5989320"/>
            <a:ext cx="6949440" cy="365760"/>
          </a:xfrm>
          <a:prstGeom prst="rect">
            <a:avLst/>
          </a:prstGeom>
          <a:noFill/>
        </p:spPr>
        <p:txBody>
          <a:bodyPr wrap="square" lIns="0" tIns="0" rIns="0" bIns="0" anchor="t"/>
          <a:lstStyle/>
          <a:p>
            <a:pPr algn="l">
              <a:spcAft>
                <a:spcPts val="400"/>
              </a:spcAft>
            </a:pPr>
            <a:r>
              <a:rPr sz="1200" b="0" i="0">
                <a:solidFill>
                  <a:srgbClr val="9CA3AF"/>
                </a:solidFill>
                <a:latin typeface="Arial"/>
              </a:rPr>
              <a:t>Docente: Ing. Edgard Vilchez Valdez</a:t>
            </a:r>
          </a:p>
        </p:txBody>
      </p:sp>
      <p:cxnSp>
        <p:nvCxnSpPr>
          <p:cNvPr id="6" name="Connector 5"/>
          <p:cNvCxnSpPr/>
          <p:nvPr/>
        </p:nvCxnSpPr>
        <p:spPr>
          <a:xfrm>
            <a:off x="8714232" y="1901952"/>
            <a:ext cx="0" cy="3108960"/>
          </a:xfrm>
          <a:prstGeom prst="line">
            <a:avLst/>
          </a:prstGeom>
          <a:ln>
            <a:solidFill>
              <a:srgbClr val="4B5563"/>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8595360" y="1783080"/>
            <a:ext cx="237744" cy="237744"/>
          </a:xfrm>
          <a:prstGeom prst="ellipse">
            <a:avLst/>
          </a:prstGeom>
          <a:solidFill>
            <a:srgbClr val="1E2433"/>
          </a:solidFill>
          <a:ln w="1905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052560" y="1746504"/>
            <a:ext cx="2926080" cy="329184"/>
          </a:xfrm>
          <a:prstGeom prst="rect">
            <a:avLst/>
          </a:prstGeom>
          <a:noFill/>
        </p:spPr>
        <p:txBody>
          <a:bodyPr wrap="square" lIns="0" tIns="0" rIns="0" bIns="0" anchor="ctr"/>
          <a:lstStyle/>
          <a:p>
            <a:pPr algn="l">
              <a:spcAft>
                <a:spcPts val="400"/>
              </a:spcAft>
            </a:pPr>
            <a:r>
              <a:rPr sz="1400" b="0" i="0">
                <a:solidFill>
                  <a:srgbClr val="9CA3AF"/>
                </a:solidFill>
                <a:latin typeface="Arial"/>
              </a:rPr>
              <a:t>SC registrada</a:t>
            </a:r>
          </a:p>
        </p:txBody>
      </p:sp>
      <p:sp>
        <p:nvSpPr>
          <p:cNvPr id="9" name="Oval 8"/>
          <p:cNvSpPr/>
          <p:nvPr/>
        </p:nvSpPr>
        <p:spPr>
          <a:xfrm>
            <a:off x="8595360" y="2560320"/>
            <a:ext cx="237744" cy="237744"/>
          </a:xfrm>
          <a:prstGeom prst="ellipse">
            <a:avLst/>
          </a:prstGeom>
          <a:solidFill>
            <a:srgbClr val="1E2433"/>
          </a:solidFill>
          <a:ln w="1905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052560" y="2523744"/>
            <a:ext cx="2926080" cy="329184"/>
          </a:xfrm>
          <a:prstGeom prst="rect">
            <a:avLst/>
          </a:prstGeom>
          <a:noFill/>
        </p:spPr>
        <p:txBody>
          <a:bodyPr wrap="square" lIns="0" tIns="0" rIns="0" bIns="0" anchor="ctr"/>
          <a:lstStyle/>
          <a:p>
            <a:pPr algn="l">
              <a:spcAft>
                <a:spcPts val="400"/>
              </a:spcAft>
            </a:pPr>
            <a:r>
              <a:rPr sz="1400" b="0" i="0">
                <a:solidFill>
                  <a:srgbClr val="9CA3AF"/>
                </a:solidFill>
                <a:latin typeface="Arial"/>
              </a:rPr>
              <a:t>En evaluación</a:t>
            </a:r>
          </a:p>
        </p:txBody>
      </p:sp>
      <p:sp>
        <p:nvSpPr>
          <p:cNvPr id="11" name="Oval 10"/>
          <p:cNvSpPr/>
          <p:nvPr/>
        </p:nvSpPr>
        <p:spPr>
          <a:xfrm>
            <a:off x="8595360" y="3337560"/>
            <a:ext cx="237744" cy="237744"/>
          </a:xfrm>
          <a:prstGeom prst="ellipse">
            <a:avLst/>
          </a:prstGeom>
          <a:solidFill>
            <a:srgbClr val="F2A900"/>
          </a:solidFill>
          <a:ln w="19050">
            <a:solidFill>
              <a:srgbClr val="F2A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052560" y="3300984"/>
            <a:ext cx="2926080" cy="329184"/>
          </a:xfrm>
          <a:prstGeom prst="rect">
            <a:avLst/>
          </a:prstGeom>
          <a:noFill/>
        </p:spPr>
        <p:txBody>
          <a:bodyPr wrap="square" lIns="0" tIns="0" rIns="0" bIns="0" anchor="ctr"/>
          <a:lstStyle/>
          <a:p>
            <a:pPr algn="l">
              <a:spcAft>
                <a:spcPts val="400"/>
              </a:spcAft>
            </a:pPr>
            <a:r>
              <a:rPr sz="1400" b="1" i="0">
                <a:solidFill>
                  <a:srgbClr val="F2A900"/>
                </a:solidFill>
                <a:latin typeface="Arial"/>
              </a:rPr>
              <a:t>SC-001 · Aprobada</a:t>
            </a:r>
          </a:p>
        </p:txBody>
      </p:sp>
      <p:sp>
        <p:nvSpPr>
          <p:cNvPr id="13" name="Oval 12"/>
          <p:cNvSpPr/>
          <p:nvPr/>
        </p:nvSpPr>
        <p:spPr>
          <a:xfrm>
            <a:off x="8595360" y="4114800"/>
            <a:ext cx="237744" cy="237744"/>
          </a:xfrm>
          <a:prstGeom prst="ellipse">
            <a:avLst/>
          </a:prstGeom>
          <a:solidFill>
            <a:srgbClr val="1E2433"/>
          </a:solidFill>
          <a:ln w="1905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052560" y="4078224"/>
            <a:ext cx="2926080" cy="329184"/>
          </a:xfrm>
          <a:prstGeom prst="rect">
            <a:avLst/>
          </a:prstGeom>
          <a:noFill/>
        </p:spPr>
        <p:txBody>
          <a:bodyPr wrap="square" lIns="0" tIns="0" rIns="0" bIns="0" anchor="ctr"/>
          <a:lstStyle/>
          <a:p>
            <a:pPr algn="l">
              <a:spcAft>
                <a:spcPts val="400"/>
              </a:spcAft>
            </a:pPr>
            <a:r>
              <a:rPr sz="1400" b="0" i="0">
                <a:solidFill>
                  <a:srgbClr val="9CA3AF"/>
                </a:solidFill>
                <a:latin typeface="Arial"/>
              </a:rPr>
              <a:t>Implementada</a:t>
            </a:r>
          </a:p>
        </p:txBody>
      </p:sp>
      <p:sp>
        <p:nvSpPr>
          <p:cNvPr id="15" name="Oval 14"/>
          <p:cNvSpPr/>
          <p:nvPr/>
        </p:nvSpPr>
        <p:spPr>
          <a:xfrm>
            <a:off x="8595360" y="4892040"/>
            <a:ext cx="237744" cy="237744"/>
          </a:xfrm>
          <a:prstGeom prst="ellipse">
            <a:avLst/>
          </a:prstGeom>
          <a:solidFill>
            <a:srgbClr val="1E2433"/>
          </a:solidFill>
          <a:ln w="1905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052560" y="4855464"/>
            <a:ext cx="2926080" cy="329184"/>
          </a:xfrm>
          <a:prstGeom prst="rect">
            <a:avLst/>
          </a:prstGeom>
          <a:noFill/>
        </p:spPr>
        <p:txBody>
          <a:bodyPr wrap="square" lIns="0" tIns="0" rIns="0" bIns="0" anchor="ctr"/>
          <a:lstStyle/>
          <a:p>
            <a:pPr algn="l">
              <a:spcAft>
                <a:spcPts val="400"/>
              </a:spcAft>
            </a:pPr>
            <a:r>
              <a:rPr sz="1400" b="0" i="0">
                <a:solidFill>
                  <a:srgbClr val="9CA3AF"/>
                </a:solidFill>
                <a:latin typeface="Arial"/>
              </a:rPr>
              <a:t>Cerrada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64240" cy="640080"/>
          </a:xfrm>
          <a:prstGeom prst="rect">
            <a:avLst/>
          </a:prstGeom>
          <a:noFill/>
        </p:spPr>
        <p:txBody>
          <a:bodyPr wrap="square" lIns="0" tIns="0" rIns="0" bIns="0" anchor="t"/>
          <a:lstStyle/>
          <a:p>
            <a:pPr algn="l">
              <a:spcAft>
                <a:spcPts val="400"/>
              </a:spcAft>
            </a:pPr>
            <a:r>
              <a:rPr sz="3200" b="1" i="0">
                <a:solidFill>
                  <a:srgbClr val="1E2433"/>
                </a:solidFill>
                <a:latin typeface="Arial"/>
              </a:rPr>
              <a:t>Contenido de la exposición</a:t>
            </a:r>
          </a:p>
        </p:txBody>
      </p:sp>
      <p:sp>
        <p:nvSpPr>
          <p:cNvPr id="3" name="TextBox 2"/>
          <p:cNvSpPr txBox="1"/>
          <p:nvPr/>
        </p:nvSpPr>
        <p:spPr>
          <a:xfrm>
            <a:off x="10728655" y="6400800"/>
            <a:ext cx="914400" cy="274320"/>
          </a:xfrm>
          <a:prstGeom prst="rect">
            <a:avLst/>
          </a:prstGeom>
          <a:noFill/>
        </p:spPr>
        <p:txBody>
          <a:bodyPr wrap="square" lIns="0" tIns="0" rIns="0" bIns="0" anchor="t"/>
          <a:lstStyle/>
          <a:p>
            <a:pPr algn="r">
              <a:spcAft>
                <a:spcPts val="400"/>
              </a:spcAft>
            </a:pPr>
            <a:r>
              <a:rPr sz="1000" b="0" i="0">
                <a:solidFill>
                  <a:srgbClr val="6B7280"/>
                </a:solidFill>
                <a:latin typeface="Arial"/>
              </a:rPr>
              <a:t>2</a:t>
            </a:r>
          </a:p>
        </p:txBody>
      </p:sp>
      <p:sp>
        <p:nvSpPr>
          <p:cNvPr id="4" name="TextBox 3"/>
          <p:cNvSpPr txBox="1"/>
          <p:nvPr/>
        </p:nvSpPr>
        <p:spPr>
          <a:xfrm>
            <a:off x="548640" y="6400800"/>
            <a:ext cx="7315200" cy="274320"/>
          </a:xfrm>
          <a:prstGeom prst="rect">
            <a:avLst/>
          </a:prstGeom>
          <a:noFill/>
        </p:spPr>
        <p:txBody>
          <a:bodyPr wrap="square" lIns="0" tIns="0" rIns="0" bIns="0" anchor="t"/>
          <a:lstStyle/>
          <a:p>
            <a:pPr algn="l">
              <a:spcAft>
                <a:spcPts val="400"/>
              </a:spcAft>
            </a:pPr>
            <a:r>
              <a:rPr sz="1000" b="0" i="0">
                <a:solidFill>
                  <a:srgbClr val="6B7280"/>
                </a:solidFill>
                <a:latin typeface="Arial"/>
              </a:rPr>
              <a:t>Grupo 5 · Gestión del Cambio · Evo-RRLL</a:t>
            </a:r>
          </a:p>
        </p:txBody>
      </p:sp>
      <p:sp>
        <p:nvSpPr>
          <p:cNvPr id="5" name="Rounded Rectangle 4"/>
          <p:cNvSpPr/>
          <p:nvPr/>
        </p:nvSpPr>
        <p:spPr>
          <a:xfrm>
            <a:off x="548640" y="1417320"/>
            <a:ext cx="5440680" cy="4754880"/>
          </a:xfrm>
          <a:prstGeom prst="roundRect">
            <a:avLst>
              <a:gd name="adj" fmla="val 6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645920"/>
            <a:ext cx="4846320" cy="457200"/>
          </a:xfrm>
          <a:prstGeom prst="rect">
            <a:avLst/>
          </a:prstGeom>
          <a:noFill/>
        </p:spPr>
        <p:txBody>
          <a:bodyPr wrap="square" lIns="0" tIns="0" rIns="0" bIns="0" anchor="t"/>
          <a:lstStyle/>
          <a:p>
            <a:pPr algn="l">
              <a:spcAft>
                <a:spcPts val="400"/>
              </a:spcAft>
            </a:pPr>
            <a:r>
              <a:rPr sz="2000" b="1" i="0">
                <a:solidFill>
                  <a:srgbClr val="F2A900"/>
                </a:solidFill>
                <a:latin typeface="Arial"/>
              </a:rPr>
              <a:t>Parte 1 · Marco teórico</a:t>
            </a:r>
          </a:p>
        </p:txBody>
      </p:sp>
      <p:sp>
        <p:nvSpPr>
          <p:cNvPr id="7" name="Oval 6"/>
          <p:cNvSpPr/>
          <p:nvPr/>
        </p:nvSpPr>
        <p:spPr>
          <a:xfrm>
            <a:off x="868680" y="2286000"/>
            <a:ext cx="347472" cy="34747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1E2433"/>
                </a:solidFill>
                <a:latin typeface="Arial"/>
              </a:rPr>
              <a:t>1</a:t>
            </a:r>
          </a:p>
        </p:txBody>
      </p:sp>
      <p:sp>
        <p:nvSpPr>
          <p:cNvPr id="8" name="TextBox 7"/>
          <p:cNvSpPr txBox="1"/>
          <p:nvPr/>
        </p:nvSpPr>
        <p:spPr>
          <a:xfrm>
            <a:off x="1417319" y="2267712"/>
            <a:ext cx="4389120" cy="384048"/>
          </a:xfrm>
          <a:prstGeom prst="rect">
            <a:avLst/>
          </a:prstGeom>
          <a:noFill/>
        </p:spPr>
        <p:txBody>
          <a:bodyPr wrap="square" lIns="0" tIns="0" rIns="0" bIns="0" anchor="ctr"/>
          <a:lstStyle/>
          <a:p>
            <a:pPr algn="l">
              <a:spcAft>
                <a:spcPts val="400"/>
              </a:spcAft>
            </a:pPr>
            <a:r>
              <a:rPr sz="1600" b="0" i="0">
                <a:solidFill>
                  <a:srgbClr val="FFFFFF"/>
                </a:solidFill>
                <a:latin typeface="Arial"/>
              </a:rPr>
              <a:t>Definición de gestión del cambio</a:t>
            </a:r>
          </a:p>
        </p:txBody>
      </p:sp>
      <p:sp>
        <p:nvSpPr>
          <p:cNvPr id="9" name="Oval 8"/>
          <p:cNvSpPr/>
          <p:nvPr/>
        </p:nvSpPr>
        <p:spPr>
          <a:xfrm>
            <a:off x="868680" y="2834640"/>
            <a:ext cx="347472" cy="34747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1E2433"/>
                </a:solidFill>
                <a:latin typeface="Arial"/>
              </a:rPr>
              <a:t>2</a:t>
            </a:r>
          </a:p>
        </p:txBody>
      </p:sp>
      <p:sp>
        <p:nvSpPr>
          <p:cNvPr id="10" name="TextBox 9"/>
          <p:cNvSpPr txBox="1"/>
          <p:nvPr/>
        </p:nvSpPr>
        <p:spPr>
          <a:xfrm>
            <a:off x="1417319" y="2816352"/>
            <a:ext cx="4389120" cy="384048"/>
          </a:xfrm>
          <a:prstGeom prst="rect">
            <a:avLst/>
          </a:prstGeom>
          <a:noFill/>
        </p:spPr>
        <p:txBody>
          <a:bodyPr wrap="square" lIns="0" tIns="0" rIns="0" bIns="0" anchor="ctr"/>
          <a:lstStyle/>
          <a:p>
            <a:pPr algn="l">
              <a:spcAft>
                <a:spcPts val="400"/>
              </a:spcAft>
            </a:pPr>
            <a:r>
              <a:rPr sz="1600" b="0" i="0">
                <a:solidFill>
                  <a:srgbClr val="FFFFFF"/>
                </a:solidFill>
                <a:latin typeface="Arial"/>
              </a:rPr>
              <a:t>Importancia</a:t>
            </a:r>
          </a:p>
        </p:txBody>
      </p:sp>
      <p:sp>
        <p:nvSpPr>
          <p:cNvPr id="11" name="Oval 10"/>
          <p:cNvSpPr/>
          <p:nvPr/>
        </p:nvSpPr>
        <p:spPr>
          <a:xfrm>
            <a:off x="868680" y="3383280"/>
            <a:ext cx="347472" cy="34747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1E2433"/>
                </a:solidFill>
                <a:latin typeface="Arial"/>
              </a:rPr>
              <a:t>3</a:t>
            </a:r>
          </a:p>
        </p:txBody>
      </p:sp>
      <p:sp>
        <p:nvSpPr>
          <p:cNvPr id="12" name="TextBox 11"/>
          <p:cNvSpPr txBox="1"/>
          <p:nvPr/>
        </p:nvSpPr>
        <p:spPr>
          <a:xfrm>
            <a:off x="1417319" y="3364992"/>
            <a:ext cx="4389120" cy="384048"/>
          </a:xfrm>
          <a:prstGeom prst="rect">
            <a:avLst/>
          </a:prstGeom>
          <a:noFill/>
        </p:spPr>
        <p:txBody>
          <a:bodyPr wrap="square" lIns="0" tIns="0" rIns="0" bIns="0" anchor="ctr"/>
          <a:lstStyle/>
          <a:p>
            <a:pPr algn="l">
              <a:spcAft>
                <a:spcPts val="400"/>
              </a:spcAft>
            </a:pPr>
            <a:r>
              <a:rPr sz="1600" b="0" i="0">
                <a:solidFill>
                  <a:srgbClr val="FFFFFF"/>
                </a:solidFill>
                <a:latin typeface="Arial"/>
              </a:rPr>
              <a:t>Tipos de cambios</a:t>
            </a:r>
          </a:p>
        </p:txBody>
      </p:sp>
      <p:sp>
        <p:nvSpPr>
          <p:cNvPr id="13" name="Oval 12"/>
          <p:cNvSpPr/>
          <p:nvPr/>
        </p:nvSpPr>
        <p:spPr>
          <a:xfrm>
            <a:off x="868680" y="3931920"/>
            <a:ext cx="347472" cy="34747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1E2433"/>
                </a:solidFill>
                <a:latin typeface="Arial"/>
              </a:rPr>
              <a:t>4</a:t>
            </a:r>
          </a:p>
        </p:txBody>
      </p:sp>
      <p:sp>
        <p:nvSpPr>
          <p:cNvPr id="14" name="TextBox 13"/>
          <p:cNvSpPr txBox="1"/>
          <p:nvPr/>
        </p:nvSpPr>
        <p:spPr>
          <a:xfrm>
            <a:off x="1417319" y="3913632"/>
            <a:ext cx="4389120" cy="384048"/>
          </a:xfrm>
          <a:prstGeom prst="rect">
            <a:avLst/>
          </a:prstGeom>
          <a:noFill/>
        </p:spPr>
        <p:txBody>
          <a:bodyPr wrap="square" lIns="0" tIns="0" rIns="0" bIns="0" anchor="ctr"/>
          <a:lstStyle/>
          <a:p>
            <a:pPr algn="l">
              <a:spcAft>
                <a:spcPts val="400"/>
              </a:spcAft>
            </a:pPr>
            <a:r>
              <a:rPr sz="1600" b="0" i="0">
                <a:solidFill>
                  <a:srgbClr val="FFFFFF"/>
                </a:solidFill>
                <a:latin typeface="Arial"/>
              </a:rPr>
              <a:t>Proceso de gestión del cambio</a:t>
            </a:r>
          </a:p>
        </p:txBody>
      </p:sp>
      <p:sp>
        <p:nvSpPr>
          <p:cNvPr id="15" name="Oval 14"/>
          <p:cNvSpPr/>
          <p:nvPr/>
        </p:nvSpPr>
        <p:spPr>
          <a:xfrm>
            <a:off x="868680" y="4480560"/>
            <a:ext cx="347472" cy="34747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1E2433"/>
                </a:solidFill>
                <a:latin typeface="Arial"/>
              </a:rPr>
              <a:t>5</a:t>
            </a:r>
          </a:p>
        </p:txBody>
      </p:sp>
      <p:sp>
        <p:nvSpPr>
          <p:cNvPr id="16" name="TextBox 15"/>
          <p:cNvSpPr txBox="1"/>
          <p:nvPr/>
        </p:nvSpPr>
        <p:spPr>
          <a:xfrm>
            <a:off x="1417319" y="4462272"/>
            <a:ext cx="4389120" cy="384048"/>
          </a:xfrm>
          <a:prstGeom prst="rect">
            <a:avLst/>
          </a:prstGeom>
          <a:noFill/>
        </p:spPr>
        <p:txBody>
          <a:bodyPr wrap="square" lIns="0" tIns="0" rIns="0" bIns="0" anchor="ctr"/>
          <a:lstStyle/>
          <a:p>
            <a:pPr algn="l">
              <a:spcAft>
                <a:spcPts val="400"/>
              </a:spcAft>
            </a:pPr>
            <a:r>
              <a:rPr sz="1600" b="0" i="0">
                <a:solidFill>
                  <a:srgbClr val="FFFFFF"/>
                </a:solidFill>
                <a:latin typeface="Arial"/>
              </a:rPr>
              <a:t>Roles involucrados</a:t>
            </a:r>
          </a:p>
        </p:txBody>
      </p:sp>
      <p:sp>
        <p:nvSpPr>
          <p:cNvPr id="17" name="Oval 16"/>
          <p:cNvSpPr/>
          <p:nvPr/>
        </p:nvSpPr>
        <p:spPr>
          <a:xfrm>
            <a:off x="868680" y="5029200"/>
            <a:ext cx="347472" cy="34747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1E2433"/>
                </a:solidFill>
                <a:latin typeface="Arial"/>
              </a:rPr>
              <a:t>6</a:t>
            </a:r>
          </a:p>
        </p:txBody>
      </p:sp>
      <p:sp>
        <p:nvSpPr>
          <p:cNvPr id="18" name="TextBox 17"/>
          <p:cNvSpPr txBox="1"/>
          <p:nvPr/>
        </p:nvSpPr>
        <p:spPr>
          <a:xfrm>
            <a:off x="1417319" y="5010912"/>
            <a:ext cx="4389120" cy="384048"/>
          </a:xfrm>
          <a:prstGeom prst="rect">
            <a:avLst/>
          </a:prstGeom>
          <a:noFill/>
        </p:spPr>
        <p:txBody>
          <a:bodyPr wrap="square" lIns="0" tIns="0" rIns="0" bIns="0" anchor="ctr"/>
          <a:lstStyle/>
          <a:p>
            <a:pPr algn="l">
              <a:spcAft>
                <a:spcPts val="400"/>
              </a:spcAft>
            </a:pPr>
            <a:r>
              <a:rPr sz="1600" b="0" i="0">
                <a:solidFill>
                  <a:srgbClr val="FFFFFF"/>
                </a:solidFill>
                <a:latin typeface="Arial"/>
              </a:rPr>
              <a:t>Documentos y artefactos</a:t>
            </a:r>
          </a:p>
        </p:txBody>
      </p:sp>
      <p:sp>
        <p:nvSpPr>
          <p:cNvPr id="19" name="Oval 18"/>
          <p:cNvSpPr/>
          <p:nvPr/>
        </p:nvSpPr>
        <p:spPr>
          <a:xfrm>
            <a:off x="868680" y="5577840"/>
            <a:ext cx="347472" cy="34747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1E2433"/>
                </a:solidFill>
                <a:latin typeface="Arial"/>
              </a:rPr>
              <a:t>7</a:t>
            </a:r>
          </a:p>
        </p:txBody>
      </p:sp>
      <p:sp>
        <p:nvSpPr>
          <p:cNvPr id="20" name="TextBox 19"/>
          <p:cNvSpPr txBox="1"/>
          <p:nvPr/>
        </p:nvSpPr>
        <p:spPr>
          <a:xfrm>
            <a:off x="1417319" y="5559552"/>
            <a:ext cx="4389120" cy="384048"/>
          </a:xfrm>
          <a:prstGeom prst="rect">
            <a:avLst/>
          </a:prstGeom>
          <a:noFill/>
        </p:spPr>
        <p:txBody>
          <a:bodyPr wrap="square" lIns="0" tIns="0" rIns="0" bIns="0" anchor="ctr"/>
          <a:lstStyle/>
          <a:p>
            <a:pPr algn="l">
              <a:spcAft>
                <a:spcPts val="400"/>
              </a:spcAft>
            </a:pPr>
            <a:r>
              <a:rPr sz="1600" b="0" i="0">
                <a:solidFill>
                  <a:srgbClr val="FFFFFF"/>
                </a:solidFill>
                <a:latin typeface="Arial"/>
              </a:rPr>
              <a:t>Buenas prácticas</a:t>
            </a:r>
          </a:p>
        </p:txBody>
      </p:sp>
      <p:sp>
        <p:nvSpPr>
          <p:cNvPr id="21" name="Rounded Rectangle 20"/>
          <p:cNvSpPr/>
          <p:nvPr/>
        </p:nvSpPr>
        <p:spPr>
          <a:xfrm>
            <a:off x="6263640" y="1417320"/>
            <a:ext cx="5440680" cy="475488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83679" y="1645920"/>
            <a:ext cx="4846320" cy="457200"/>
          </a:xfrm>
          <a:prstGeom prst="rect">
            <a:avLst/>
          </a:prstGeom>
          <a:noFill/>
        </p:spPr>
        <p:txBody>
          <a:bodyPr wrap="square" lIns="0" tIns="0" rIns="0" bIns="0" anchor="t"/>
          <a:lstStyle/>
          <a:p>
            <a:pPr algn="l">
              <a:spcAft>
                <a:spcPts val="400"/>
              </a:spcAft>
            </a:pPr>
            <a:r>
              <a:rPr sz="2000" b="1" i="0">
                <a:solidFill>
                  <a:srgbClr val="1E2433"/>
                </a:solidFill>
                <a:latin typeface="Arial"/>
              </a:rPr>
              <a:t>Parte 2 · Desarrollo práctico</a:t>
            </a:r>
          </a:p>
        </p:txBody>
      </p:sp>
      <p:sp>
        <p:nvSpPr>
          <p:cNvPr id="23" name="Oval 22"/>
          <p:cNvSpPr/>
          <p:nvPr/>
        </p:nvSpPr>
        <p:spPr>
          <a:xfrm>
            <a:off x="6583679" y="2286000"/>
            <a:ext cx="347472" cy="34747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1E2433"/>
                </a:solidFill>
                <a:latin typeface="Arial"/>
              </a:rPr>
              <a:t>8</a:t>
            </a:r>
          </a:p>
        </p:txBody>
      </p:sp>
      <p:sp>
        <p:nvSpPr>
          <p:cNvPr id="24" name="TextBox 23"/>
          <p:cNvSpPr txBox="1"/>
          <p:nvPr/>
        </p:nvSpPr>
        <p:spPr>
          <a:xfrm>
            <a:off x="7132320" y="2267712"/>
            <a:ext cx="4389120" cy="384048"/>
          </a:xfrm>
          <a:prstGeom prst="rect">
            <a:avLst/>
          </a:prstGeom>
          <a:noFill/>
        </p:spPr>
        <p:txBody>
          <a:bodyPr wrap="square" lIns="0" tIns="0" rIns="0" bIns="0" anchor="ctr"/>
          <a:lstStyle/>
          <a:p>
            <a:pPr algn="l">
              <a:spcAft>
                <a:spcPts val="400"/>
              </a:spcAft>
            </a:pPr>
            <a:r>
              <a:rPr sz="1600" b="0" i="0">
                <a:solidFill>
                  <a:srgbClr val="1E2433"/>
                </a:solidFill>
                <a:latin typeface="Arial"/>
              </a:rPr>
              <a:t>Nuestro proyecto: Evo-RRLL</a:t>
            </a:r>
          </a:p>
        </p:txBody>
      </p:sp>
      <p:sp>
        <p:nvSpPr>
          <p:cNvPr id="25" name="Oval 24"/>
          <p:cNvSpPr/>
          <p:nvPr/>
        </p:nvSpPr>
        <p:spPr>
          <a:xfrm>
            <a:off x="6583679" y="2834640"/>
            <a:ext cx="347472" cy="34747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1E2433"/>
                </a:solidFill>
                <a:latin typeface="Arial"/>
              </a:rPr>
              <a:t>9</a:t>
            </a:r>
          </a:p>
        </p:txBody>
      </p:sp>
      <p:sp>
        <p:nvSpPr>
          <p:cNvPr id="26" name="TextBox 25"/>
          <p:cNvSpPr txBox="1"/>
          <p:nvPr/>
        </p:nvSpPr>
        <p:spPr>
          <a:xfrm>
            <a:off x="7132320" y="2816352"/>
            <a:ext cx="4389120" cy="384048"/>
          </a:xfrm>
          <a:prstGeom prst="rect">
            <a:avLst/>
          </a:prstGeom>
          <a:noFill/>
        </p:spPr>
        <p:txBody>
          <a:bodyPr wrap="square" lIns="0" tIns="0" rIns="0" bIns="0" anchor="ctr"/>
          <a:lstStyle/>
          <a:p>
            <a:pPr algn="l">
              <a:spcAft>
                <a:spcPts val="400"/>
              </a:spcAft>
            </a:pPr>
            <a:r>
              <a:rPr sz="1600" b="0" i="0">
                <a:solidFill>
                  <a:srgbClr val="1E2433"/>
                </a:solidFill>
                <a:latin typeface="Arial"/>
              </a:rPr>
              <a:t>Cambios identificados (7 SC)</a:t>
            </a:r>
          </a:p>
        </p:txBody>
      </p:sp>
      <p:sp>
        <p:nvSpPr>
          <p:cNvPr id="27" name="Oval 26"/>
          <p:cNvSpPr/>
          <p:nvPr/>
        </p:nvSpPr>
        <p:spPr>
          <a:xfrm>
            <a:off x="6583679" y="3383280"/>
            <a:ext cx="347472" cy="34747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1E2433"/>
                </a:solidFill>
                <a:latin typeface="Arial"/>
              </a:rPr>
              <a:t>10</a:t>
            </a:r>
          </a:p>
        </p:txBody>
      </p:sp>
      <p:sp>
        <p:nvSpPr>
          <p:cNvPr id="28" name="TextBox 27"/>
          <p:cNvSpPr txBox="1"/>
          <p:nvPr/>
        </p:nvSpPr>
        <p:spPr>
          <a:xfrm>
            <a:off x="7132320" y="3364992"/>
            <a:ext cx="4389120" cy="384048"/>
          </a:xfrm>
          <a:prstGeom prst="rect">
            <a:avLst/>
          </a:prstGeom>
          <a:noFill/>
        </p:spPr>
        <p:txBody>
          <a:bodyPr wrap="square" lIns="0" tIns="0" rIns="0" bIns="0" anchor="ctr"/>
          <a:lstStyle/>
          <a:p>
            <a:pPr algn="l">
              <a:spcAft>
                <a:spcPts val="400"/>
              </a:spcAft>
            </a:pPr>
            <a:r>
              <a:rPr sz="1600" b="0" i="0">
                <a:solidFill>
                  <a:srgbClr val="1E2433"/>
                </a:solidFill>
                <a:latin typeface="Arial"/>
              </a:rPr>
              <a:t>Formato de solicitud de cambio</a:t>
            </a:r>
          </a:p>
        </p:txBody>
      </p:sp>
      <p:sp>
        <p:nvSpPr>
          <p:cNvPr id="29" name="Oval 28"/>
          <p:cNvSpPr/>
          <p:nvPr/>
        </p:nvSpPr>
        <p:spPr>
          <a:xfrm>
            <a:off x="6583679" y="3931920"/>
            <a:ext cx="347472" cy="34747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1E2433"/>
                </a:solidFill>
                <a:latin typeface="Arial"/>
              </a:rPr>
              <a:t>11</a:t>
            </a:r>
          </a:p>
        </p:txBody>
      </p:sp>
      <p:sp>
        <p:nvSpPr>
          <p:cNvPr id="30" name="TextBox 29"/>
          <p:cNvSpPr txBox="1"/>
          <p:nvPr/>
        </p:nvSpPr>
        <p:spPr>
          <a:xfrm>
            <a:off x="7132320" y="3913632"/>
            <a:ext cx="4389120" cy="384048"/>
          </a:xfrm>
          <a:prstGeom prst="rect">
            <a:avLst/>
          </a:prstGeom>
          <a:noFill/>
        </p:spPr>
        <p:txBody>
          <a:bodyPr wrap="square" lIns="0" tIns="0" rIns="0" bIns="0" anchor="ctr"/>
          <a:lstStyle/>
          <a:p>
            <a:pPr algn="l">
              <a:spcAft>
                <a:spcPts val="400"/>
              </a:spcAft>
            </a:pPr>
            <a:r>
              <a:rPr sz="1600" b="0" i="0">
                <a:solidFill>
                  <a:srgbClr val="1E2433"/>
                </a:solidFill>
                <a:latin typeface="Arial"/>
              </a:rPr>
              <a:t>Matriz de cambios</a:t>
            </a:r>
          </a:p>
        </p:txBody>
      </p:sp>
      <p:sp>
        <p:nvSpPr>
          <p:cNvPr id="31" name="Oval 30"/>
          <p:cNvSpPr/>
          <p:nvPr/>
        </p:nvSpPr>
        <p:spPr>
          <a:xfrm>
            <a:off x="6583679" y="4480560"/>
            <a:ext cx="347472" cy="34747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1E2433"/>
                </a:solidFill>
                <a:latin typeface="Arial"/>
              </a:rPr>
              <a:t>12</a:t>
            </a:r>
          </a:p>
        </p:txBody>
      </p:sp>
      <p:sp>
        <p:nvSpPr>
          <p:cNvPr id="32" name="TextBox 31"/>
          <p:cNvSpPr txBox="1"/>
          <p:nvPr/>
        </p:nvSpPr>
        <p:spPr>
          <a:xfrm>
            <a:off x="7132320" y="4462272"/>
            <a:ext cx="4389120" cy="384048"/>
          </a:xfrm>
          <a:prstGeom prst="rect">
            <a:avLst/>
          </a:prstGeom>
          <a:noFill/>
        </p:spPr>
        <p:txBody>
          <a:bodyPr wrap="square" lIns="0" tIns="0" rIns="0" bIns="0" anchor="ctr"/>
          <a:lstStyle/>
          <a:p>
            <a:pPr algn="l">
              <a:spcAft>
                <a:spcPts val="400"/>
              </a:spcAft>
            </a:pPr>
            <a:r>
              <a:rPr sz="1600" b="0" i="0">
                <a:solidFill>
                  <a:srgbClr val="1E2433"/>
                </a:solidFill>
                <a:latin typeface="Arial"/>
              </a:rPr>
              <a:t>Análisis de impacto</a:t>
            </a:r>
          </a:p>
        </p:txBody>
      </p:sp>
      <p:sp>
        <p:nvSpPr>
          <p:cNvPr id="33" name="Oval 32"/>
          <p:cNvSpPr/>
          <p:nvPr/>
        </p:nvSpPr>
        <p:spPr>
          <a:xfrm>
            <a:off x="6583679" y="5029200"/>
            <a:ext cx="347472" cy="34747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1E2433"/>
                </a:solidFill>
                <a:latin typeface="Arial"/>
              </a:rPr>
              <a:t>13</a:t>
            </a:r>
          </a:p>
        </p:txBody>
      </p:sp>
      <p:sp>
        <p:nvSpPr>
          <p:cNvPr id="34" name="TextBox 33"/>
          <p:cNvSpPr txBox="1"/>
          <p:nvPr/>
        </p:nvSpPr>
        <p:spPr>
          <a:xfrm>
            <a:off x="7132320" y="5010912"/>
            <a:ext cx="4389120" cy="384048"/>
          </a:xfrm>
          <a:prstGeom prst="rect">
            <a:avLst/>
          </a:prstGeom>
          <a:noFill/>
        </p:spPr>
        <p:txBody>
          <a:bodyPr wrap="square" lIns="0" tIns="0" rIns="0" bIns="0" anchor="ctr"/>
          <a:lstStyle/>
          <a:p>
            <a:pPr algn="l">
              <a:spcAft>
                <a:spcPts val="400"/>
              </a:spcAft>
            </a:pPr>
            <a:r>
              <a:rPr sz="1600" b="0" i="0">
                <a:solidFill>
                  <a:srgbClr val="1E2433"/>
                </a:solidFill>
                <a:latin typeface="Arial"/>
              </a:rPr>
              <a:t>Flujo propuesto para gestionar cambios</a:t>
            </a:r>
          </a:p>
        </p:txBody>
      </p:sp>
      <p:sp>
        <p:nvSpPr>
          <p:cNvPr id="35" name="Oval 34"/>
          <p:cNvSpPr/>
          <p:nvPr/>
        </p:nvSpPr>
        <p:spPr>
          <a:xfrm>
            <a:off x="6583679" y="5577840"/>
            <a:ext cx="347472" cy="34747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1E2433"/>
                </a:solidFill>
                <a:latin typeface="Arial"/>
              </a:rPr>
              <a:t>14</a:t>
            </a:r>
          </a:p>
        </p:txBody>
      </p:sp>
      <p:sp>
        <p:nvSpPr>
          <p:cNvPr id="36" name="TextBox 35"/>
          <p:cNvSpPr txBox="1"/>
          <p:nvPr/>
        </p:nvSpPr>
        <p:spPr>
          <a:xfrm>
            <a:off x="7132320" y="5559552"/>
            <a:ext cx="4389120" cy="384048"/>
          </a:xfrm>
          <a:prstGeom prst="rect">
            <a:avLst/>
          </a:prstGeom>
          <a:noFill/>
        </p:spPr>
        <p:txBody>
          <a:bodyPr wrap="square" lIns="0" tIns="0" rIns="0" bIns="0" anchor="ctr"/>
          <a:lstStyle/>
          <a:p>
            <a:pPr algn="l">
              <a:spcAft>
                <a:spcPts val="400"/>
              </a:spcAft>
            </a:pPr>
            <a:r>
              <a:rPr sz="1600" b="0" i="0">
                <a:solidFill>
                  <a:srgbClr val="1E2433"/>
                </a:solidFill>
                <a:latin typeface="Arial"/>
              </a:rPr>
              <a:t>Conclusiones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64240" cy="640080"/>
          </a:xfrm>
          <a:prstGeom prst="rect">
            <a:avLst/>
          </a:prstGeom>
          <a:noFill/>
        </p:spPr>
        <p:txBody>
          <a:bodyPr wrap="square" lIns="0" tIns="0" rIns="0" bIns="0" anchor="t"/>
          <a:lstStyle/>
          <a:p>
            <a:pPr algn="l">
              <a:spcAft>
                <a:spcPts val="400"/>
              </a:spcAft>
            </a:pPr>
            <a:r>
              <a:rPr sz="3200" b="1" i="0">
                <a:solidFill>
                  <a:srgbClr val="1E2433"/>
                </a:solidFill>
                <a:latin typeface="Arial"/>
              </a:rPr>
              <a:t>¿Qué es la gestión del cambio?</a:t>
            </a:r>
          </a:p>
        </p:txBody>
      </p:sp>
      <p:sp>
        <p:nvSpPr>
          <p:cNvPr id="3" name="TextBox 2"/>
          <p:cNvSpPr txBox="1"/>
          <p:nvPr/>
        </p:nvSpPr>
        <p:spPr>
          <a:xfrm>
            <a:off x="548640" y="1024128"/>
            <a:ext cx="11064240" cy="411480"/>
          </a:xfrm>
          <a:prstGeom prst="rect">
            <a:avLst/>
          </a:prstGeom>
          <a:noFill/>
        </p:spPr>
        <p:txBody>
          <a:bodyPr wrap="square" lIns="0" tIns="0" rIns="0" bIns="0" anchor="t"/>
          <a:lstStyle/>
          <a:p>
            <a:pPr algn="l">
              <a:spcAft>
                <a:spcPts val="400"/>
              </a:spcAft>
            </a:pPr>
            <a:r>
              <a:rPr sz="1600" b="0" i="0">
                <a:solidFill>
                  <a:srgbClr val="6B7280"/>
                </a:solidFill>
                <a:latin typeface="Arial"/>
              </a:rPr>
              <a:t>Es el proceso que controla cómo se solicitan, evalúan, aprueban, implementan y registran las modificaciones de un sistema.</a:t>
            </a:r>
          </a:p>
        </p:txBody>
      </p:sp>
      <p:sp>
        <p:nvSpPr>
          <p:cNvPr id="4" name="TextBox 3"/>
          <p:cNvSpPr txBox="1"/>
          <p:nvPr/>
        </p:nvSpPr>
        <p:spPr>
          <a:xfrm>
            <a:off x="10728655" y="6400800"/>
            <a:ext cx="914400" cy="274320"/>
          </a:xfrm>
          <a:prstGeom prst="rect">
            <a:avLst/>
          </a:prstGeom>
          <a:noFill/>
        </p:spPr>
        <p:txBody>
          <a:bodyPr wrap="square" lIns="0" tIns="0" rIns="0" bIns="0" anchor="t"/>
          <a:lstStyle/>
          <a:p>
            <a:pPr algn="r">
              <a:spcAft>
                <a:spcPts val="400"/>
              </a:spcAft>
            </a:pPr>
            <a:r>
              <a:rPr sz="1000" b="0" i="0">
                <a:solidFill>
                  <a:srgbClr val="6B7280"/>
                </a:solidFill>
                <a:latin typeface="Arial"/>
              </a:rPr>
              <a:t>3</a:t>
            </a:r>
          </a:p>
        </p:txBody>
      </p:sp>
      <p:sp>
        <p:nvSpPr>
          <p:cNvPr id="5" name="TextBox 4"/>
          <p:cNvSpPr txBox="1"/>
          <p:nvPr/>
        </p:nvSpPr>
        <p:spPr>
          <a:xfrm>
            <a:off x="548640" y="6400800"/>
            <a:ext cx="7315200" cy="274320"/>
          </a:xfrm>
          <a:prstGeom prst="rect">
            <a:avLst/>
          </a:prstGeom>
          <a:noFill/>
        </p:spPr>
        <p:txBody>
          <a:bodyPr wrap="square" lIns="0" tIns="0" rIns="0" bIns="0" anchor="t"/>
          <a:lstStyle/>
          <a:p>
            <a:pPr algn="l">
              <a:spcAft>
                <a:spcPts val="400"/>
              </a:spcAft>
            </a:pPr>
            <a:r>
              <a:rPr sz="1000" b="0" i="0">
                <a:solidFill>
                  <a:srgbClr val="6B7280"/>
                </a:solidFill>
                <a:latin typeface="Arial"/>
              </a:rPr>
              <a:t>Grupo 5 · Gestión del Cambio · Evo-RRLL</a:t>
            </a:r>
          </a:p>
        </p:txBody>
      </p:sp>
      <p:sp>
        <p:nvSpPr>
          <p:cNvPr id="6" name="Rounded Rectangle 5"/>
          <p:cNvSpPr/>
          <p:nvPr/>
        </p:nvSpPr>
        <p:spPr>
          <a:xfrm>
            <a:off x="548640" y="1828800"/>
            <a:ext cx="3520440" cy="329184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22959" y="210312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1E2433"/>
                </a:solidFill>
                <a:latin typeface="Arial"/>
              </a:rPr>
              <a:t>1</a:t>
            </a:r>
          </a:p>
        </p:txBody>
      </p:sp>
      <p:sp>
        <p:nvSpPr>
          <p:cNvPr id="8" name="TextBox 7"/>
          <p:cNvSpPr txBox="1"/>
          <p:nvPr/>
        </p:nvSpPr>
        <p:spPr>
          <a:xfrm>
            <a:off x="822959" y="2651760"/>
            <a:ext cx="3017520" cy="731520"/>
          </a:xfrm>
          <a:prstGeom prst="rect">
            <a:avLst/>
          </a:prstGeom>
          <a:noFill/>
        </p:spPr>
        <p:txBody>
          <a:bodyPr wrap="square" lIns="0" tIns="0" rIns="0" bIns="0" anchor="t"/>
          <a:lstStyle/>
          <a:p>
            <a:pPr algn="l">
              <a:spcAft>
                <a:spcPts val="400"/>
              </a:spcAft>
            </a:pPr>
            <a:r>
              <a:rPr sz="1800" b="1" i="0">
                <a:solidFill>
                  <a:srgbClr val="1E2433"/>
                </a:solidFill>
                <a:latin typeface="Arial"/>
              </a:rPr>
              <a:t>¿Qué es un cambio en software?</a:t>
            </a:r>
          </a:p>
        </p:txBody>
      </p:sp>
      <p:sp>
        <p:nvSpPr>
          <p:cNvPr id="9" name="TextBox 8"/>
          <p:cNvSpPr txBox="1"/>
          <p:nvPr/>
        </p:nvSpPr>
        <p:spPr>
          <a:xfrm>
            <a:off x="822959" y="3429000"/>
            <a:ext cx="3017520" cy="1645920"/>
          </a:xfrm>
          <a:prstGeom prst="rect">
            <a:avLst/>
          </a:prstGeom>
          <a:noFill/>
        </p:spPr>
        <p:txBody>
          <a:bodyPr wrap="square" lIns="0" tIns="0" rIns="0" bIns="0" anchor="t"/>
          <a:lstStyle/>
          <a:p>
            <a:pPr algn="l">
              <a:spcAft>
                <a:spcPts val="400"/>
              </a:spcAft>
            </a:pPr>
            <a:r>
              <a:rPr sz="1400" b="0" i="0">
                <a:solidFill>
                  <a:srgbClr val="1F2937"/>
                </a:solidFill>
                <a:latin typeface="Arial"/>
              </a:rPr>
              <a:t>Cualquier modificación a un elemento ya aprobado del sistema: requisitos, código, base de datos, interfaz, configuración o documentación.</a:t>
            </a:r>
          </a:p>
        </p:txBody>
      </p:sp>
      <p:sp>
        <p:nvSpPr>
          <p:cNvPr id="10" name="Rounded Rectangle 9"/>
          <p:cNvSpPr/>
          <p:nvPr/>
        </p:nvSpPr>
        <p:spPr>
          <a:xfrm>
            <a:off x="4297679" y="1828800"/>
            <a:ext cx="3520440" cy="329184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571999" y="210312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1E2433"/>
                </a:solidFill>
                <a:latin typeface="Arial"/>
              </a:rPr>
              <a:t>2</a:t>
            </a:r>
          </a:p>
        </p:txBody>
      </p:sp>
      <p:sp>
        <p:nvSpPr>
          <p:cNvPr id="12" name="TextBox 11"/>
          <p:cNvSpPr txBox="1"/>
          <p:nvPr/>
        </p:nvSpPr>
        <p:spPr>
          <a:xfrm>
            <a:off x="4571999" y="2651760"/>
            <a:ext cx="3017520" cy="731520"/>
          </a:xfrm>
          <a:prstGeom prst="rect">
            <a:avLst/>
          </a:prstGeom>
          <a:noFill/>
        </p:spPr>
        <p:txBody>
          <a:bodyPr wrap="square" lIns="0" tIns="0" rIns="0" bIns="0" anchor="t"/>
          <a:lstStyle/>
          <a:p>
            <a:pPr algn="l">
              <a:spcAft>
                <a:spcPts val="400"/>
              </a:spcAft>
            </a:pPr>
            <a:r>
              <a:rPr sz="1800" b="1" i="0">
                <a:solidFill>
                  <a:srgbClr val="1E2433"/>
                </a:solidFill>
                <a:latin typeface="Arial"/>
              </a:rPr>
              <a:t>¿Por qué debe controlarse?</a:t>
            </a:r>
          </a:p>
        </p:txBody>
      </p:sp>
      <p:sp>
        <p:nvSpPr>
          <p:cNvPr id="13" name="TextBox 12"/>
          <p:cNvSpPr txBox="1"/>
          <p:nvPr/>
        </p:nvSpPr>
        <p:spPr>
          <a:xfrm>
            <a:off x="4571999" y="3429000"/>
            <a:ext cx="3017520" cy="1645920"/>
          </a:xfrm>
          <a:prstGeom prst="rect">
            <a:avLst/>
          </a:prstGeom>
          <a:noFill/>
        </p:spPr>
        <p:txBody>
          <a:bodyPr wrap="square" lIns="0" tIns="0" rIns="0" bIns="0" anchor="t"/>
          <a:lstStyle/>
          <a:p>
            <a:pPr algn="l">
              <a:spcAft>
                <a:spcPts val="400"/>
              </a:spcAft>
            </a:pPr>
            <a:r>
              <a:rPr sz="1400" b="0" i="0">
                <a:solidFill>
                  <a:srgbClr val="1F2937"/>
                </a:solidFill>
                <a:latin typeface="Arial"/>
              </a:rPr>
              <a:t>Porque un cambio pequeño puede afectar a otros módulos, al cronograma y a los datos. Controlar asegura que solo entre lo evaluado y autorizado.</a:t>
            </a:r>
          </a:p>
        </p:txBody>
      </p:sp>
      <p:sp>
        <p:nvSpPr>
          <p:cNvPr id="14" name="Rounded Rectangle 13"/>
          <p:cNvSpPr/>
          <p:nvPr/>
        </p:nvSpPr>
        <p:spPr>
          <a:xfrm>
            <a:off x="8046719" y="1828800"/>
            <a:ext cx="3520440" cy="329184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321040" y="210312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1E2433"/>
                </a:solidFill>
                <a:latin typeface="Arial"/>
              </a:rPr>
              <a:t>3</a:t>
            </a:r>
          </a:p>
        </p:txBody>
      </p:sp>
      <p:sp>
        <p:nvSpPr>
          <p:cNvPr id="16" name="TextBox 15"/>
          <p:cNvSpPr txBox="1"/>
          <p:nvPr/>
        </p:nvSpPr>
        <p:spPr>
          <a:xfrm>
            <a:off x="8321040" y="2651760"/>
            <a:ext cx="3017520" cy="731520"/>
          </a:xfrm>
          <a:prstGeom prst="rect">
            <a:avLst/>
          </a:prstGeom>
          <a:noFill/>
        </p:spPr>
        <p:txBody>
          <a:bodyPr wrap="square" lIns="0" tIns="0" rIns="0" bIns="0" anchor="t"/>
          <a:lstStyle/>
          <a:p>
            <a:pPr algn="l">
              <a:spcAft>
                <a:spcPts val="400"/>
              </a:spcAft>
            </a:pPr>
            <a:r>
              <a:rPr sz="1800" b="1" i="0">
                <a:solidFill>
                  <a:srgbClr val="1E2433"/>
                </a:solidFill>
                <a:latin typeface="Arial"/>
              </a:rPr>
              <a:t>¿Dónde aparece en el ciclo de vida?</a:t>
            </a:r>
          </a:p>
        </p:txBody>
      </p:sp>
      <p:sp>
        <p:nvSpPr>
          <p:cNvPr id="17" name="TextBox 16"/>
          <p:cNvSpPr txBox="1"/>
          <p:nvPr/>
        </p:nvSpPr>
        <p:spPr>
          <a:xfrm>
            <a:off x="8321040" y="3429000"/>
            <a:ext cx="3017520" cy="1645920"/>
          </a:xfrm>
          <a:prstGeom prst="rect">
            <a:avLst/>
          </a:prstGeom>
          <a:noFill/>
        </p:spPr>
        <p:txBody>
          <a:bodyPr wrap="square" lIns="0" tIns="0" rIns="0" bIns="0" anchor="t"/>
          <a:lstStyle/>
          <a:p>
            <a:pPr algn="l">
              <a:spcAft>
                <a:spcPts val="400"/>
              </a:spcAft>
            </a:pPr>
            <a:r>
              <a:rPr sz="1400" b="0" i="0">
                <a:solidFill>
                  <a:srgbClr val="1F2937"/>
                </a:solidFill>
                <a:latin typeface="Arial"/>
              </a:rPr>
              <a:t>Durante el desarrollo (requisitos que cambian) y sobre todo en el mantenimiento, donde el sistema sigue evolucionando después de entregado.</a:t>
            </a:r>
          </a:p>
        </p:txBody>
      </p:sp>
      <p:sp>
        <p:nvSpPr>
          <p:cNvPr id="18" name="TextBox 17"/>
          <p:cNvSpPr txBox="1"/>
          <p:nvPr/>
        </p:nvSpPr>
        <p:spPr>
          <a:xfrm>
            <a:off x="548640" y="5440680"/>
            <a:ext cx="11064240" cy="731520"/>
          </a:xfrm>
          <a:prstGeom prst="rect">
            <a:avLst/>
          </a:prstGeom>
          <a:noFill/>
        </p:spPr>
        <p:txBody>
          <a:bodyPr wrap="square" lIns="0" tIns="0" rIns="0" bIns="0" anchor="t"/>
          <a:lstStyle/>
          <a:p>
            <a:pPr algn="l">
              <a:spcAft>
                <a:spcPts val="400"/>
              </a:spcAft>
            </a:pPr>
            <a:r>
              <a:rPr sz="1600" b="1" i="0">
                <a:solidFill>
                  <a:srgbClr val="1E2433"/>
                </a:solidFill>
                <a:latin typeface="Arial"/>
              </a:rPr>
              <a:t>En pocas palabras: </a:t>
            </a:r>
            <a:r>
              <a:rPr sz="1600" b="0" i="0">
                <a:solidFill>
                  <a:srgbClr val="1F2937"/>
                </a:solidFill>
                <a:latin typeface="Arial"/>
              </a:rPr>
              <a:t>no se trata de evitar los cambios, sino de que cada uno sea visible, evaluado y reversible.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64240" cy="640080"/>
          </a:xfrm>
          <a:prstGeom prst="rect">
            <a:avLst/>
          </a:prstGeom>
          <a:noFill/>
        </p:spPr>
        <p:txBody>
          <a:bodyPr wrap="square" lIns="0" tIns="0" rIns="0" bIns="0" anchor="t"/>
          <a:lstStyle/>
          <a:p>
            <a:pPr algn="l">
              <a:spcAft>
                <a:spcPts val="400"/>
              </a:spcAft>
            </a:pPr>
            <a:r>
              <a:rPr sz="3200" b="1" i="0">
                <a:solidFill>
                  <a:srgbClr val="1E2433"/>
                </a:solidFill>
                <a:latin typeface="Arial"/>
              </a:rPr>
              <a:t>¿Qué pasa si se cambia sin evaluar?</a:t>
            </a:r>
          </a:p>
        </p:txBody>
      </p:sp>
      <p:sp>
        <p:nvSpPr>
          <p:cNvPr id="3" name="TextBox 2"/>
          <p:cNvSpPr txBox="1"/>
          <p:nvPr/>
        </p:nvSpPr>
        <p:spPr>
          <a:xfrm>
            <a:off x="548640" y="1024128"/>
            <a:ext cx="11064240" cy="411480"/>
          </a:xfrm>
          <a:prstGeom prst="rect">
            <a:avLst/>
          </a:prstGeom>
          <a:noFill/>
        </p:spPr>
        <p:txBody>
          <a:bodyPr wrap="square" lIns="0" tIns="0" rIns="0" bIns="0" anchor="t"/>
          <a:lstStyle/>
          <a:p>
            <a:pPr algn="l">
              <a:spcAft>
                <a:spcPts val="400"/>
              </a:spcAft>
            </a:pPr>
            <a:r>
              <a:rPr sz="1600" b="0" i="0">
                <a:solidFill>
                  <a:srgbClr val="6B7280"/>
                </a:solidFill>
                <a:latin typeface="Arial"/>
              </a:rPr>
              <a:t>La diferencia entre un cambio improvisado y uno gestionado se nota en la calidad del sistema.</a:t>
            </a:r>
          </a:p>
        </p:txBody>
      </p:sp>
      <p:sp>
        <p:nvSpPr>
          <p:cNvPr id="4" name="TextBox 3"/>
          <p:cNvSpPr txBox="1"/>
          <p:nvPr/>
        </p:nvSpPr>
        <p:spPr>
          <a:xfrm>
            <a:off x="10728655" y="6400800"/>
            <a:ext cx="914400" cy="274320"/>
          </a:xfrm>
          <a:prstGeom prst="rect">
            <a:avLst/>
          </a:prstGeom>
          <a:noFill/>
        </p:spPr>
        <p:txBody>
          <a:bodyPr wrap="square" lIns="0" tIns="0" rIns="0" bIns="0" anchor="t"/>
          <a:lstStyle/>
          <a:p>
            <a:pPr algn="r">
              <a:spcAft>
                <a:spcPts val="400"/>
              </a:spcAft>
            </a:pPr>
            <a:r>
              <a:rPr sz="1000" b="0" i="0">
                <a:solidFill>
                  <a:srgbClr val="6B7280"/>
                </a:solidFill>
                <a:latin typeface="Arial"/>
              </a:rPr>
              <a:t>4</a:t>
            </a:r>
          </a:p>
        </p:txBody>
      </p:sp>
      <p:sp>
        <p:nvSpPr>
          <p:cNvPr id="5" name="TextBox 4"/>
          <p:cNvSpPr txBox="1"/>
          <p:nvPr/>
        </p:nvSpPr>
        <p:spPr>
          <a:xfrm>
            <a:off x="548640" y="6400800"/>
            <a:ext cx="7315200" cy="274320"/>
          </a:xfrm>
          <a:prstGeom prst="rect">
            <a:avLst/>
          </a:prstGeom>
          <a:noFill/>
        </p:spPr>
        <p:txBody>
          <a:bodyPr wrap="square" lIns="0" tIns="0" rIns="0" bIns="0" anchor="t"/>
          <a:lstStyle/>
          <a:p>
            <a:pPr algn="l">
              <a:spcAft>
                <a:spcPts val="400"/>
              </a:spcAft>
            </a:pPr>
            <a:r>
              <a:rPr sz="1000" b="0" i="0">
                <a:solidFill>
                  <a:srgbClr val="6B7280"/>
                </a:solidFill>
                <a:latin typeface="Arial"/>
              </a:rPr>
              <a:t>Grupo 5 · Gestión del Cambio · Evo-RRLL</a:t>
            </a:r>
          </a:p>
        </p:txBody>
      </p:sp>
      <p:sp>
        <p:nvSpPr>
          <p:cNvPr id="6" name="Rounded Rectangle 5"/>
          <p:cNvSpPr/>
          <p:nvPr/>
        </p:nvSpPr>
        <p:spPr>
          <a:xfrm>
            <a:off x="548640" y="1691640"/>
            <a:ext cx="5440680" cy="4297680"/>
          </a:xfrm>
          <a:prstGeom prst="roundRect">
            <a:avLst>
              <a:gd name="adj" fmla="val 6000"/>
            </a:avLst>
          </a:prstGeom>
          <a:solidFill>
            <a:srgbClr val="FBE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68680" y="1920240"/>
            <a:ext cx="2651760" cy="365760"/>
          </a:xfrm>
          <a:prstGeom prst="roundRect">
            <a:avLst>
              <a:gd name="adj" fmla="val 30000"/>
            </a:avLst>
          </a:prstGeom>
          <a:solidFill>
            <a:srgbClr val="B4231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Arial"/>
              </a:rPr>
              <a:t>Sin gestión del cambio</a:t>
            </a:r>
          </a:p>
        </p:txBody>
      </p:sp>
      <p:sp>
        <p:nvSpPr>
          <p:cNvPr id="8" name="TextBox 7"/>
          <p:cNvSpPr txBox="1"/>
          <p:nvPr/>
        </p:nvSpPr>
        <p:spPr>
          <a:xfrm>
            <a:off x="868680" y="2560320"/>
            <a:ext cx="4846320" cy="3291840"/>
          </a:xfrm>
          <a:prstGeom prst="rect">
            <a:avLst/>
          </a:prstGeom>
          <a:noFill/>
        </p:spPr>
        <p:txBody>
          <a:bodyPr wrap="square" lIns="0" tIns="0" rIns="0" bIns="0" anchor="t"/>
          <a:lstStyle/>
          <a:p>
            <a:pPr marL="228600" indent="-228600" algn="l">
              <a:spcAft>
                <a:spcPts val="1000"/>
              </a:spcAft>
              <a:buFont typeface="Arial"/>
              <a:buChar char="•"/>
            </a:pPr>
            <a:r>
              <a:rPr sz="1600" b="0" i="0">
                <a:solidFill>
                  <a:srgbClr val="1F2937"/>
                </a:solidFill>
                <a:latin typeface="Arial"/>
              </a:rPr>
              <a:t>Errores nuevos en módulos que ya funcionaban (regresiones).</a:t>
            </a:r>
          </a:p>
          <a:p>
            <a:pPr marL="228600" indent="-228600" algn="l">
              <a:spcAft>
                <a:spcPts val="1000"/>
              </a:spcAft>
              <a:buFont typeface="Arial"/>
              <a:buChar char="•"/>
            </a:pPr>
            <a:r>
              <a:rPr sz="1600" b="0" i="0">
                <a:solidFill>
                  <a:srgbClr val="1F2937"/>
                </a:solidFill>
                <a:latin typeface="Arial"/>
              </a:rPr>
              <a:t>Nadie sabe quién cambió qué ni por qué.</a:t>
            </a:r>
          </a:p>
          <a:p>
            <a:pPr marL="228600" indent="-228600" algn="l">
              <a:spcAft>
                <a:spcPts val="1000"/>
              </a:spcAft>
              <a:buFont typeface="Arial"/>
              <a:buChar char="•"/>
            </a:pPr>
            <a:r>
              <a:rPr sz="1600" b="0" i="0">
                <a:solidFill>
                  <a:srgbClr val="1F2937"/>
                </a:solidFill>
                <a:latin typeface="Arial"/>
              </a:rPr>
              <a:t>Crece el alcance sin control y se atrasa el cronograma.</a:t>
            </a:r>
          </a:p>
          <a:p>
            <a:pPr marL="228600" indent="-228600" algn="l">
              <a:spcAft>
                <a:spcPts val="1000"/>
              </a:spcAft>
              <a:buFont typeface="Arial"/>
              <a:buChar char="•"/>
            </a:pPr>
            <a:r>
              <a:rPr sz="1600" b="0" i="0">
                <a:solidFill>
                  <a:srgbClr val="1F2937"/>
                </a:solidFill>
                <a:latin typeface="Arial"/>
              </a:rPr>
              <a:t>Código y base de datos quedan desalineados.</a:t>
            </a:r>
          </a:p>
          <a:p>
            <a:pPr marL="228600" indent="-228600" algn="l">
              <a:spcAft>
                <a:spcPts val="1000"/>
              </a:spcAft>
              <a:buFont typeface="Arial"/>
              <a:buChar char="•"/>
            </a:pPr>
            <a:r>
              <a:rPr sz="1600" b="0" i="0">
                <a:solidFill>
                  <a:srgbClr val="1F2937"/>
                </a:solidFill>
                <a:latin typeface="Arial"/>
              </a:rPr>
              <a:t>No es posible volver a una versión estable.</a:t>
            </a:r>
          </a:p>
        </p:txBody>
      </p:sp>
      <p:sp>
        <p:nvSpPr>
          <p:cNvPr id="9" name="Rounded Rectangle 8"/>
          <p:cNvSpPr/>
          <p:nvPr/>
        </p:nvSpPr>
        <p:spPr>
          <a:xfrm>
            <a:off x="6263640" y="1691640"/>
            <a:ext cx="5440680" cy="4297680"/>
          </a:xfrm>
          <a:prstGeom prst="roundRect">
            <a:avLst>
              <a:gd name="adj" fmla="val 6000"/>
            </a:avLst>
          </a:prstGeom>
          <a:solidFill>
            <a:srgbClr val="E7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583679" y="1920240"/>
            <a:ext cx="2651760" cy="365760"/>
          </a:xfrm>
          <a:prstGeom prst="roundRect">
            <a:avLst>
              <a:gd name="adj" fmla="val 30000"/>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Arial"/>
              </a:rPr>
              <a:t>Con gestión del cambio</a:t>
            </a:r>
          </a:p>
        </p:txBody>
      </p:sp>
      <p:sp>
        <p:nvSpPr>
          <p:cNvPr id="11" name="TextBox 10"/>
          <p:cNvSpPr txBox="1"/>
          <p:nvPr/>
        </p:nvSpPr>
        <p:spPr>
          <a:xfrm>
            <a:off x="6583679" y="2560320"/>
            <a:ext cx="4846320" cy="3291840"/>
          </a:xfrm>
          <a:prstGeom prst="rect">
            <a:avLst/>
          </a:prstGeom>
          <a:noFill/>
        </p:spPr>
        <p:txBody>
          <a:bodyPr wrap="square" lIns="0" tIns="0" rIns="0" bIns="0" anchor="t"/>
          <a:lstStyle/>
          <a:p>
            <a:pPr marL="228600" indent="-228600" algn="l">
              <a:spcAft>
                <a:spcPts val="1000"/>
              </a:spcAft>
              <a:buFont typeface="Arial"/>
              <a:buChar char="•"/>
            </a:pPr>
            <a:r>
              <a:rPr sz="1600" b="0" i="0">
                <a:solidFill>
                  <a:srgbClr val="1F2937"/>
                </a:solidFill>
                <a:latin typeface="Arial"/>
              </a:rPr>
              <a:t>Cada cambio se analiza antes de tocar el código.</a:t>
            </a:r>
          </a:p>
          <a:p>
            <a:pPr marL="228600" indent="-228600" algn="l">
              <a:spcAft>
                <a:spcPts val="1000"/>
              </a:spcAft>
              <a:buFont typeface="Arial"/>
              <a:buChar char="•"/>
            </a:pPr>
            <a:r>
              <a:rPr sz="1600" b="0" i="0">
                <a:solidFill>
                  <a:srgbClr val="1F2937"/>
                </a:solidFill>
                <a:latin typeface="Arial"/>
              </a:rPr>
              <a:t>Queda registro: solicitud, decisión, commit y versión.</a:t>
            </a:r>
          </a:p>
          <a:p>
            <a:pPr marL="228600" indent="-228600" algn="l">
              <a:spcAft>
                <a:spcPts val="1000"/>
              </a:spcAft>
              <a:buFont typeface="Arial"/>
              <a:buChar char="•"/>
            </a:pPr>
            <a:r>
              <a:rPr sz="1600" b="0" i="0">
                <a:solidFill>
                  <a:srgbClr val="1F2937"/>
                </a:solidFill>
                <a:latin typeface="Arial"/>
              </a:rPr>
              <a:t>El alcance solo crece con aprobación del comité.</a:t>
            </a:r>
          </a:p>
          <a:p>
            <a:pPr marL="228600" indent="-228600" algn="l">
              <a:spcAft>
                <a:spcPts val="1000"/>
              </a:spcAft>
              <a:buFont typeface="Arial"/>
              <a:buChar char="•"/>
            </a:pPr>
            <a:r>
              <a:rPr sz="1600" b="0" i="0">
                <a:solidFill>
                  <a:srgbClr val="1F2937"/>
                </a:solidFill>
                <a:latin typeface="Arial"/>
              </a:rPr>
              <a:t>Los cambios de BD se entregan como scripts versionados.</a:t>
            </a:r>
          </a:p>
          <a:p>
            <a:pPr marL="228600" indent="-228600" algn="l">
              <a:spcAft>
                <a:spcPts val="1000"/>
              </a:spcAft>
              <a:buFont typeface="Arial"/>
              <a:buChar char="•"/>
            </a:pPr>
            <a:r>
              <a:rPr sz="1600" b="0" i="0">
                <a:solidFill>
                  <a:srgbClr val="1F2937"/>
                </a:solidFill>
                <a:latin typeface="Arial"/>
              </a:rPr>
              <a:t>Se puede revertir con seguridad a la línea base anterior.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64240" cy="640080"/>
          </a:xfrm>
          <a:prstGeom prst="rect">
            <a:avLst/>
          </a:prstGeom>
          <a:noFill/>
        </p:spPr>
        <p:txBody>
          <a:bodyPr wrap="square" lIns="0" tIns="0" rIns="0" bIns="0" anchor="t"/>
          <a:lstStyle/>
          <a:p>
            <a:pPr algn="l">
              <a:spcAft>
                <a:spcPts val="400"/>
              </a:spcAft>
            </a:pPr>
            <a:r>
              <a:rPr sz="3200" b="1" i="0">
                <a:solidFill>
                  <a:srgbClr val="1E2433"/>
                </a:solidFill>
                <a:latin typeface="Arial"/>
              </a:rPr>
              <a:t>Relación con la calidad y la mantenibilidad</a:t>
            </a:r>
          </a:p>
        </p:txBody>
      </p:sp>
      <p:sp>
        <p:nvSpPr>
          <p:cNvPr id="3" name="TextBox 2"/>
          <p:cNvSpPr txBox="1"/>
          <p:nvPr/>
        </p:nvSpPr>
        <p:spPr>
          <a:xfrm>
            <a:off x="10728655" y="6400800"/>
            <a:ext cx="914400" cy="274320"/>
          </a:xfrm>
          <a:prstGeom prst="rect">
            <a:avLst/>
          </a:prstGeom>
          <a:noFill/>
        </p:spPr>
        <p:txBody>
          <a:bodyPr wrap="square" lIns="0" tIns="0" rIns="0" bIns="0" anchor="t"/>
          <a:lstStyle/>
          <a:p>
            <a:pPr algn="r">
              <a:spcAft>
                <a:spcPts val="400"/>
              </a:spcAft>
            </a:pPr>
            <a:r>
              <a:rPr sz="1000" b="0" i="0">
                <a:solidFill>
                  <a:srgbClr val="6B7280"/>
                </a:solidFill>
                <a:latin typeface="Arial"/>
              </a:rPr>
              <a:t>5</a:t>
            </a:r>
          </a:p>
        </p:txBody>
      </p:sp>
      <p:sp>
        <p:nvSpPr>
          <p:cNvPr id="4" name="TextBox 3"/>
          <p:cNvSpPr txBox="1"/>
          <p:nvPr/>
        </p:nvSpPr>
        <p:spPr>
          <a:xfrm>
            <a:off x="548640" y="6400800"/>
            <a:ext cx="7315200" cy="274320"/>
          </a:xfrm>
          <a:prstGeom prst="rect">
            <a:avLst/>
          </a:prstGeom>
          <a:noFill/>
        </p:spPr>
        <p:txBody>
          <a:bodyPr wrap="square" lIns="0" tIns="0" rIns="0" bIns="0" anchor="t"/>
          <a:lstStyle/>
          <a:p>
            <a:pPr algn="l">
              <a:spcAft>
                <a:spcPts val="400"/>
              </a:spcAft>
            </a:pPr>
            <a:r>
              <a:rPr sz="1000" b="0" i="0">
                <a:solidFill>
                  <a:srgbClr val="6B7280"/>
                </a:solidFill>
                <a:latin typeface="Arial"/>
              </a:rPr>
              <a:t>Grupo 5 · Gestión del Cambio · Evo-RRLL</a:t>
            </a:r>
          </a:p>
        </p:txBody>
      </p:sp>
      <p:sp>
        <p:nvSpPr>
          <p:cNvPr id="5" name="TextBox 4"/>
          <p:cNvSpPr txBox="1"/>
          <p:nvPr/>
        </p:nvSpPr>
        <p:spPr>
          <a:xfrm>
            <a:off x="548640" y="1143000"/>
            <a:ext cx="4754880" cy="4114800"/>
          </a:xfrm>
          <a:prstGeom prst="rect">
            <a:avLst/>
          </a:prstGeom>
          <a:noFill/>
        </p:spPr>
        <p:txBody>
          <a:bodyPr wrap="square" lIns="0" tIns="0" rIns="0" bIns="0" anchor="t"/>
          <a:lstStyle/>
          <a:p>
            <a:pPr algn="l">
              <a:spcAft>
                <a:spcPts val="1400"/>
              </a:spcAft>
            </a:pPr>
            <a:r>
              <a:rPr sz="1700" b="0" i="0">
                <a:solidFill>
                  <a:srgbClr val="1F2937"/>
                </a:solidFill>
                <a:latin typeface="Arial"/>
              </a:rPr>
              <a:t>La gestión del cambio protege la calidad porque ningún cambio llega a producción sin pruebas ni revisión.</a:t>
            </a:r>
          </a:p>
          <a:p>
            <a:pPr algn="l">
              <a:spcAft>
                <a:spcPts val="1400"/>
              </a:spcAft>
            </a:pPr>
            <a:r>
              <a:rPr sz="1700" b="0" i="0">
                <a:solidFill>
                  <a:srgbClr val="1F2937"/>
                </a:solidFill>
                <a:latin typeface="Arial"/>
              </a:rPr>
              <a:t>Y mejora la mantenibilidad porque deja documentado el porqué de cada modificación: el próximo desarrollador entiende el sistema y puede seguir evolucionándolo.</a:t>
            </a:r>
          </a:p>
        </p:txBody>
      </p:sp>
      <p:sp>
        <p:nvSpPr>
          <p:cNvPr id="6" name="Rounded Rectangle 5"/>
          <p:cNvSpPr/>
          <p:nvPr/>
        </p:nvSpPr>
        <p:spPr>
          <a:xfrm>
            <a:off x="5806440" y="1280160"/>
            <a:ext cx="2788920" cy="210312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080759" y="1554480"/>
            <a:ext cx="2286000" cy="457200"/>
          </a:xfrm>
          <a:prstGeom prst="rect">
            <a:avLst/>
          </a:prstGeom>
          <a:noFill/>
        </p:spPr>
        <p:txBody>
          <a:bodyPr wrap="square" lIns="0" tIns="0" rIns="0" bIns="0" anchor="t"/>
          <a:lstStyle/>
          <a:p>
            <a:pPr algn="l">
              <a:spcAft>
                <a:spcPts val="400"/>
              </a:spcAft>
            </a:pPr>
            <a:r>
              <a:rPr sz="2000" b="1" i="0">
                <a:solidFill>
                  <a:srgbClr val="1E2433"/>
                </a:solidFill>
                <a:latin typeface="Arial"/>
              </a:rPr>
              <a:t>Calidad</a:t>
            </a:r>
          </a:p>
        </p:txBody>
      </p:sp>
      <p:sp>
        <p:nvSpPr>
          <p:cNvPr id="8" name="TextBox 7"/>
          <p:cNvSpPr txBox="1"/>
          <p:nvPr/>
        </p:nvSpPr>
        <p:spPr>
          <a:xfrm>
            <a:off x="6080759" y="2103120"/>
            <a:ext cx="2286000" cy="1188720"/>
          </a:xfrm>
          <a:prstGeom prst="rect">
            <a:avLst/>
          </a:prstGeom>
          <a:noFill/>
        </p:spPr>
        <p:txBody>
          <a:bodyPr wrap="square" lIns="0" tIns="0" rIns="0" bIns="0" anchor="t"/>
          <a:lstStyle/>
          <a:p>
            <a:pPr algn="l">
              <a:spcAft>
                <a:spcPts val="400"/>
              </a:spcAft>
            </a:pPr>
            <a:r>
              <a:rPr sz="1400" b="0" i="0">
                <a:solidFill>
                  <a:srgbClr val="1F2937"/>
                </a:solidFill>
                <a:latin typeface="Arial"/>
              </a:rPr>
              <a:t>Cambios verificados con pruebas funcionales y de regresión.</a:t>
            </a:r>
          </a:p>
        </p:txBody>
      </p:sp>
      <p:sp>
        <p:nvSpPr>
          <p:cNvPr id="9" name="Rounded Rectangle 8"/>
          <p:cNvSpPr/>
          <p:nvPr/>
        </p:nvSpPr>
        <p:spPr>
          <a:xfrm>
            <a:off x="8778240" y="1280160"/>
            <a:ext cx="2788920" cy="210312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052560" y="1554480"/>
            <a:ext cx="2286000" cy="457200"/>
          </a:xfrm>
          <a:prstGeom prst="rect">
            <a:avLst/>
          </a:prstGeom>
          <a:noFill/>
        </p:spPr>
        <p:txBody>
          <a:bodyPr wrap="square" lIns="0" tIns="0" rIns="0" bIns="0" anchor="t"/>
          <a:lstStyle/>
          <a:p>
            <a:pPr algn="l">
              <a:spcAft>
                <a:spcPts val="400"/>
              </a:spcAft>
            </a:pPr>
            <a:r>
              <a:rPr sz="2000" b="1" i="0">
                <a:solidFill>
                  <a:srgbClr val="1E2433"/>
                </a:solidFill>
                <a:latin typeface="Arial"/>
              </a:rPr>
              <a:t>Mantenibilidad</a:t>
            </a:r>
          </a:p>
        </p:txBody>
      </p:sp>
      <p:sp>
        <p:nvSpPr>
          <p:cNvPr id="11" name="TextBox 10"/>
          <p:cNvSpPr txBox="1"/>
          <p:nvPr/>
        </p:nvSpPr>
        <p:spPr>
          <a:xfrm>
            <a:off x="9052560" y="2103120"/>
            <a:ext cx="2286000" cy="1188720"/>
          </a:xfrm>
          <a:prstGeom prst="rect">
            <a:avLst/>
          </a:prstGeom>
          <a:noFill/>
        </p:spPr>
        <p:txBody>
          <a:bodyPr wrap="square" lIns="0" tIns="0" rIns="0" bIns="0" anchor="t"/>
          <a:lstStyle/>
          <a:p>
            <a:pPr algn="l">
              <a:spcAft>
                <a:spcPts val="400"/>
              </a:spcAft>
            </a:pPr>
            <a:r>
              <a:rPr sz="1400" b="0" i="0">
                <a:solidFill>
                  <a:srgbClr val="1F2937"/>
                </a:solidFill>
                <a:latin typeface="Arial"/>
              </a:rPr>
              <a:t>Historial claro de qué cambió, dónde y por qué.</a:t>
            </a:r>
          </a:p>
        </p:txBody>
      </p:sp>
      <p:sp>
        <p:nvSpPr>
          <p:cNvPr id="12" name="Rounded Rectangle 11"/>
          <p:cNvSpPr/>
          <p:nvPr/>
        </p:nvSpPr>
        <p:spPr>
          <a:xfrm>
            <a:off x="5806440" y="3611879"/>
            <a:ext cx="2788920" cy="210312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080759" y="3886200"/>
            <a:ext cx="2286000" cy="457200"/>
          </a:xfrm>
          <a:prstGeom prst="rect">
            <a:avLst/>
          </a:prstGeom>
          <a:noFill/>
        </p:spPr>
        <p:txBody>
          <a:bodyPr wrap="square" lIns="0" tIns="0" rIns="0" bIns="0" anchor="t"/>
          <a:lstStyle/>
          <a:p>
            <a:pPr algn="l">
              <a:spcAft>
                <a:spcPts val="400"/>
              </a:spcAft>
            </a:pPr>
            <a:r>
              <a:rPr sz="2000" b="1" i="0">
                <a:solidFill>
                  <a:srgbClr val="1E2433"/>
                </a:solidFill>
                <a:latin typeface="Arial"/>
              </a:rPr>
              <a:t>Estabilidad</a:t>
            </a:r>
          </a:p>
        </p:txBody>
      </p:sp>
      <p:sp>
        <p:nvSpPr>
          <p:cNvPr id="14" name="TextBox 13"/>
          <p:cNvSpPr txBox="1"/>
          <p:nvPr/>
        </p:nvSpPr>
        <p:spPr>
          <a:xfrm>
            <a:off x="6080759" y="4434840"/>
            <a:ext cx="2286000" cy="1188720"/>
          </a:xfrm>
          <a:prstGeom prst="rect">
            <a:avLst/>
          </a:prstGeom>
          <a:noFill/>
        </p:spPr>
        <p:txBody>
          <a:bodyPr wrap="square" lIns="0" tIns="0" rIns="0" bIns="0" anchor="t"/>
          <a:lstStyle/>
          <a:p>
            <a:pPr algn="l">
              <a:spcAft>
                <a:spcPts val="400"/>
              </a:spcAft>
            </a:pPr>
            <a:r>
              <a:rPr sz="1400" b="0" i="0">
                <a:solidFill>
                  <a:srgbClr val="1F2937"/>
                </a:solidFill>
                <a:latin typeface="Arial"/>
              </a:rPr>
              <a:t>Versiones etiquetadas a las que se puede volver.</a:t>
            </a:r>
          </a:p>
        </p:txBody>
      </p:sp>
      <p:sp>
        <p:nvSpPr>
          <p:cNvPr id="15" name="Rounded Rectangle 14"/>
          <p:cNvSpPr/>
          <p:nvPr/>
        </p:nvSpPr>
        <p:spPr>
          <a:xfrm>
            <a:off x="8778240" y="3611879"/>
            <a:ext cx="2788920" cy="210312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052560" y="3886200"/>
            <a:ext cx="2286000" cy="457200"/>
          </a:xfrm>
          <a:prstGeom prst="rect">
            <a:avLst/>
          </a:prstGeom>
          <a:noFill/>
        </p:spPr>
        <p:txBody>
          <a:bodyPr wrap="square" lIns="0" tIns="0" rIns="0" bIns="0" anchor="t"/>
          <a:lstStyle/>
          <a:p>
            <a:pPr algn="l">
              <a:spcAft>
                <a:spcPts val="400"/>
              </a:spcAft>
            </a:pPr>
            <a:r>
              <a:rPr sz="2000" b="1" i="0">
                <a:solidFill>
                  <a:srgbClr val="1E2433"/>
                </a:solidFill>
                <a:latin typeface="Arial"/>
              </a:rPr>
              <a:t>Confianza</a:t>
            </a:r>
          </a:p>
        </p:txBody>
      </p:sp>
      <p:sp>
        <p:nvSpPr>
          <p:cNvPr id="17" name="TextBox 16"/>
          <p:cNvSpPr txBox="1"/>
          <p:nvPr/>
        </p:nvSpPr>
        <p:spPr>
          <a:xfrm>
            <a:off x="9052560" y="4434840"/>
            <a:ext cx="2286000" cy="1188720"/>
          </a:xfrm>
          <a:prstGeom prst="rect">
            <a:avLst/>
          </a:prstGeom>
          <a:noFill/>
        </p:spPr>
        <p:txBody>
          <a:bodyPr wrap="square" lIns="0" tIns="0" rIns="0" bIns="0" anchor="t"/>
          <a:lstStyle/>
          <a:p>
            <a:pPr algn="l">
              <a:spcAft>
                <a:spcPts val="400"/>
              </a:spcAft>
            </a:pPr>
            <a:r>
              <a:rPr sz="1400" b="0" i="0">
                <a:solidFill>
                  <a:srgbClr val="1F2937"/>
                </a:solidFill>
                <a:latin typeface="Arial"/>
              </a:rPr>
              <a:t>El usuario sabe en qué versión llega lo que pidió.</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64240" cy="640080"/>
          </a:xfrm>
          <a:prstGeom prst="rect">
            <a:avLst/>
          </a:prstGeom>
          <a:noFill/>
        </p:spPr>
        <p:txBody>
          <a:bodyPr wrap="square" lIns="0" tIns="0" rIns="0" bIns="0" anchor="t"/>
          <a:lstStyle/>
          <a:p>
            <a:pPr algn="l">
              <a:spcAft>
                <a:spcPts val="400"/>
              </a:spcAft>
            </a:pPr>
            <a:r>
              <a:rPr sz="3200" b="1" i="0">
                <a:solidFill>
                  <a:srgbClr val="1E2433"/>
                </a:solidFill>
                <a:latin typeface="Arial"/>
              </a:rPr>
              <a:t>Importancia de la gestión del cambio</a:t>
            </a:r>
          </a:p>
        </p:txBody>
      </p:sp>
      <p:sp>
        <p:nvSpPr>
          <p:cNvPr id="3" name="TextBox 2"/>
          <p:cNvSpPr txBox="1"/>
          <p:nvPr/>
        </p:nvSpPr>
        <p:spPr>
          <a:xfrm>
            <a:off x="10728655" y="6400800"/>
            <a:ext cx="914400" cy="274320"/>
          </a:xfrm>
          <a:prstGeom prst="rect">
            <a:avLst/>
          </a:prstGeom>
          <a:noFill/>
        </p:spPr>
        <p:txBody>
          <a:bodyPr wrap="square" lIns="0" tIns="0" rIns="0" bIns="0" anchor="t"/>
          <a:lstStyle/>
          <a:p>
            <a:pPr algn="r">
              <a:spcAft>
                <a:spcPts val="400"/>
              </a:spcAft>
            </a:pPr>
            <a:r>
              <a:rPr sz="1000" b="0" i="0">
                <a:solidFill>
                  <a:srgbClr val="6B7280"/>
                </a:solidFill>
                <a:latin typeface="Arial"/>
              </a:rPr>
              <a:t>6</a:t>
            </a:r>
          </a:p>
        </p:txBody>
      </p:sp>
      <p:sp>
        <p:nvSpPr>
          <p:cNvPr id="4" name="TextBox 3"/>
          <p:cNvSpPr txBox="1"/>
          <p:nvPr/>
        </p:nvSpPr>
        <p:spPr>
          <a:xfrm>
            <a:off x="548640" y="6400800"/>
            <a:ext cx="7315200" cy="274320"/>
          </a:xfrm>
          <a:prstGeom prst="rect">
            <a:avLst/>
          </a:prstGeom>
          <a:noFill/>
        </p:spPr>
        <p:txBody>
          <a:bodyPr wrap="square" lIns="0" tIns="0" rIns="0" bIns="0" anchor="t"/>
          <a:lstStyle/>
          <a:p>
            <a:pPr algn="l">
              <a:spcAft>
                <a:spcPts val="400"/>
              </a:spcAft>
            </a:pPr>
            <a:r>
              <a:rPr sz="1000" b="0" i="0">
                <a:solidFill>
                  <a:srgbClr val="6B7280"/>
                </a:solidFill>
                <a:latin typeface="Arial"/>
              </a:rPr>
              <a:t>Grupo 5 · Gestión del Cambio · Evo-RRLL</a:t>
            </a:r>
          </a:p>
        </p:txBody>
      </p:sp>
      <p:sp>
        <p:nvSpPr>
          <p:cNvPr id="5" name="Rounded Rectangle 4"/>
          <p:cNvSpPr/>
          <p:nvPr/>
        </p:nvSpPr>
        <p:spPr>
          <a:xfrm>
            <a:off x="548640" y="1371600"/>
            <a:ext cx="3520440" cy="219456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22959" y="164592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1E2433"/>
                </a:solidFill>
                <a:latin typeface="Arial"/>
              </a:rPr>
              <a:t>1</a:t>
            </a:r>
          </a:p>
        </p:txBody>
      </p:sp>
      <p:sp>
        <p:nvSpPr>
          <p:cNvPr id="7" name="TextBox 6"/>
          <p:cNvSpPr txBox="1"/>
          <p:nvPr/>
        </p:nvSpPr>
        <p:spPr>
          <a:xfrm>
            <a:off x="822959" y="2148840"/>
            <a:ext cx="3017520" cy="685800"/>
          </a:xfrm>
          <a:prstGeom prst="rect">
            <a:avLst/>
          </a:prstGeom>
          <a:noFill/>
        </p:spPr>
        <p:txBody>
          <a:bodyPr wrap="square" lIns="0" tIns="0" rIns="0" bIns="0" anchor="t"/>
          <a:lstStyle/>
          <a:p>
            <a:pPr algn="l">
              <a:spcAft>
                <a:spcPts val="400"/>
              </a:spcAft>
            </a:pPr>
            <a:r>
              <a:rPr sz="1700" b="1" i="0">
                <a:solidFill>
                  <a:srgbClr val="1E2433"/>
                </a:solidFill>
                <a:latin typeface="Arial"/>
              </a:rPr>
              <a:t>Reducción de errores</a:t>
            </a:r>
          </a:p>
        </p:txBody>
      </p:sp>
      <p:sp>
        <p:nvSpPr>
          <p:cNvPr id="8" name="TextBox 7"/>
          <p:cNvSpPr txBox="1"/>
          <p:nvPr/>
        </p:nvSpPr>
        <p:spPr>
          <a:xfrm>
            <a:off x="822959" y="2834640"/>
            <a:ext cx="3017520" cy="685800"/>
          </a:xfrm>
          <a:prstGeom prst="rect">
            <a:avLst/>
          </a:prstGeom>
          <a:noFill/>
        </p:spPr>
        <p:txBody>
          <a:bodyPr wrap="square" lIns="0" tIns="0" rIns="0" bIns="0" anchor="t"/>
          <a:lstStyle/>
          <a:p>
            <a:pPr algn="l">
              <a:spcAft>
                <a:spcPts val="400"/>
              </a:spcAft>
            </a:pPr>
            <a:r>
              <a:rPr sz="1400" b="0" i="0">
                <a:solidFill>
                  <a:srgbClr val="1F2937"/>
                </a:solidFill>
                <a:latin typeface="Arial"/>
              </a:rPr>
              <a:t>Se analiza el impacto y se prueba antes de integrar.</a:t>
            </a:r>
          </a:p>
        </p:txBody>
      </p:sp>
      <p:sp>
        <p:nvSpPr>
          <p:cNvPr id="9" name="Rounded Rectangle 8"/>
          <p:cNvSpPr/>
          <p:nvPr/>
        </p:nvSpPr>
        <p:spPr>
          <a:xfrm>
            <a:off x="4297679" y="1371600"/>
            <a:ext cx="3520440" cy="219456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571999" y="164592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1E2433"/>
                </a:solidFill>
                <a:latin typeface="Arial"/>
              </a:rPr>
              <a:t>2</a:t>
            </a:r>
          </a:p>
        </p:txBody>
      </p:sp>
      <p:sp>
        <p:nvSpPr>
          <p:cNvPr id="11" name="TextBox 10"/>
          <p:cNvSpPr txBox="1"/>
          <p:nvPr/>
        </p:nvSpPr>
        <p:spPr>
          <a:xfrm>
            <a:off x="4571999" y="2148840"/>
            <a:ext cx="3017520" cy="685800"/>
          </a:xfrm>
          <a:prstGeom prst="rect">
            <a:avLst/>
          </a:prstGeom>
          <a:noFill/>
        </p:spPr>
        <p:txBody>
          <a:bodyPr wrap="square" lIns="0" tIns="0" rIns="0" bIns="0" anchor="t"/>
          <a:lstStyle/>
          <a:p>
            <a:pPr algn="l">
              <a:spcAft>
                <a:spcPts val="400"/>
              </a:spcAft>
            </a:pPr>
            <a:r>
              <a:rPr sz="1700" b="1" i="0">
                <a:solidFill>
                  <a:srgbClr val="1E2433"/>
                </a:solidFill>
                <a:latin typeface="Arial"/>
              </a:rPr>
              <a:t>Control del alcance</a:t>
            </a:r>
          </a:p>
        </p:txBody>
      </p:sp>
      <p:sp>
        <p:nvSpPr>
          <p:cNvPr id="12" name="TextBox 11"/>
          <p:cNvSpPr txBox="1"/>
          <p:nvPr/>
        </p:nvSpPr>
        <p:spPr>
          <a:xfrm>
            <a:off x="4571999" y="2834640"/>
            <a:ext cx="3017520" cy="685800"/>
          </a:xfrm>
          <a:prstGeom prst="rect">
            <a:avLst/>
          </a:prstGeom>
          <a:noFill/>
        </p:spPr>
        <p:txBody>
          <a:bodyPr wrap="square" lIns="0" tIns="0" rIns="0" bIns="0" anchor="t"/>
          <a:lstStyle/>
          <a:p>
            <a:pPr algn="l">
              <a:spcAft>
                <a:spcPts val="400"/>
              </a:spcAft>
            </a:pPr>
            <a:r>
              <a:rPr sz="1400" b="0" i="0">
                <a:solidFill>
                  <a:srgbClr val="1F2937"/>
                </a:solidFill>
                <a:latin typeface="Arial"/>
              </a:rPr>
              <a:t>Solo entra lo aprobado; se evita el 'ya que estamos…'.</a:t>
            </a:r>
          </a:p>
        </p:txBody>
      </p:sp>
      <p:sp>
        <p:nvSpPr>
          <p:cNvPr id="13" name="Rounded Rectangle 12"/>
          <p:cNvSpPr/>
          <p:nvPr/>
        </p:nvSpPr>
        <p:spPr>
          <a:xfrm>
            <a:off x="8046719" y="1371600"/>
            <a:ext cx="3520440" cy="219456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8321040" y="164592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1E2433"/>
                </a:solidFill>
                <a:latin typeface="Arial"/>
              </a:rPr>
              <a:t>3</a:t>
            </a:r>
          </a:p>
        </p:txBody>
      </p:sp>
      <p:sp>
        <p:nvSpPr>
          <p:cNvPr id="15" name="TextBox 14"/>
          <p:cNvSpPr txBox="1"/>
          <p:nvPr/>
        </p:nvSpPr>
        <p:spPr>
          <a:xfrm>
            <a:off x="8321040" y="2148840"/>
            <a:ext cx="3017520" cy="685800"/>
          </a:xfrm>
          <a:prstGeom prst="rect">
            <a:avLst/>
          </a:prstGeom>
          <a:noFill/>
        </p:spPr>
        <p:txBody>
          <a:bodyPr wrap="square" lIns="0" tIns="0" rIns="0" bIns="0" anchor="t"/>
          <a:lstStyle/>
          <a:p>
            <a:pPr algn="l">
              <a:spcAft>
                <a:spcPts val="400"/>
              </a:spcAft>
            </a:pPr>
            <a:r>
              <a:rPr sz="1700" b="1" i="0">
                <a:solidFill>
                  <a:srgbClr val="1E2433"/>
                </a:solidFill>
                <a:latin typeface="Arial"/>
              </a:rPr>
              <a:t>Prevención de cambios no autorizados</a:t>
            </a:r>
          </a:p>
        </p:txBody>
      </p:sp>
      <p:sp>
        <p:nvSpPr>
          <p:cNvPr id="16" name="TextBox 15"/>
          <p:cNvSpPr txBox="1"/>
          <p:nvPr/>
        </p:nvSpPr>
        <p:spPr>
          <a:xfrm>
            <a:off x="8321040" y="2834640"/>
            <a:ext cx="3017520" cy="685800"/>
          </a:xfrm>
          <a:prstGeom prst="rect">
            <a:avLst/>
          </a:prstGeom>
          <a:noFill/>
        </p:spPr>
        <p:txBody>
          <a:bodyPr wrap="square" lIns="0" tIns="0" rIns="0" bIns="0" anchor="t"/>
          <a:lstStyle/>
          <a:p>
            <a:pPr algn="l">
              <a:spcAft>
                <a:spcPts val="400"/>
              </a:spcAft>
            </a:pPr>
            <a:r>
              <a:rPr sz="1400" b="0" i="0">
                <a:solidFill>
                  <a:srgbClr val="1F2937"/>
                </a:solidFill>
                <a:latin typeface="Arial"/>
              </a:rPr>
              <a:t>Nada llega a main sin solicitud y aprobación.</a:t>
            </a:r>
          </a:p>
        </p:txBody>
      </p:sp>
      <p:sp>
        <p:nvSpPr>
          <p:cNvPr id="17" name="Rounded Rectangle 16"/>
          <p:cNvSpPr/>
          <p:nvPr/>
        </p:nvSpPr>
        <p:spPr>
          <a:xfrm>
            <a:off x="548640" y="3794760"/>
            <a:ext cx="3520440" cy="219456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822959" y="406908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1E2433"/>
                </a:solidFill>
                <a:latin typeface="Arial"/>
              </a:rPr>
              <a:t>4</a:t>
            </a:r>
          </a:p>
        </p:txBody>
      </p:sp>
      <p:sp>
        <p:nvSpPr>
          <p:cNvPr id="19" name="TextBox 18"/>
          <p:cNvSpPr txBox="1"/>
          <p:nvPr/>
        </p:nvSpPr>
        <p:spPr>
          <a:xfrm>
            <a:off x="822959" y="4572000"/>
            <a:ext cx="3017520" cy="685800"/>
          </a:xfrm>
          <a:prstGeom prst="rect">
            <a:avLst/>
          </a:prstGeom>
          <a:noFill/>
        </p:spPr>
        <p:txBody>
          <a:bodyPr wrap="square" lIns="0" tIns="0" rIns="0" bIns="0" anchor="t"/>
          <a:lstStyle/>
          <a:p>
            <a:pPr algn="l">
              <a:spcAft>
                <a:spcPts val="400"/>
              </a:spcAft>
            </a:pPr>
            <a:r>
              <a:rPr sz="1700" b="1" i="0">
                <a:solidFill>
                  <a:srgbClr val="1E2433"/>
                </a:solidFill>
                <a:latin typeface="Arial"/>
              </a:rPr>
              <a:t>Mejor trazabilidad</a:t>
            </a:r>
          </a:p>
        </p:txBody>
      </p:sp>
      <p:sp>
        <p:nvSpPr>
          <p:cNvPr id="20" name="TextBox 19"/>
          <p:cNvSpPr txBox="1"/>
          <p:nvPr/>
        </p:nvSpPr>
        <p:spPr>
          <a:xfrm>
            <a:off x="822959" y="5257800"/>
            <a:ext cx="3017520" cy="685800"/>
          </a:xfrm>
          <a:prstGeom prst="rect">
            <a:avLst/>
          </a:prstGeom>
          <a:noFill/>
        </p:spPr>
        <p:txBody>
          <a:bodyPr wrap="square" lIns="0" tIns="0" rIns="0" bIns="0" anchor="t"/>
          <a:lstStyle/>
          <a:p>
            <a:pPr algn="l">
              <a:spcAft>
                <a:spcPts val="400"/>
              </a:spcAft>
            </a:pPr>
            <a:r>
              <a:rPr sz="1400" b="0" i="0">
                <a:solidFill>
                  <a:srgbClr val="1F2937"/>
                </a:solidFill>
                <a:latin typeface="Arial"/>
              </a:rPr>
              <a:t>Solicitud → decisión → commit → versión.</a:t>
            </a:r>
          </a:p>
        </p:txBody>
      </p:sp>
      <p:sp>
        <p:nvSpPr>
          <p:cNvPr id="21" name="Rounded Rectangle 20"/>
          <p:cNvSpPr/>
          <p:nvPr/>
        </p:nvSpPr>
        <p:spPr>
          <a:xfrm>
            <a:off x="4297679" y="3794760"/>
            <a:ext cx="3520440" cy="219456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4571999" y="406908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1E2433"/>
                </a:solidFill>
                <a:latin typeface="Arial"/>
              </a:rPr>
              <a:t>5</a:t>
            </a:r>
          </a:p>
        </p:txBody>
      </p:sp>
      <p:sp>
        <p:nvSpPr>
          <p:cNvPr id="23" name="TextBox 22"/>
          <p:cNvSpPr txBox="1"/>
          <p:nvPr/>
        </p:nvSpPr>
        <p:spPr>
          <a:xfrm>
            <a:off x="4571999" y="4572000"/>
            <a:ext cx="3017520" cy="685800"/>
          </a:xfrm>
          <a:prstGeom prst="rect">
            <a:avLst/>
          </a:prstGeom>
          <a:noFill/>
        </p:spPr>
        <p:txBody>
          <a:bodyPr wrap="square" lIns="0" tIns="0" rIns="0" bIns="0" anchor="t"/>
          <a:lstStyle/>
          <a:p>
            <a:pPr algn="l">
              <a:spcAft>
                <a:spcPts val="400"/>
              </a:spcAft>
            </a:pPr>
            <a:r>
              <a:rPr sz="1700" b="1" i="0">
                <a:solidFill>
                  <a:srgbClr val="1E2433"/>
                </a:solidFill>
                <a:latin typeface="Arial"/>
              </a:rPr>
              <a:t>Mejor comunicación</a:t>
            </a:r>
          </a:p>
        </p:txBody>
      </p:sp>
      <p:sp>
        <p:nvSpPr>
          <p:cNvPr id="24" name="TextBox 23"/>
          <p:cNvSpPr txBox="1"/>
          <p:nvPr/>
        </p:nvSpPr>
        <p:spPr>
          <a:xfrm>
            <a:off x="4571999" y="5257800"/>
            <a:ext cx="3017520" cy="685800"/>
          </a:xfrm>
          <a:prstGeom prst="rect">
            <a:avLst/>
          </a:prstGeom>
          <a:noFill/>
        </p:spPr>
        <p:txBody>
          <a:bodyPr wrap="square" lIns="0" tIns="0" rIns="0" bIns="0" anchor="t"/>
          <a:lstStyle/>
          <a:p>
            <a:pPr algn="l">
              <a:spcAft>
                <a:spcPts val="400"/>
              </a:spcAft>
            </a:pPr>
            <a:r>
              <a:rPr sz="1400" b="0" i="0">
                <a:solidFill>
                  <a:srgbClr val="1F2937"/>
                </a:solidFill>
                <a:latin typeface="Arial"/>
              </a:rPr>
              <a:t>Todo el equipo conoce qué cambia y cuándo.</a:t>
            </a:r>
          </a:p>
        </p:txBody>
      </p:sp>
      <p:sp>
        <p:nvSpPr>
          <p:cNvPr id="25" name="Rounded Rectangle 24"/>
          <p:cNvSpPr/>
          <p:nvPr/>
        </p:nvSpPr>
        <p:spPr>
          <a:xfrm>
            <a:off x="8046719" y="3794760"/>
            <a:ext cx="3520440" cy="219456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8321040" y="406908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1E2433"/>
                </a:solidFill>
                <a:latin typeface="Arial"/>
              </a:rPr>
              <a:t>6</a:t>
            </a:r>
          </a:p>
        </p:txBody>
      </p:sp>
      <p:sp>
        <p:nvSpPr>
          <p:cNvPr id="27" name="TextBox 26"/>
          <p:cNvSpPr txBox="1"/>
          <p:nvPr/>
        </p:nvSpPr>
        <p:spPr>
          <a:xfrm>
            <a:off x="8321040" y="4572000"/>
            <a:ext cx="3017520" cy="685800"/>
          </a:xfrm>
          <a:prstGeom prst="rect">
            <a:avLst/>
          </a:prstGeom>
          <a:noFill/>
        </p:spPr>
        <p:txBody>
          <a:bodyPr wrap="square" lIns="0" tIns="0" rIns="0" bIns="0" anchor="t"/>
          <a:lstStyle/>
          <a:p>
            <a:pPr algn="l">
              <a:spcAft>
                <a:spcPts val="400"/>
              </a:spcAft>
            </a:pPr>
            <a:r>
              <a:rPr sz="1700" b="1" i="0">
                <a:solidFill>
                  <a:srgbClr val="1E2433"/>
                </a:solidFill>
                <a:latin typeface="Arial"/>
              </a:rPr>
              <a:t>Menos riesgos técnicos y funcionales</a:t>
            </a:r>
          </a:p>
        </p:txBody>
      </p:sp>
      <p:sp>
        <p:nvSpPr>
          <p:cNvPr id="28" name="TextBox 27"/>
          <p:cNvSpPr txBox="1"/>
          <p:nvPr/>
        </p:nvSpPr>
        <p:spPr>
          <a:xfrm>
            <a:off x="8321040" y="5257800"/>
            <a:ext cx="3017520" cy="685800"/>
          </a:xfrm>
          <a:prstGeom prst="rect">
            <a:avLst/>
          </a:prstGeom>
          <a:noFill/>
        </p:spPr>
        <p:txBody>
          <a:bodyPr wrap="square" lIns="0" tIns="0" rIns="0" bIns="0" anchor="t"/>
          <a:lstStyle/>
          <a:p>
            <a:pPr algn="l">
              <a:spcAft>
                <a:spcPts val="400"/>
              </a:spcAft>
            </a:pPr>
            <a:r>
              <a:rPr sz="1400" b="0" i="0">
                <a:solidFill>
                  <a:srgbClr val="1F2937"/>
                </a:solidFill>
                <a:latin typeface="Arial"/>
              </a:rPr>
              <a:t>Los riesgos se identifican y mitigan con anticipación.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64240" cy="640080"/>
          </a:xfrm>
          <a:prstGeom prst="rect">
            <a:avLst/>
          </a:prstGeom>
          <a:noFill/>
        </p:spPr>
        <p:txBody>
          <a:bodyPr wrap="square" lIns="0" tIns="0" rIns="0" bIns="0" anchor="t"/>
          <a:lstStyle/>
          <a:p>
            <a:pPr algn="l">
              <a:spcAft>
                <a:spcPts val="400"/>
              </a:spcAft>
            </a:pPr>
            <a:r>
              <a:rPr sz="3200" b="1" i="0">
                <a:solidFill>
                  <a:srgbClr val="1E2433"/>
                </a:solidFill>
                <a:latin typeface="Arial"/>
              </a:rPr>
              <a:t>Tipos de cambios en software</a:t>
            </a:r>
          </a:p>
        </p:txBody>
      </p:sp>
      <p:sp>
        <p:nvSpPr>
          <p:cNvPr id="3" name="TextBox 2"/>
          <p:cNvSpPr txBox="1"/>
          <p:nvPr/>
        </p:nvSpPr>
        <p:spPr>
          <a:xfrm>
            <a:off x="548640" y="1024128"/>
            <a:ext cx="11064240" cy="411480"/>
          </a:xfrm>
          <a:prstGeom prst="rect">
            <a:avLst/>
          </a:prstGeom>
          <a:noFill/>
        </p:spPr>
        <p:txBody>
          <a:bodyPr wrap="square" lIns="0" tIns="0" rIns="0" bIns="0" anchor="t"/>
          <a:lstStyle/>
          <a:p>
            <a:pPr algn="l">
              <a:spcAft>
                <a:spcPts val="400"/>
              </a:spcAft>
            </a:pPr>
            <a:r>
              <a:rPr sz="1600" b="0" i="0">
                <a:solidFill>
                  <a:srgbClr val="6B7280"/>
                </a:solidFill>
                <a:latin typeface="Arial"/>
              </a:rPr>
              <a:t>Clasificación clásica del mantenimiento (Lientz y Swanson; ISO/IEC 14764).</a:t>
            </a:r>
          </a:p>
        </p:txBody>
      </p:sp>
      <p:sp>
        <p:nvSpPr>
          <p:cNvPr id="4" name="TextBox 3"/>
          <p:cNvSpPr txBox="1"/>
          <p:nvPr/>
        </p:nvSpPr>
        <p:spPr>
          <a:xfrm>
            <a:off x="10728655" y="6400800"/>
            <a:ext cx="914400" cy="274320"/>
          </a:xfrm>
          <a:prstGeom prst="rect">
            <a:avLst/>
          </a:prstGeom>
          <a:noFill/>
        </p:spPr>
        <p:txBody>
          <a:bodyPr wrap="square" lIns="0" tIns="0" rIns="0" bIns="0" anchor="t"/>
          <a:lstStyle/>
          <a:p>
            <a:pPr algn="r">
              <a:spcAft>
                <a:spcPts val="400"/>
              </a:spcAft>
            </a:pPr>
            <a:r>
              <a:rPr sz="1000" b="0" i="0">
                <a:solidFill>
                  <a:srgbClr val="6B7280"/>
                </a:solidFill>
                <a:latin typeface="Arial"/>
              </a:rPr>
              <a:t>7</a:t>
            </a:r>
          </a:p>
        </p:txBody>
      </p:sp>
      <p:sp>
        <p:nvSpPr>
          <p:cNvPr id="5" name="TextBox 4"/>
          <p:cNvSpPr txBox="1"/>
          <p:nvPr/>
        </p:nvSpPr>
        <p:spPr>
          <a:xfrm>
            <a:off x="548640" y="6400800"/>
            <a:ext cx="7315200" cy="274320"/>
          </a:xfrm>
          <a:prstGeom prst="rect">
            <a:avLst/>
          </a:prstGeom>
          <a:noFill/>
        </p:spPr>
        <p:txBody>
          <a:bodyPr wrap="square" lIns="0" tIns="0" rIns="0" bIns="0" anchor="t"/>
          <a:lstStyle/>
          <a:p>
            <a:pPr algn="l">
              <a:spcAft>
                <a:spcPts val="400"/>
              </a:spcAft>
            </a:pPr>
            <a:r>
              <a:rPr sz="1000" b="0" i="0">
                <a:solidFill>
                  <a:srgbClr val="6B7280"/>
                </a:solidFill>
                <a:latin typeface="Arial"/>
              </a:rPr>
              <a:t>Grupo 5 · Gestión del Cambio · Evo-RRLL</a:t>
            </a:r>
          </a:p>
        </p:txBody>
      </p:sp>
      <p:sp>
        <p:nvSpPr>
          <p:cNvPr id="6" name="Rounded Rectangle 5"/>
          <p:cNvSpPr/>
          <p:nvPr/>
        </p:nvSpPr>
        <p:spPr>
          <a:xfrm>
            <a:off x="548640" y="1691640"/>
            <a:ext cx="2633472" cy="4434840"/>
          </a:xfrm>
          <a:prstGeom prst="roundRect">
            <a:avLst>
              <a:gd name="adj" fmla="val 6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874519"/>
            <a:ext cx="2240280" cy="457200"/>
          </a:xfrm>
          <a:prstGeom prst="rect">
            <a:avLst/>
          </a:prstGeom>
          <a:noFill/>
        </p:spPr>
        <p:txBody>
          <a:bodyPr wrap="square" lIns="0" tIns="0" rIns="0" bIns="0" anchor="t"/>
          <a:lstStyle/>
          <a:p>
            <a:pPr algn="l">
              <a:spcAft>
                <a:spcPts val="400"/>
              </a:spcAft>
            </a:pPr>
            <a:r>
              <a:rPr sz="2000" b="1" i="0">
                <a:solidFill>
                  <a:srgbClr val="F2A900"/>
                </a:solidFill>
                <a:latin typeface="Arial"/>
              </a:rPr>
              <a:t>Correctivo</a:t>
            </a:r>
          </a:p>
        </p:txBody>
      </p:sp>
      <p:sp>
        <p:nvSpPr>
          <p:cNvPr id="8" name="TextBox 7"/>
          <p:cNvSpPr txBox="1"/>
          <p:nvPr/>
        </p:nvSpPr>
        <p:spPr>
          <a:xfrm>
            <a:off x="777240" y="2377440"/>
            <a:ext cx="2240280" cy="1097280"/>
          </a:xfrm>
          <a:prstGeom prst="rect">
            <a:avLst/>
          </a:prstGeom>
          <a:noFill/>
        </p:spPr>
        <p:txBody>
          <a:bodyPr wrap="square" lIns="0" tIns="0" rIns="0" bIns="0" anchor="t"/>
          <a:lstStyle/>
          <a:p>
            <a:pPr algn="l">
              <a:spcAft>
                <a:spcPts val="400"/>
              </a:spcAft>
            </a:pPr>
            <a:r>
              <a:rPr sz="1400" b="0" i="0">
                <a:solidFill>
                  <a:srgbClr val="FFFFFF"/>
                </a:solidFill>
                <a:latin typeface="Arial"/>
              </a:rPr>
              <a:t>Soluciona errores o defectos del sistema.</a:t>
            </a:r>
          </a:p>
        </p:txBody>
      </p:sp>
      <p:sp>
        <p:nvSpPr>
          <p:cNvPr id="9" name="TextBox 8"/>
          <p:cNvSpPr txBox="1"/>
          <p:nvPr/>
        </p:nvSpPr>
        <p:spPr>
          <a:xfrm>
            <a:off x="777240" y="3520440"/>
            <a:ext cx="2240280" cy="274320"/>
          </a:xfrm>
          <a:prstGeom prst="rect">
            <a:avLst/>
          </a:prstGeom>
          <a:noFill/>
        </p:spPr>
        <p:txBody>
          <a:bodyPr wrap="square" lIns="0" tIns="0" rIns="0" bIns="0" anchor="t"/>
          <a:lstStyle/>
          <a:p>
            <a:pPr algn="l">
              <a:spcAft>
                <a:spcPts val="400"/>
              </a:spcAft>
            </a:pPr>
            <a:r>
              <a:rPr sz="1000" b="1" i="0">
                <a:solidFill>
                  <a:srgbClr val="F2A900"/>
                </a:solidFill>
                <a:latin typeface="Arial"/>
              </a:rPr>
              <a:t>EJEMPLO GENERAL</a:t>
            </a:r>
          </a:p>
        </p:txBody>
      </p:sp>
      <p:sp>
        <p:nvSpPr>
          <p:cNvPr id="10" name="TextBox 9"/>
          <p:cNvSpPr txBox="1"/>
          <p:nvPr/>
        </p:nvSpPr>
        <p:spPr>
          <a:xfrm>
            <a:off x="777240" y="3794760"/>
            <a:ext cx="2240280" cy="1097280"/>
          </a:xfrm>
          <a:prstGeom prst="rect">
            <a:avLst/>
          </a:prstGeom>
          <a:noFill/>
        </p:spPr>
        <p:txBody>
          <a:bodyPr wrap="square" lIns="0" tIns="0" rIns="0" bIns="0" anchor="t"/>
          <a:lstStyle/>
          <a:p>
            <a:pPr algn="l">
              <a:spcAft>
                <a:spcPts val="400"/>
              </a:spcAft>
            </a:pPr>
            <a:r>
              <a:rPr sz="1300" b="0" i="1">
                <a:solidFill>
                  <a:srgbClr val="FFFFFF"/>
                </a:solidFill>
                <a:latin typeface="Arial"/>
              </a:rPr>
              <a:t>Corregir un cálculo de planilla que suma mal las horas extra.</a:t>
            </a:r>
          </a:p>
        </p:txBody>
      </p:sp>
      <p:sp>
        <p:nvSpPr>
          <p:cNvPr id="11" name="TextBox 10"/>
          <p:cNvSpPr txBox="1"/>
          <p:nvPr/>
        </p:nvSpPr>
        <p:spPr>
          <a:xfrm>
            <a:off x="777240" y="4983480"/>
            <a:ext cx="2240280" cy="274320"/>
          </a:xfrm>
          <a:prstGeom prst="rect">
            <a:avLst/>
          </a:prstGeom>
          <a:noFill/>
        </p:spPr>
        <p:txBody>
          <a:bodyPr wrap="square" lIns="0" tIns="0" rIns="0" bIns="0" anchor="t"/>
          <a:lstStyle/>
          <a:p>
            <a:pPr algn="l">
              <a:spcAft>
                <a:spcPts val="400"/>
              </a:spcAft>
            </a:pPr>
            <a:r>
              <a:rPr sz="1000" b="1" i="0">
                <a:solidFill>
                  <a:srgbClr val="F2A900"/>
                </a:solidFill>
                <a:latin typeface="Arial"/>
              </a:rPr>
              <a:t>EN NUESTRO PROYECTO</a:t>
            </a:r>
          </a:p>
        </p:txBody>
      </p:sp>
      <p:sp>
        <p:nvSpPr>
          <p:cNvPr id="12" name="TextBox 11"/>
          <p:cNvSpPr txBox="1"/>
          <p:nvPr/>
        </p:nvSpPr>
        <p:spPr>
          <a:xfrm>
            <a:off x="777240" y="5257800"/>
            <a:ext cx="2240280" cy="731520"/>
          </a:xfrm>
          <a:prstGeom prst="rect">
            <a:avLst/>
          </a:prstGeom>
          <a:noFill/>
        </p:spPr>
        <p:txBody>
          <a:bodyPr wrap="square" lIns="0" tIns="0" rIns="0" bIns="0" anchor="t"/>
          <a:lstStyle/>
          <a:p>
            <a:pPr algn="l">
              <a:spcAft>
                <a:spcPts val="400"/>
              </a:spcAft>
            </a:pPr>
            <a:r>
              <a:rPr sz="1300" b="1" i="0">
                <a:solidFill>
                  <a:srgbClr val="FFFFFF"/>
                </a:solidFill>
                <a:latin typeface="Arial"/>
              </a:rPr>
              <a:t>SC-001 · Validar fechas en Permisos</a:t>
            </a:r>
          </a:p>
        </p:txBody>
      </p:sp>
      <p:sp>
        <p:nvSpPr>
          <p:cNvPr id="13" name="Rounded Rectangle 12"/>
          <p:cNvSpPr/>
          <p:nvPr/>
        </p:nvSpPr>
        <p:spPr>
          <a:xfrm>
            <a:off x="3364992" y="1691640"/>
            <a:ext cx="2633472" cy="443484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593592" y="1874519"/>
            <a:ext cx="2240280" cy="457200"/>
          </a:xfrm>
          <a:prstGeom prst="rect">
            <a:avLst/>
          </a:prstGeom>
          <a:noFill/>
        </p:spPr>
        <p:txBody>
          <a:bodyPr wrap="square" lIns="0" tIns="0" rIns="0" bIns="0" anchor="t"/>
          <a:lstStyle/>
          <a:p>
            <a:pPr algn="l">
              <a:spcAft>
                <a:spcPts val="400"/>
              </a:spcAft>
            </a:pPr>
            <a:r>
              <a:rPr sz="2000" b="1" i="0">
                <a:solidFill>
                  <a:srgbClr val="1E2433"/>
                </a:solidFill>
                <a:latin typeface="Arial"/>
              </a:rPr>
              <a:t>Adaptativo</a:t>
            </a:r>
          </a:p>
        </p:txBody>
      </p:sp>
      <p:sp>
        <p:nvSpPr>
          <p:cNvPr id="15" name="TextBox 14"/>
          <p:cNvSpPr txBox="1"/>
          <p:nvPr/>
        </p:nvSpPr>
        <p:spPr>
          <a:xfrm>
            <a:off x="3593592" y="2377440"/>
            <a:ext cx="2240280" cy="1097280"/>
          </a:xfrm>
          <a:prstGeom prst="rect">
            <a:avLst/>
          </a:prstGeom>
          <a:noFill/>
        </p:spPr>
        <p:txBody>
          <a:bodyPr wrap="square" lIns="0" tIns="0" rIns="0" bIns="0" anchor="t"/>
          <a:lstStyle/>
          <a:p>
            <a:pPr algn="l">
              <a:spcAft>
                <a:spcPts val="400"/>
              </a:spcAft>
            </a:pPr>
            <a:r>
              <a:rPr sz="1400" b="0" i="0">
                <a:solidFill>
                  <a:srgbClr val="1F2937"/>
                </a:solidFill>
                <a:latin typeface="Arial"/>
              </a:rPr>
              <a:t>Responde a nuevas condiciones del entorno, tecnología, normativa o plataforma.</a:t>
            </a:r>
          </a:p>
        </p:txBody>
      </p:sp>
      <p:sp>
        <p:nvSpPr>
          <p:cNvPr id="16" name="TextBox 15"/>
          <p:cNvSpPr txBox="1"/>
          <p:nvPr/>
        </p:nvSpPr>
        <p:spPr>
          <a:xfrm>
            <a:off x="3593592" y="3520440"/>
            <a:ext cx="2240280" cy="274320"/>
          </a:xfrm>
          <a:prstGeom prst="rect">
            <a:avLst/>
          </a:prstGeom>
          <a:noFill/>
        </p:spPr>
        <p:txBody>
          <a:bodyPr wrap="square" lIns="0" tIns="0" rIns="0" bIns="0" anchor="t"/>
          <a:lstStyle/>
          <a:p>
            <a:pPr algn="l">
              <a:spcAft>
                <a:spcPts val="400"/>
              </a:spcAft>
            </a:pPr>
            <a:r>
              <a:rPr sz="1000" b="1" i="0">
                <a:solidFill>
                  <a:srgbClr val="6B7280"/>
                </a:solidFill>
                <a:latin typeface="Arial"/>
              </a:rPr>
              <a:t>EJEMPLO GENERAL</a:t>
            </a:r>
          </a:p>
        </p:txBody>
      </p:sp>
      <p:sp>
        <p:nvSpPr>
          <p:cNvPr id="17" name="TextBox 16"/>
          <p:cNvSpPr txBox="1"/>
          <p:nvPr/>
        </p:nvSpPr>
        <p:spPr>
          <a:xfrm>
            <a:off x="3593592" y="3794760"/>
            <a:ext cx="2240280" cy="1097280"/>
          </a:xfrm>
          <a:prstGeom prst="rect">
            <a:avLst/>
          </a:prstGeom>
          <a:noFill/>
        </p:spPr>
        <p:txBody>
          <a:bodyPr wrap="square" lIns="0" tIns="0" rIns="0" bIns="0" anchor="t"/>
          <a:lstStyle/>
          <a:p>
            <a:pPr algn="l">
              <a:spcAft>
                <a:spcPts val="400"/>
              </a:spcAft>
            </a:pPr>
            <a:r>
              <a:rPr sz="1300" b="0" i="1">
                <a:solidFill>
                  <a:srgbClr val="1F2937"/>
                </a:solidFill>
                <a:latin typeface="Arial"/>
              </a:rPr>
              <a:t>Migrar el sistema a una nueva versión de .NET o a otro servidor.</a:t>
            </a:r>
          </a:p>
        </p:txBody>
      </p:sp>
      <p:sp>
        <p:nvSpPr>
          <p:cNvPr id="18" name="TextBox 17"/>
          <p:cNvSpPr txBox="1"/>
          <p:nvPr/>
        </p:nvSpPr>
        <p:spPr>
          <a:xfrm>
            <a:off x="3593592" y="4983480"/>
            <a:ext cx="2240280" cy="274320"/>
          </a:xfrm>
          <a:prstGeom prst="rect">
            <a:avLst/>
          </a:prstGeom>
          <a:noFill/>
        </p:spPr>
        <p:txBody>
          <a:bodyPr wrap="square" lIns="0" tIns="0" rIns="0" bIns="0" anchor="t"/>
          <a:lstStyle/>
          <a:p>
            <a:pPr algn="l">
              <a:spcAft>
                <a:spcPts val="400"/>
              </a:spcAft>
            </a:pPr>
            <a:r>
              <a:rPr sz="1000" b="1" i="0">
                <a:solidFill>
                  <a:srgbClr val="6B7280"/>
                </a:solidFill>
                <a:latin typeface="Arial"/>
              </a:rPr>
              <a:t>EN NUESTRO PROYECTO</a:t>
            </a:r>
          </a:p>
        </p:txBody>
      </p:sp>
      <p:sp>
        <p:nvSpPr>
          <p:cNvPr id="19" name="TextBox 18"/>
          <p:cNvSpPr txBox="1"/>
          <p:nvPr/>
        </p:nvSpPr>
        <p:spPr>
          <a:xfrm>
            <a:off x="3593592" y="5257800"/>
            <a:ext cx="2240280" cy="731520"/>
          </a:xfrm>
          <a:prstGeom prst="rect">
            <a:avLst/>
          </a:prstGeom>
          <a:noFill/>
        </p:spPr>
        <p:txBody>
          <a:bodyPr wrap="square" lIns="0" tIns="0" rIns="0" bIns="0" anchor="t"/>
          <a:lstStyle/>
          <a:p>
            <a:pPr algn="l">
              <a:spcAft>
                <a:spcPts val="400"/>
              </a:spcAft>
            </a:pPr>
            <a:r>
              <a:rPr sz="1300" b="1" i="0">
                <a:solidFill>
                  <a:srgbClr val="1E2433"/>
                </a:solidFill>
                <a:latin typeface="Arial"/>
              </a:rPr>
              <a:t>SC-004 · Configuración por entorno</a:t>
            </a:r>
          </a:p>
        </p:txBody>
      </p:sp>
      <p:sp>
        <p:nvSpPr>
          <p:cNvPr id="20" name="Rounded Rectangle 19"/>
          <p:cNvSpPr/>
          <p:nvPr/>
        </p:nvSpPr>
        <p:spPr>
          <a:xfrm>
            <a:off x="6181344" y="1691640"/>
            <a:ext cx="2633472" cy="443484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9944" y="1874519"/>
            <a:ext cx="2240280" cy="457200"/>
          </a:xfrm>
          <a:prstGeom prst="rect">
            <a:avLst/>
          </a:prstGeom>
          <a:noFill/>
        </p:spPr>
        <p:txBody>
          <a:bodyPr wrap="square" lIns="0" tIns="0" rIns="0" bIns="0" anchor="t"/>
          <a:lstStyle/>
          <a:p>
            <a:pPr algn="l">
              <a:spcAft>
                <a:spcPts val="400"/>
              </a:spcAft>
            </a:pPr>
            <a:r>
              <a:rPr sz="2000" b="1" i="0">
                <a:solidFill>
                  <a:srgbClr val="1E2433"/>
                </a:solidFill>
                <a:latin typeface="Arial"/>
              </a:rPr>
              <a:t>Perfectivo</a:t>
            </a:r>
          </a:p>
        </p:txBody>
      </p:sp>
      <p:sp>
        <p:nvSpPr>
          <p:cNvPr id="22" name="TextBox 21"/>
          <p:cNvSpPr txBox="1"/>
          <p:nvPr/>
        </p:nvSpPr>
        <p:spPr>
          <a:xfrm>
            <a:off x="6409944" y="2377440"/>
            <a:ext cx="2240280" cy="1097280"/>
          </a:xfrm>
          <a:prstGeom prst="rect">
            <a:avLst/>
          </a:prstGeom>
          <a:noFill/>
        </p:spPr>
        <p:txBody>
          <a:bodyPr wrap="square" lIns="0" tIns="0" rIns="0" bIns="0" anchor="t"/>
          <a:lstStyle/>
          <a:p>
            <a:pPr algn="l">
              <a:spcAft>
                <a:spcPts val="400"/>
              </a:spcAft>
            </a:pPr>
            <a:r>
              <a:rPr sz="1400" b="0" i="0">
                <a:solidFill>
                  <a:srgbClr val="1F2937"/>
                </a:solidFill>
                <a:latin typeface="Arial"/>
              </a:rPr>
              <a:t>Mejora o amplía funcionalidades existentes.</a:t>
            </a:r>
          </a:p>
        </p:txBody>
      </p:sp>
      <p:sp>
        <p:nvSpPr>
          <p:cNvPr id="23" name="TextBox 22"/>
          <p:cNvSpPr txBox="1"/>
          <p:nvPr/>
        </p:nvSpPr>
        <p:spPr>
          <a:xfrm>
            <a:off x="6409944" y="3520440"/>
            <a:ext cx="2240280" cy="274320"/>
          </a:xfrm>
          <a:prstGeom prst="rect">
            <a:avLst/>
          </a:prstGeom>
          <a:noFill/>
        </p:spPr>
        <p:txBody>
          <a:bodyPr wrap="square" lIns="0" tIns="0" rIns="0" bIns="0" anchor="t"/>
          <a:lstStyle/>
          <a:p>
            <a:pPr algn="l">
              <a:spcAft>
                <a:spcPts val="400"/>
              </a:spcAft>
            </a:pPr>
            <a:r>
              <a:rPr sz="1000" b="1" i="0">
                <a:solidFill>
                  <a:srgbClr val="6B7280"/>
                </a:solidFill>
                <a:latin typeface="Arial"/>
              </a:rPr>
              <a:t>EJEMPLO GENERAL</a:t>
            </a:r>
          </a:p>
        </p:txBody>
      </p:sp>
      <p:sp>
        <p:nvSpPr>
          <p:cNvPr id="24" name="TextBox 23"/>
          <p:cNvSpPr txBox="1"/>
          <p:nvPr/>
        </p:nvSpPr>
        <p:spPr>
          <a:xfrm>
            <a:off x="6409944" y="3794760"/>
            <a:ext cx="2240280" cy="1097280"/>
          </a:xfrm>
          <a:prstGeom prst="rect">
            <a:avLst/>
          </a:prstGeom>
          <a:noFill/>
        </p:spPr>
        <p:txBody>
          <a:bodyPr wrap="square" lIns="0" tIns="0" rIns="0" bIns="0" anchor="t"/>
          <a:lstStyle/>
          <a:p>
            <a:pPr algn="l">
              <a:spcAft>
                <a:spcPts val="400"/>
              </a:spcAft>
            </a:pPr>
            <a:r>
              <a:rPr sz="1300" b="0" i="1">
                <a:solidFill>
                  <a:srgbClr val="1F2937"/>
                </a:solidFill>
                <a:latin typeface="Arial"/>
              </a:rPr>
              <a:t>Agregar un reporte o exportación que pide el usuario.</a:t>
            </a:r>
          </a:p>
        </p:txBody>
      </p:sp>
      <p:sp>
        <p:nvSpPr>
          <p:cNvPr id="25" name="TextBox 24"/>
          <p:cNvSpPr txBox="1"/>
          <p:nvPr/>
        </p:nvSpPr>
        <p:spPr>
          <a:xfrm>
            <a:off x="6409944" y="4983480"/>
            <a:ext cx="2240280" cy="274320"/>
          </a:xfrm>
          <a:prstGeom prst="rect">
            <a:avLst/>
          </a:prstGeom>
          <a:noFill/>
        </p:spPr>
        <p:txBody>
          <a:bodyPr wrap="square" lIns="0" tIns="0" rIns="0" bIns="0" anchor="t"/>
          <a:lstStyle/>
          <a:p>
            <a:pPr algn="l">
              <a:spcAft>
                <a:spcPts val="400"/>
              </a:spcAft>
            </a:pPr>
            <a:r>
              <a:rPr sz="1000" b="1" i="0">
                <a:solidFill>
                  <a:srgbClr val="6B7280"/>
                </a:solidFill>
                <a:latin typeface="Arial"/>
              </a:rPr>
              <a:t>EN NUESTRO PROYECTO</a:t>
            </a:r>
          </a:p>
        </p:txBody>
      </p:sp>
      <p:sp>
        <p:nvSpPr>
          <p:cNvPr id="26" name="TextBox 25"/>
          <p:cNvSpPr txBox="1"/>
          <p:nvPr/>
        </p:nvSpPr>
        <p:spPr>
          <a:xfrm>
            <a:off x="6409944" y="5257800"/>
            <a:ext cx="2240280" cy="731520"/>
          </a:xfrm>
          <a:prstGeom prst="rect">
            <a:avLst/>
          </a:prstGeom>
          <a:noFill/>
        </p:spPr>
        <p:txBody>
          <a:bodyPr wrap="square" lIns="0" tIns="0" rIns="0" bIns="0" anchor="t"/>
          <a:lstStyle/>
          <a:p>
            <a:pPr algn="l">
              <a:spcAft>
                <a:spcPts val="400"/>
              </a:spcAft>
            </a:pPr>
            <a:r>
              <a:rPr sz="1300" b="1" i="0">
                <a:solidFill>
                  <a:srgbClr val="1E2433"/>
                </a:solidFill>
                <a:latin typeface="Arial"/>
              </a:rPr>
              <a:t>SC-003 · Exportar asistencia a CSV</a:t>
            </a:r>
          </a:p>
        </p:txBody>
      </p:sp>
      <p:sp>
        <p:nvSpPr>
          <p:cNvPr id="27" name="Rounded Rectangle 26"/>
          <p:cNvSpPr/>
          <p:nvPr/>
        </p:nvSpPr>
        <p:spPr>
          <a:xfrm>
            <a:off x="8997696" y="1691640"/>
            <a:ext cx="2633472" cy="443484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226296" y="1874519"/>
            <a:ext cx="2240280" cy="457200"/>
          </a:xfrm>
          <a:prstGeom prst="rect">
            <a:avLst/>
          </a:prstGeom>
          <a:noFill/>
        </p:spPr>
        <p:txBody>
          <a:bodyPr wrap="square" lIns="0" tIns="0" rIns="0" bIns="0" anchor="t"/>
          <a:lstStyle/>
          <a:p>
            <a:pPr algn="l">
              <a:spcAft>
                <a:spcPts val="400"/>
              </a:spcAft>
            </a:pPr>
            <a:r>
              <a:rPr sz="2000" b="1" i="0">
                <a:solidFill>
                  <a:srgbClr val="1E2433"/>
                </a:solidFill>
                <a:latin typeface="Arial"/>
              </a:rPr>
              <a:t>Preventivo</a:t>
            </a:r>
          </a:p>
        </p:txBody>
      </p:sp>
      <p:sp>
        <p:nvSpPr>
          <p:cNvPr id="29" name="TextBox 28"/>
          <p:cNvSpPr txBox="1"/>
          <p:nvPr/>
        </p:nvSpPr>
        <p:spPr>
          <a:xfrm>
            <a:off x="9226296" y="2377440"/>
            <a:ext cx="2240280" cy="1097280"/>
          </a:xfrm>
          <a:prstGeom prst="rect">
            <a:avLst/>
          </a:prstGeom>
          <a:noFill/>
        </p:spPr>
        <p:txBody>
          <a:bodyPr wrap="square" lIns="0" tIns="0" rIns="0" bIns="0" anchor="t"/>
          <a:lstStyle/>
          <a:p>
            <a:pPr algn="l">
              <a:spcAft>
                <a:spcPts val="400"/>
              </a:spcAft>
            </a:pPr>
            <a:r>
              <a:rPr sz="1400" b="0" i="0">
                <a:solidFill>
                  <a:srgbClr val="1F2937"/>
                </a:solidFill>
                <a:latin typeface="Arial"/>
              </a:rPr>
              <a:t>Evita problemas futuros o mejora la mantenibilidad / seguridad.</a:t>
            </a:r>
          </a:p>
        </p:txBody>
      </p:sp>
      <p:sp>
        <p:nvSpPr>
          <p:cNvPr id="30" name="TextBox 29"/>
          <p:cNvSpPr txBox="1"/>
          <p:nvPr/>
        </p:nvSpPr>
        <p:spPr>
          <a:xfrm>
            <a:off x="9226296" y="3520440"/>
            <a:ext cx="2240280" cy="274320"/>
          </a:xfrm>
          <a:prstGeom prst="rect">
            <a:avLst/>
          </a:prstGeom>
          <a:noFill/>
        </p:spPr>
        <p:txBody>
          <a:bodyPr wrap="square" lIns="0" tIns="0" rIns="0" bIns="0" anchor="t"/>
          <a:lstStyle/>
          <a:p>
            <a:pPr algn="l">
              <a:spcAft>
                <a:spcPts val="400"/>
              </a:spcAft>
            </a:pPr>
            <a:r>
              <a:rPr sz="1000" b="1" i="0">
                <a:solidFill>
                  <a:srgbClr val="6B7280"/>
                </a:solidFill>
                <a:latin typeface="Arial"/>
              </a:rPr>
              <a:t>EJEMPLO GENERAL</a:t>
            </a:r>
          </a:p>
        </p:txBody>
      </p:sp>
      <p:sp>
        <p:nvSpPr>
          <p:cNvPr id="31" name="TextBox 30"/>
          <p:cNvSpPr txBox="1"/>
          <p:nvPr/>
        </p:nvSpPr>
        <p:spPr>
          <a:xfrm>
            <a:off x="9226296" y="3794760"/>
            <a:ext cx="2240280" cy="1097280"/>
          </a:xfrm>
          <a:prstGeom prst="rect">
            <a:avLst/>
          </a:prstGeom>
          <a:noFill/>
        </p:spPr>
        <p:txBody>
          <a:bodyPr wrap="square" lIns="0" tIns="0" rIns="0" bIns="0" anchor="t"/>
          <a:lstStyle/>
          <a:p>
            <a:pPr algn="l">
              <a:spcAft>
                <a:spcPts val="400"/>
              </a:spcAft>
            </a:pPr>
            <a:r>
              <a:rPr sz="1300" b="0" i="1">
                <a:solidFill>
                  <a:srgbClr val="1F2937"/>
                </a:solidFill>
                <a:latin typeface="Arial"/>
              </a:rPr>
              <a:t>Reforzar seguridad o refactorizar código antes de que falle.</a:t>
            </a:r>
          </a:p>
        </p:txBody>
      </p:sp>
      <p:sp>
        <p:nvSpPr>
          <p:cNvPr id="32" name="TextBox 31"/>
          <p:cNvSpPr txBox="1"/>
          <p:nvPr/>
        </p:nvSpPr>
        <p:spPr>
          <a:xfrm>
            <a:off x="9226296" y="4983480"/>
            <a:ext cx="2240280" cy="274320"/>
          </a:xfrm>
          <a:prstGeom prst="rect">
            <a:avLst/>
          </a:prstGeom>
          <a:noFill/>
        </p:spPr>
        <p:txBody>
          <a:bodyPr wrap="square" lIns="0" tIns="0" rIns="0" bIns="0" anchor="t"/>
          <a:lstStyle/>
          <a:p>
            <a:pPr algn="l">
              <a:spcAft>
                <a:spcPts val="400"/>
              </a:spcAft>
            </a:pPr>
            <a:r>
              <a:rPr sz="1000" b="1" i="0">
                <a:solidFill>
                  <a:srgbClr val="6B7280"/>
                </a:solidFill>
                <a:latin typeface="Arial"/>
              </a:rPr>
              <a:t>EN NUESTRO PROYECTO</a:t>
            </a:r>
          </a:p>
        </p:txBody>
      </p:sp>
      <p:sp>
        <p:nvSpPr>
          <p:cNvPr id="33" name="TextBox 32"/>
          <p:cNvSpPr txBox="1"/>
          <p:nvPr/>
        </p:nvSpPr>
        <p:spPr>
          <a:xfrm>
            <a:off x="9226296" y="5257800"/>
            <a:ext cx="2240280" cy="731520"/>
          </a:xfrm>
          <a:prstGeom prst="rect">
            <a:avLst/>
          </a:prstGeom>
          <a:noFill/>
        </p:spPr>
        <p:txBody>
          <a:bodyPr wrap="square" lIns="0" tIns="0" rIns="0" bIns="0" anchor="t"/>
          <a:lstStyle/>
          <a:p>
            <a:pPr algn="l">
              <a:spcAft>
                <a:spcPts val="400"/>
              </a:spcAft>
            </a:pPr>
            <a:r>
              <a:rPr sz="1300" b="1" i="0">
                <a:solidFill>
                  <a:srgbClr val="1E2433"/>
                </a:solidFill>
                <a:latin typeface="Arial"/>
              </a:rPr>
              <a:t>SC-002 · Bloqueo por intentos fallidos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64240" cy="640080"/>
          </a:xfrm>
          <a:prstGeom prst="rect">
            <a:avLst/>
          </a:prstGeom>
          <a:noFill/>
        </p:spPr>
        <p:txBody>
          <a:bodyPr wrap="square" lIns="0" tIns="0" rIns="0" bIns="0" anchor="t"/>
          <a:lstStyle/>
          <a:p>
            <a:pPr algn="l">
              <a:spcAft>
                <a:spcPts val="400"/>
              </a:spcAft>
            </a:pPr>
            <a:r>
              <a:rPr sz="3200" b="1" i="0">
                <a:solidFill>
                  <a:srgbClr val="1E2433"/>
                </a:solidFill>
                <a:latin typeface="Arial"/>
              </a:rPr>
              <a:t>Proceso de gestión del cambio</a:t>
            </a:r>
          </a:p>
        </p:txBody>
      </p:sp>
      <p:sp>
        <p:nvSpPr>
          <p:cNvPr id="3" name="TextBox 2"/>
          <p:cNvSpPr txBox="1"/>
          <p:nvPr/>
        </p:nvSpPr>
        <p:spPr>
          <a:xfrm>
            <a:off x="548640" y="1024128"/>
            <a:ext cx="11064240" cy="411480"/>
          </a:xfrm>
          <a:prstGeom prst="rect">
            <a:avLst/>
          </a:prstGeom>
          <a:noFill/>
        </p:spPr>
        <p:txBody>
          <a:bodyPr wrap="square" lIns="0" tIns="0" rIns="0" bIns="0" anchor="t"/>
          <a:lstStyle/>
          <a:p>
            <a:pPr algn="l">
              <a:spcAft>
                <a:spcPts val="400"/>
              </a:spcAft>
            </a:pPr>
            <a:r>
              <a:rPr sz="1600" b="0" i="0">
                <a:solidFill>
                  <a:srgbClr val="6B7280"/>
                </a:solidFill>
                <a:latin typeface="Arial"/>
              </a:rPr>
              <a:t>Ocho etapas: ninguna se salta, aunque el cambio sea pequeño.</a:t>
            </a:r>
          </a:p>
        </p:txBody>
      </p:sp>
      <p:sp>
        <p:nvSpPr>
          <p:cNvPr id="4" name="TextBox 3"/>
          <p:cNvSpPr txBox="1"/>
          <p:nvPr/>
        </p:nvSpPr>
        <p:spPr>
          <a:xfrm>
            <a:off x="10728655" y="6400800"/>
            <a:ext cx="914400" cy="274320"/>
          </a:xfrm>
          <a:prstGeom prst="rect">
            <a:avLst/>
          </a:prstGeom>
          <a:noFill/>
        </p:spPr>
        <p:txBody>
          <a:bodyPr wrap="square" lIns="0" tIns="0" rIns="0" bIns="0" anchor="t"/>
          <a:lstStyle/>
          <a:p>
            <a:pPr algn="r">
              <a:spcAft>
                <a:spcPts val="400"/>
              </a:spcAft>
            </a:pPr>
            <a:r>
              <a:rPr sz="1000" b="0" i="0">
                <a:solidFill>
                  <a:srgbClr val="6B7280"/>
                </a:solidFill>
                <a:latin typeface="Arial"/>
              </a:rPr>
              <a:t>8</a:t>
            </a:r>
          </a:p>
        </p:txBody>
      </p:sp>
      <p:sp>
        <p:nvSpPr>
          <p:cNvPr id="5" name="TextBox 4"/>
          <p:cNvSpPr txBox="1"/>
          <p:nvPr/>
        </p:nvSpPr>
        <p:spPr>
          <a:xfrm>
            <a:off x="548640" y="6400800"/>
            <a:ext cx="7315200" cy="274320"/>
          </a:xfrm>
          <a:prstGeom prst="rect">
            <a:avLst/>
          </a:prstGeom>
          <a:noFill/>
        </p:spPr>
        <p:txBody>
          <a:bodyPr wrap="square" lIns="0" tIns="0" rIns="0" bIns="0" anchor="t"/>
          <a:lstStyle/>
          <a:p>
            <a:pPr algn="l">
              <a:spcAft>
                <a:spcPts val="400"/>
              </a:spcAft>
            </a:pPr>
            <a:r>
              <a:rPr sz="1000" b="0" i="0">
                <a:solidFill>
                  <a:srgbClr val="6B7280"/>
                </a:solidFill>
                <a:latin typeface="Arial"/>
              </a:rPr>
              <a:t>Grupo 5 · Gestión del Cambio · Evo-RRLL</a:t>
            </a:r>
          </a:p>
        </p:txBody>
      </p:sp>
      <p:sp>
        <p:nvSpPr>
          <p:cNvPr id="6" name="Rounded Rectangle 5"/>
          <p:cNvSpPr/>
          <p:nvPr/>
        </p:nvSpPr>
        <p:spPr>
          <a:xfrm>
            <a:off x="548640" y="1783080"/>
            <a:ext cx="2560320" cy="1874519"/>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01168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1E2433"/>
                </a:solidFill>
                <a:latin typeface="Arial"/>
              </a:rPr>
              <a:t>1</a:t>
            </a:r>
          </a:p>
        </p:txBody>
      </p:sp>
      <p:sp>
        <p:nvSpPr>
          <p:cNvPr id="8" name="TextBox 7"/>
          <p:cNvSpPr txBox="1"/>
          <p:nvPr/>
        </p:nvSpPr>
        <p:spPr>
          <a:xfrm>
            <a:off x="777240" y="2514600"/>
            <a:ext cx="2148840" cy="457200"/>
          </a:xfrm>
          <a:prstGeom prst="rect">
            <a:avLst/>
          </a:prstGeom>
          <a:noFill/>
        </p:spPr>
        <p:txBody>
          <a:bodyPr wrap="square" lIns="0" tIns="0" rIns="0" bIns="0" anchor="t"/>
          <a:lstStyle/>
          <a:p>
            <a:pPr algn="l">
              <a:spcAft>
                <a:spcPts val="400"/>
              </a:spcAft>
            </a:pPr>
            <a:r>
              <a:rPr sz="1600" b="1" i="0">
                <a:solidFill>
                  <a:srgbClr val="1E2433"/>
                </a:solidFill>
                <a:latin typeface="Arial"/>
              </a:rPr>
              <a:t>Solicitud</a:t>
            </a:r>
          </a:p>
        </p:txBody>
      </p:sp>
      <p:sp>
        <p:nvSpPr>
          <p:cNvPr id="9" name="TextBox 8"/>
          <p:cNvSpPr txBox="1"/>
          <p:nvPr/>
        </p:nvSpPr>
        <p:spPr>
          <a:xfrm>
            <a:off x="777240" y="3108960"/>
            <a:ext cx="2148840" cy="548640"/>
          </a:xfrm>
          <a:prstGeom prst="rect">
            <a:avLst/>
          </a:prstGeom>
          <a:noFill/>
        </p:spPr>
        <p:txBody>
          <a:bodyPr wrap="square" lIns="0" tIns="0" rIns="0" bIns="0" anchor="t"/>
          <a:lstStyle/>
          <a:p>
            <a:pPr algn="l">
              <a:spcAft>
                <a:spcPts val="400"/>
              </a:spcAft>
            </a:pPr>
            <a:r>
              <a:rPr sz="1300" b="0" i="0">
                <a:solidFill>
                  <a:srgbClr val="1F2937"/>
                </a:solidFill>
                <a:latin typeface="Arial"/>
              </a:rPr>
              <a:t>Se registra en el formato SC.</a:t>
            </a:r>
          </a:p>
        </p:txBody>
      </p:sp>
      <p:sp>
        <p:nvSpPr>
          <p:cNvPr id="10" name="Right Arrow 9"/>
          <p:cNvSpPr/>
          <p:nvPr/>
        </p:nvSpPr>
        <p:spPr>
          <a:xfrm>
            <a:off x="3154680" y="2606040"/>
            <a:ext cx="182880" cy="228600"/>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383280" y="1783080"/>
            <a:ext cx="2560320" cy="1874519"/>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3611880" y="201168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1E2433"/>
                </a:solidFill>
                <a:latin typeface="Arial"/>
              </a:rPr>
              <a:t>2</a:t>
            </a:r>
          </a:p>
        </p:txBody>
      </p:sp>
      <p:sp>
        <p:nvSpPr>
          <p:cNvPr id="13" name="TextBox 12"/>
          <p:cNvSpPr txBox="1"/>
          <p:nvPr/>
        </p:nvSpPr>
        <p:spPr>
          <a:xfrm>
            <a:off x="3611880" y="2514600"/>
            <a:ext cx="2148840" cy="457200"/>
          </a:xfrm>
          <a:prstGeom prst="rect">
            <a:avLst/>
          </a:prstGeom>
          <a:noFill/>
        </p:spPr>
        <p:txBody>
          <a:bodyPr wrap="square" lIns="0" tIns="0" rIns="0" bIns="0" anchor="t"/>
          <a:lstStyle/>
          <a:p>
            <a:pPr algn="l">
              <a:spcAft>
                <a:spcPts val="400"/>
              </a:spcAft>
            </a:pPr>
            <a:r>
              <a:rPr sz="1600" b="1" i="0">
                <a:solidFill>
                  <a:srgbClr val="1E2433"/>
                </a:solidFill>
                <a:latin typeface="Arial"/>
              </a:rPr>
              <a:t>Análisis</a:t>
            </a:r>
          </a:p>
        </p:txBody>
      </p:sp>
      <p:sp>
        <p:nvSpPr>
          <p:cNvPr id="14" name="TextBox 13"/>
          <p:cNvSpPr txBox="1"/>
          <p:nvPr/>
        </p:nvSpPr>
        <p:spPr>
          <a:xfrm>
            <a:off x="3611880" y="3108960"/>
            <a:ext cx="2148840" cy="548640"/>
          </a:xfrm>
          <a:prstGeom prst="rect">
            <a:avLst/>
          </a:prstGeom>
          <a:noFill/>
        </p:spPr>
        <p:txBody>
          <a:bodyPr wrap="square" lIns="0" tIns="0" rIns="0" bIns="0" anchor="t"/>
          <a:lstStyle/>
          <a:p>
            <a:pPr algn="l">
              <a:spcAft>
                <a:spcPts val="400"/>
              </a:spcAft>
            </a:pPr>
            <a:r>
              <a:rPr sz="1300" b="0" i="0">
                <a:solidFill>
                  <a:srgbClr val="1F2937"/>
                </a:solidFill>
                <a:latin typeface="Arial"/>
              </a:rPr>
              <a:t>Se entiende qué se pide y por qué.</a:t>
            </a:r>
          </a:p>
        </p:txBody>
      </p:sp>
      <p:sp>
        <p:nvSpPr>
          <p:cNvPr id="15" name="Right Arrow 14"/>
          <p:cNvSpPr/>
          <p:nvPr/>
        </p:nvSpPr>
        <p:spPr>
          <a:xfrm>
            <a:off x="5989320" y="2606040"/>
            <a:ext cx="182880" cy="228600"/>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217920" y="1783080"/>
            <a:ext cx="2560320" cy="1874519"/>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446520" y="201168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1E2433"/>
                </a:solidFill>
                <a:latin typeface="Arial"/>
              </a:rPr>
              <a:t>3</a:t>
            </a:r>
          </a:p>
        </p:txBody>
      </p:sp>
      <p:sp>
        <p:nvSpPr>
          <p:cNvPr id="18" name="TextBox 17"/>
          <p:cNvSpPr txBox="1"/>
          <p:nvPr/>
        </p:nvSpPr>
        <p:spPr>
          <a:xfrm>
            <a:off x="6446520" y="2514600"/>
            <a:ext cx="2148840" cy="457200"/>
          </a:xfrm>
          <a:prstGeom prst="rect">
            <a:avLst/>
          </a:prstGeom>
          <a:noFill/>
        </p:spPr>
        <p:txBody>
          <a:bodyPr wrap="square" lIns="0" tIns="0" rIns="0" bIns="0" anchor="t"/>
          <a:lstStyle/>
          <a:p>
            <a:pPr algn="l">
              <a:spcAft>
                <a:spcPts val="400"/>
              </a:spcAft>
            </a:pPr>
            <a:r>
              <a:rPr sz="1600" b="1" i="0">
                <a:solidFill>
                  <a:srgbClr val="1E2433"/>
                </a:solidFill>
                <a:latin typeface="Arial"/>
              </a:rPr>
              <a:t>Evaluación de impacto</a:t>
            </a:r>
          </a:p>
        </p:txBody>
      </p:sp>
      <p:sp>
        <p:nvSpPr>
          <p:cNvPr id="19" name="TextBox 18"/>
          <p:cNvSpPr txBox="1"/>
          <p:nvPr/>
        </p:nvSpPr>
        <p:spPr>
          <a:xfrm>
            <a:off x="6446520" y="3108960"/>
            <a:ext cx="2148840" cy="548640"/>
          </a:xfrm>
          <a:prstGeom prst="rect">
            <a:avLst/>
          </a:prstGeom>
          <a:noFill/>
        </p:spPr>
        <p:txBody>
          <a:bodyPr wrap="square" lIns="0" tIns="0" rIns="0" bIns="0" anchor="t"/>
          <a:lstStyle/>
          <a:p>
            <a:pPr algn="l">
              <a:spcAft>
                <a:spcPts val="400"/>
              </a:spcAft>
            </a:pPr>
            <a:r>
              <a:rPr sz="1300" b="0" i="0">
                <a:solidFill>
                  <a:srgbClr val="1F2937"/>
                </a:solidFill>
                <a:latin typeface="Arial"/>
              </a:rPr>
              <a:t>Componentes, BD, esfuerzo y riesgos.</a:t>
            </a:r>
          </a:p>
        </p:txBody>
      </p:sp>
      <p:sp>
        <p:nvSpPr>
          <p:cNvPr id="20" name="Right Arrow 19"/>
          <p:cNvSpPr/>
          <p:nvPr/>
        </p:nvSpPr>
        <p:spPr>
          <a:xfrm>
            <a:off x="8823960" y="2606040"/>
            <a:ext cx="182880" cy="228600"/>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9052560" y="1783080"/>
            <a:ext cx="2560320" cy="1874519"/>
          </a:xfrm>
          <a:prstGeom prst="roundRect">
            <a:avLst>
              <a:gd name="adj" fmla="val 6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9281160" y="201168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1E2433"/>
                </a:solidFill>
                <a:latin typeface="Arial"/>
              </a:rPr>
              <a:t>4</a:t>
            </a:r>
          </a:p>
        </p:txBody>
      </p:sp>
      <p:sp>
        <p:nvSpPr>
          <p:cNvPr id="23" name="TextBox 22"/>
          <p:cNvSpPr txBox="1"/>
          <p:nvPr/>
        </p:nvSpPr>
        <p:spPr>
          <a:xfrm>
            <a:off x="9281160" y="2514600"/>
            <a:ext cx="2148840" cy="457200"/>
          </a:xfrm>
          <a:prstGeom prst="rect">
            <a:avLst/>
          </a:prstGeom>
          <a:noFill/>
        </p:spPr>
        <p:txBody>
          <a:bodyPr wrap="square" lIns="0" tIns="0" rIns="0" bIns="0" anchor="t"/>
          <a:lstStyle/>
          <a:p>
            <a:pPr algn="l">
              <a:spcAft>
                <a:spcPts val="400"/>
              </a:spcAft>
            </a:pPr>
            <a:r>
              <a:rPr sz="1600" b="1" i="0">
                <a:solidFill>
                  <a:srgbClr val="F2A900"/>
                </a:solidFill>
                <a:latin typeface="Arial"/>
              </a:rPr>
              <a:t>Aprobación o rechazo</a:t>
            </a:r>
          </a:p>
        </p:txBody>
      </p:sp>
      <p:sp>
        <p:nvSpPr>
          <p:cNvPr id="24" name="TextBox 23"/>
          <p:cNvSpPr txBox="1"/>
          <p:nvPr/>
        </p:nvSpPr>
        <p:spPr>
          <a:xfrm>
            <a:off x="9281160" y="3108960"/>
            <a:ext cx="2148840" cy="548640"/>
          </a:xfrm>
          <a:prstGeom prst="rect">
            <a:avLst/>
          </a:prstGeom>
          <a:noFill/>
        </p:spPr>
        <p:txBody>
          <a:bodyPr wrap="square" lIns="0" tIns="0" rIns="0" bIns="0" anchor="t"/>
          <a:lstStyle/>
          <a:p>
            <a:pPr algn="l">
              <a:spcAft>
                <a:spcPts val="400"/>
              </a:spcAft>
            </a:pPr>
            <a:r>
              <a:rPr sz="1300" b="0" i="0">
                <a:solidFill>
                  <a:srgbClr val="FFFFFF"/>
                </a:solidFill>
                <a:latin typeface="Arial"/>
              </a:rPr>
              <a:t>Decide el comité (CCB).</a:t>
            </a:r>
          </a:p>
        </p:txBody>
      </p:sp>
      <p:sp>
        <p:nvSpPr>
          <p:cNvPr id="25" name="Rounded Rectangle 24"/>
          <p:cNvSpPr/>
          <p:nvPr/>
        </p:nvSpPr>
        <p:spPr>
          <a:xfrm>
            <a:off x="548640" y="4023360"/>
            <a:ext cx="2560320" cy="1874519"/>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77240" y="425196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1E2433"/>
                </a:solidFill>
                <a:latin typeface="Arial"/>
              </a:rPr>
              <a:t>5</a:t>
            </a:r>
          </a:p>
        </p:txBody>
      </p:sp>
      <p:sp>
        <p:nvSpPr>
          <p:cNvPr id="27" name="TextBox 26"/>
          <p:cNvSpPr txBox="1"/>
          <p:nvPr/>
        </p:nvSpPr>
        <p:spPr>
          <a:xfrm>
            <a:off x="777240" y="4754880"/>
            <a:ext cx="2148840" cy="457200"/>
          </a:xfrm>
          <a:prstGeom prst="rect">
            <a:avLst/>
          </a:prstGeom>
          <a:noFill/>
        </p:spPr>
        <p:txBody>
          <a:bodyPr wrap="square" lIns="0" tIns="0" rIns="0" bIns="0" anchor="t"/>
          <a:lstStyle/>
          <a:p>
            <a:pPr algn="l">
              <a:spcAft>
                <a:spcPts val="400"/>
              </a:spcAft>
            </a:pPr>
            <a:r>
              <a:rPr sz="1600" b="1" i="0">
                <a:solidFill>
                  <a:srgbClr val="1E2433"/>
                </a:solidFill>
                <a:latin typeface="Arial"/>
              </a:rPr>
              <a:t>Planificación</a:t>
            </a:r>
          </a:p>
        </p:txBody>
      </p:sp>
      <p:sp>
        <p:nvSpPr>
          <p:cNvPr id="28" name="TextBox 27"/>
          <p:cNvSpPr txBox="1"/>
          <p:nvPr/>
        </p:nvSpPr>
        <p:spPr>
          <a:xfrm>
            <a:off x="777240" y="5349240"/>
            <a:ext cx="2148840" cy="548640"/>
          </a:xfrm>
          <a:prstGeom prst="rect">
            <a:avLst/>
          </a:prstGeom>
          <a:noFill/>
        </p:spPr>
        <p:txBody>
          <a:bodyPr wrap="square" lIns="0" tIns="0" rIns="0" bIns="0" anchor="t"/>
          <a:lstStyle/>
          <a:p>
            <a:pPr algn="l">
              <a:spcAft>
                <a:spcPts val="400"/>
              </a:spcAft>
            </a:pPr>
            <a:r>
              <a:rPr sz="1300" b="0" i="0">
                <a:solidFill>
                  <a:srgbClr val="1F2937"/>
                </a:solidFill>
                <a:latin typeface="Arial"/>
              </a:rPr>
              <a:t>Versión, responsable y rama.</a:t>
            </a:r>
          </a:p>
        </p:txBody>
      </p:sp>
      <p:sp>
        <p:nvSpPr>
          <p:cNvPr id="29" name="Right Arrow 28"/>
          <p:cNvSpPr/>
          <p:nvPr/>
        </p:nvSpPr>
        <p:spPr>
          <a:xfrm>
            <a:off x="3154680" y="4846320"/>
            <a:ext cx="182880" cy="228600"/>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3383280" y="4023360"/>
            <a:ext cx="2560320" cy="1874519"/>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3611880" y="425196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1E2433"/>
                </a:solidFill>
                <a:latin typeface="Arial"/>
              </a:rPr>
              <a:t>6</a:t>
            </a:r>
          </a:p>
        </p:txBody>
      </p:sp>
      <p:sp>
        <p:nvSpPr>
          <p:cNvPr id="32" name="TextBox 31"/>
          <p:cNvSpPr txBox="1"/>
          <p:nvPr/>
        </p:nvSpPr>
        <p:spPr>
          <a:xfrm>
            <a:off x="3611880" y="4754880"/>
            <a:ext cx="2148840" cy="457200"/>
          </a:xfrm>
          <a:prstGeom prst="rect">
            <a:avLst/>
          </a:prstGeom>
          <a:noFill/>
        </p:spPr>
        <p:txBody>
          <a:bodyPr wrap="square" lIns="0" tIns="0" rIns="0" bIns="0" anchor="t"/>
          <a:lstStyle/>
          <a:p>
            <a:pPr algn="l">
              <a:spcAft>
                <a:spcPts val="400"/>
              </a:spcAft>
            </a:pPr>
            <a:r>
              <a:rPr sz="1600" b="1" i="0">
                <a:solidFill>
                  <a:srgbClr val="1E2433"/>
                </a:solidFill>
                <a:latin typeface="Arial"/>
              </a:rPr>
              <a:t>Implementación</a:t>
            </a:r>
          </a:p>
        </p:txBody>
      </p:sp>
      <p:sp>
        <p:nvSpPr>
          <p:cNvPr id="33" name="TextBox 32"/>
          <p:cNvSpPr txBox="1"/>
          <p:nvPr/>
        </p:nvSpPr>
        <p:spPr>
          <a:xfrm>
            <a:off x="3611880" y="5349240"/>
            <a:ext cx="2148840" cy="548640"/>
          </a:xfrm>
          <a:prstGeom prst="rect">
            <a:avLst/>
          </a:prstGeom>
          <a:noFill/>
        </p:spPr>
        <p:txBody>
          <a:bodyPr wrap="square" lIns="0" tIns="0" rIns="0" bIns="0" anchor="t"/>
          <a:lstStyle/>
          <a:p>
            <a:pPr algn="l">
              <a:spcAft>
                <a:spcPts val="400"/>
              </a:spcAft>
            </a:pPr>
            <a:r>
              <a:rPr sz="1300" b="0" i="0">
                <a:solidFill>
                  <a:srgbClr val="1F2937"/>
                </a:solidFill>
                <a:latin typeface="Arial"/>
              </a:rPr>
              <a:t>Desarrollo en su rama + PR.</a:t>
            </a:r>
          </a:p>
        </p:txBody>
      </p:sp>
      <p:sp>
        <p:nvSpPr>
          <p:cNvPr id="34" name="Right Arrow 33"/>
          <p:cNvSpPr/>
          <p:nvPr/>
        </p:nvSpPr>
        <p:spPr>
          <a:xfrm>
            <a:off x="5989320" y="4846320"/>
            <a:ext cx="182880" cy="228600"/>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6217920" y="4023360"/>
            <a:ext cx="2560320" cy="1874519"/>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6446520" y="425196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1E2433"/>
                </a:solidFill>
                <a:latin typeface="Arial"/>
              </a:rPr>
              <a:t>7</a:t>
            </a:r>
          </a:p>
        </p:txBody>
      </p:sp>
      <p:sp>
        <p:nvSpPr>
          <p:cNvPr id="37" name="TextBox 36"/>
          <p:cNvSpPr txBox="1"/>
          <p:nvPr/>
        </p:nvSpPr>
        <p:spPr>
          <a:xfrm>
            <a:off x="6446520" y="4754880"/>
            <a:ext cx="2148840" cy="457200"/>
          </a:xfrm>
          <a:prstGeom prst="rect">
            <a:avLst/>
          </a:prstGeom>
          <a:noFill/>
        </p:spPr>
        <p:txBody>
          <a:bodyPr wrap="square" lIns="0" tIns="0" rIns="0" bIns="0" anchor="t"/>
          <a:lstStyle/>
          <a:p>
            <a:pPr algn="l">
              <a:spcAft>
                <a:spcPts val="400"/>
              </a:spcAft>
            </a:pPr>
            <a:r>
              <a:rPr sz="1600" b="1" i="0">
                <a:solidFill>
                  <a:srgbClr val="1E2433"/>
                </a:solidFill>
                <a:latin typeface="Arial"/>
              </a:rPr>
              <a:t>Verificación</a:t>
            </a:r>
          </a:p>
        </p:txBody>
      </p:sp>
      <p:sp>
        <p:nvSpPr>
          <p:cNvPr id="38" name="TextBox 37"/>
          <p:cNvSpPr txBox="1"/>
          <p:nvPr/>
        </p:nvSpPr>
        <p:spPr>
          <a:xfrm>
            <a:off x="6446520" y="5349240"/>
            <a:ext cx="2148840" cy="548640"/>
          </a:xfrm>
          <a:prstGeom prst="rect">
            <a:avLst/>
          </a:prstGeom>
          <a:noFill/>
        </p:spPr>
        <p:txBody>
          <a:bodyPr wrap="square" lIns="0" tIns="0" rIns="0" bIns="0" anchor="t"/>
          <a:lstStyle/>
          <a:p>
            <a:pPr algn="l">
              <a:spcAft>
                <a:spcPts val="400"/>
              </a:spcAft>
            </a:pPr>
            <a:r>
              <a:rPr sz="1300" b="0" i="0">
                <a:solidFill>
                  <a:srgbClr val="1F2937"/>
                </a:solidFill>
                <a:latin typeface="Arial"/>
              </a:rPr>
              <a:t>Pruebas y revisión del código.</a:t>
            </a:r>
          </a:p>
        </p:txBody>
      </p:sp>
      <p:sp>
        <p:nvSpPr>
          <p:cNvPr id="39" name="Right Arrow 38"/>
          <p:cNvSpPr/>
          <p:nvPr/>
        </p:nvSpPr>
        <p:spPr>
          <a:xfrm>
            <a:off x="8823960" y="4846320"/>
            <a:ext cx="182880" cy="228600"/>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9052560" y="4023360"/>
            <a:ext cx="2560320" cy="1874519"/>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9281160" y="425196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1E2433"/>
                </a:solidFill>
                <a:latin typeface="Arial"/>
              </a:rPr>
              <a:t>8</a:t>
            </a:r>
          </a:p>
        </p:txBody>
      </p:sp>
      <p:sp>
        <p:nvSpPr>
          <p:cNvPr id="42" name="TextBox 41"/>
          <p:cNvSpPr txBox="1"/>
          <p:nvPr/>
        </p:nvSpPr>
        <p:spPr>
          <a:xfrm>
            <a:off x="9281160" y="4754880"/>
            <a:ext cx="2148840" cy="457200"/>
          </a:xfrm>
          <a:prstGeom prst="rect">
            <a:avLst/>
          </a:prstGeom>
          <a:noFill/>
        </p:spPr>
        <p:txBody>
          <a:bodyPr wrap="square" lIns="0" tIns="0" rIns="0" bIns="0" anchor="t"/>
          <a:lstStyle/>
          <a:p>
            <a:pPr algn="l">
              <a:spcAft>
                <a:spcPts val="400"/>
              </a:spcAft>
            </a:pPr>
            <a:r>
              <a:rPr sz="1600" b="1" i="0">
                <a:solidFill>
                  <a:srgbClr val="1E2433"/>
                </a:solidFill>
                <a:latin typeface="Arial"/>
              </a:rPr>
              <a:t>Registro y cierre</a:t>
            </a:r>
          </a:p>
        </p:txBody>
      </p:sp>
      <p:sp>
        <p:nvSpPr>
          <p:cNvPr id="43" name="TextBox 42"/>
          <p:cNvSpPr txBox="1"/>
          <p:nvPr/>
        </p:nvSpPr>
        <p:spPr>
          <a:xfrm>
            <a:off x="9281160" y="5349240"/>
            <a:ext cx="2148840" cy="548640"/>
          </a:xfrm>
          <a:prstGeom prst="rect">
            <a:avLst/>
          </a:prstGeom>
          <a:noFill/>
        </p:spPr>
        <p:txBody>
          <a:bodyPr wrap="square" lIns="0" tIns="0" rIns="0" bIns="0" anchor="t"/>
          <a:lstStyle/>
          <a:p>
            <a:pPr algn="l">
              <a:spcAft>
                <a:spcPts val="400"/>
              </a:spcAft>
            </a:pPr>
            <a:r>
              <a:rPr sz="1300" b="0" i="0">
                <a:solidFill>
                  <a:srgbClr val="1F2937"/>
                </a:solidFill>
                <a:latin typeface="Arial"/>
              </a:rPr>
              <a:t>Matriz actualizada y versión etiquetada.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64240" cy="640080"/>
          </a:xfrm>
          <a:prstGeom prst="rect">
            <a:avLst/>
          </a:prstGeom>
          <a:noFill/>
        </p:spPr>
        <p:txBody>
          <a:bodyPr wrap="square" lIns="0" tIns="0" rIns="0" bIns="0" anchor="t"/>
          <a:lstStyle/>
          <a:p>
            <a:pPr algn="l">
              <a:spcAft>
                <a:spcPts val="400"/>
              </a:spcAft>
            </a:pPr>
            <a:r>
              <a:rPr sz="3200" b="1" i="0">
                <a:solidFill>
                  <a:srgbClr val="1E2433"/>
                </a:solidFill>
                <a:latin typeface="Arial"/>
              </a:rPr>
              <a:t>Roles involucrados</a:t>
            </a:r>
          </a:p>
        </p:txBody>
      </p:sp>
      <p:sp>
        <p:nvSpPr>
          <p:cNvPr id="3" name="TextBox 2"/>
          <p:cNvSpPr txBox="1"/>
          <p:nvPr/>
        </p:nvSpPr>
        <p:spPr>
          <a:xfrm>
            <a:off x="10728655" y="6400800"/>
            <a:ext cx="914400" cy="274320"/>
          </a:xfrm>
          <a:prstGeom prst="rect">
            <a:avLst/>
          </a:prstGeom>
          <a:noFill/>
        </p:spPr>
        <p:txBody>
          <a:bodyPr wrap="square" lIns="0" tIns="0" rIns="0" bIns="0" anchor="t"/>
          <a:lstStyle/>
          <a:p>
            <a:pPr algn="r">
              <a:spcAft>
                <a:spcPts val="400"/>
              </a:spcAft>
            </a:pPr>
            <a:r>
              <a:rPr sz="1000" b="0" i="0">
                <a:solidFill>
                  <a:srgbClr val="6B7280"/>
                </a:solidFill>
                <a:latin typeface="Arial"/>
              </a:rPr>
              <a:t>9</a:t>
            </a:r>
          </a:p>
        </p:txBody>
      </p:sp>
      <p:sp>
        <p:nvSpPr>
          <p:cNvPr id="4" name="TextBox 3"/>
          <p:cNvSpPr txBox="1"/>
          <p:nvPr/>
        </p:nvSpPr>
        <p:spPr>
          <a:xfrm>
            <a:off x="548640" y="6400800"/>
            <a:ext cx="7315200" cy="274320"/>
          </a:xfrm>
          <a:prstGeom prst="rect">
            <a:avLst/>
          </a:prstGeom>
          <a:noFill/>
        </p:spPr>
        <p:txBody>
          <a:bodyPr wrap="square" lIns="0" tIns="0" rIns="0" bIns="0" anchor="t"/>
          <a:lstStyle/>
          <a:p>
            <a:pPr algn="l">
              <a:spcAft>
                <a:spcPts val="400"/>
              </a:spcAft>
            </a:pPr>
            <a:r>
              <a:rPr sz="1000" b="0" i="0">
                <a:solidFill>
                  <a:srgbClr val="6B7280"/>
                </a:solidFill>
                <a:latin typeface="Arial"/>
              </a:rPr>
              <a:t>Grupo 5 · Gestión del Cambio · Evo-RRLL</a:t>
            </a:r>
          </a:p>
        </p:txBody>
      </p:sp>
      <p:sp>
        <p:nvSpPr>
          <p:cNvPr id="5" name="Rounded Rectangle 4"/>
          <p:cNvSpPr/>
          <p:nvPr/>
        </p:nvSpPr>
        <p:spPr>
          <a:xfrm>
            <a:off x="548640" y="1280160"/>
            <a:ext cx="5440680" cy="1069848"/>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77240" y="1618488"/>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1E2433"/>
                </a:solidFill>
                <a:latin typeface="Arial"/>
              </a:rPr>
              <a:t>1</a:t>
            </a:r>
          </a:p>
        </p:txBody>
      </p:sp>
      <p:sp>
        <p:nvSpPr>
          <p:cNvPr id="7" name="TextBox 6"/>
          <p:cNvSpPr txBox="1"/>
          <p:nvPr/>
        </p:nvSpPr>
        <p:spPr>
          <a:xfrm>
            <a:off x="1325880" y="1389888"/>
            <a:ext cx="4480560" cy="365760"/>
          </a:xfrm>
          <a:prstGeom prst="rect">
            <a:avLst/>
          </a:prstGeom>
          <a:noFill/>
        </p:spPr>
        <p:txBody>
          <a:bodyPr wrap="square" lIns="0" tIns="0" rIns="0" bIns="0" anchor="t"/>
          <a:lstStyle/>
          <a:p>
            <a:pPr algn="l">
              <a:spcAft>
                <a:spcPts val="400"/>
              </a:spcAft>
            </a:pPr>
            <a:r>
              <a:rPr sz="1600" b="1" i="0">
                <a:solidFill>
                  <a:srgbClr val="1E2433"/>
                </a:solidFill>
                <a:latin typeface="Arial"/>
              </a:rPr>
              <a:t>Solicitante</a:t>
            </a:r>
          </a:p>
        </p:txBody>
      </p:sp>
      <p:sp>
        <p:nvSpPr>
          <p:cNvPr id="8" name="TextBox 7"/>
          <p:cNvSpPr txBox="1"/>
          <p:nvPr/>
        </p:nvSpPr>
        <p:spPr>
          <a:xfrm>
            <a:off x="1325880" y="1737360"/>
            <a:ext cx="4480560" cy="594360"/>
          </a:xfrm>
          <a:prstGeom prst="rect">
            <a:avLst/>
          </a:prstGeom>
          <a:noFill/>
        </p:spPr>
        <p:txBody>
          <a:bodyPr wrap="square" lIns="0" tIns="0" rIns="0" bIns="0" anchor="t"/>
          <a:lstStyle/>
          <a:p>
            <a:pPr algn="l">
              <a:spcAft>
                <a:spcPts val="400"/>
              </a:spcAft>
            </a:pPr>
            <a:r>
              <a:rPr sz="1300" b="0" i="0">
                <a:solidFill>
                  <a:srgbClr val="1F2937"/>
                </a:solidFill>
                <a:latin typeface="Arial"/>
              </a:rPr>
              <a:t>Usuario, cliente o miembro del equipo que detecta la necesidad y registra la solicitud de cambio.</a:t>
            </a:r>
          </a:p>
        </p:txBody>
      </p:sp>
      <p:sp>
        <p:nvSpPr>
          <p:cNvPr id="9" name="Rounded Rectangle 8"/>
          <p:cNvSpPr/>
          <p:nvPr/>
        </p:nvSpPr>
        <p:spPr>
          <a:xfrm>
            <a:off x="6172200" y="1280160"/>
            <a:ext cx="5440680" cy="1069848"/>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400800" y="1618488"/>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1E2433"/>
                </a:solidFill>
                <a:latin typeface="Arial"/>
              </a:rPr>
              <a:t>2</a:t>
            </a:r>
          </a:p>
        </p:txBody>
      </p:sp>
      <p:sp>
        <p:nvSpPr>
          <p:cNvPr id="11" name="TextBox 10"/>
          <p:cNvSpPr txBox="1"/>
          <p:nvPr/>
        </p:nvSpPr>
        <p:spPr>
          <a:xfrm>
            <a:off x="6949440" y="1389888"/>
            <a:ext cx="4480560" cy="365760"/>
          </a:xfrm>
          <a:prstGeom prst="rect">
            <a:avLst/>
          </a:prstGeom>
          <a:noFill/>
        </p:spPr>
        <p:txBody>
          <a:bodyPr wrap="square" lIns="0" tIns="0" rIns="0" bIns="0" anchor="t"/>
          <a:lstStyle/>
          <a:p>
            <a:pPr algn="l">
              <a:spcAft>
                <a:spcPts val="400"/>
              </a:spcAft>
            </a:pPr>
            <a:r>
              <a:rPr sz="1600" b="1" i="0">
                <a:solidFill>
                  <a:srgbClr val="1E2433"/>
                </a:solidFill>
                <a:latin typeface="Arial"/>
              </a:rPr>
              <a:t>Gestor de cambios</a:t>
            </a:r>
          </a:p>
        </p:txBody>
      </p:sp>
      <p:sp>
        <p:nvSpPr>
          <p:cNvPr id="12" name="TextBox 11"/>
          <p:cNvSpPr txBox="1"/>
          <p:nvPr/>
        </p:nvSpPr>
        <p:spPr>
          <a:xfrm>
            <a:off x="6949440" y="1737360"/>
            <a:ext cx="4480560" cy="594360"/>
          </a:xfrm>
          <a:prstGeom prst="rect">
            <a:avLst/>
          </a:prstGeom>
          <a:noFill/>
        </p:spPr>
        <p:txBody>
          <a:bodyPr wrap="square" lIns="0" tIns="0" rIns="0" bIns="0" anchor="t"/>
          <a:lstStyle/>
          <a:p>
            <a:pPr algn="l">
              <a:spcAft>
                <a:spcPts val="400"/>
              </a:spcAft>
            </a:pPr>
            <a:r>
              <a:rPr sz="1300" b="0" i="0">
                <a:solidFill>
                  <a:srgbClr val="1F2937"/>
                </a:solidFill>
                <a:latin typeface="Arial"/>
              </a:rPr>
              <a:t>Recibe y revisa las solicitudes, coordina el análisis, mantiene la matriz y comunica las decisiones.</a:t>
            </a:r>
          </a:p>
        </p:txBody>
      </p:sp>
      <p:sp>
        <p:nvSpPr>
          <p:cNvPr id="13" name="Rounded Rectangle 12"/>
          <p:cNvSpPr/>
          <p:nvPr/>
        </p:nvSpPr>
        <p:spPr>
          <a:xfrm>
            <a:off x="548640" y="2514600"/>
            <a:ext cx="5440680" cy="1069848"/>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77240" y="2852928"/>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1E2433"/>
                </a:solidFill>
                <a:latin typeface="Arial"/>
              </a:rPr>
              <a:t>3</a:t>
            </a:r>
          </a:p>
        </p:txBody>
      </p:sp>
      <p:sp>
        <p:nvSpPr>
          <p:cNvPr id="15" name="TextBox 14"/>
          <p:cNvSpPr txBox="1"/>
          <p:nvPr/>
        </p:nvSpPr>
        <p:spPr>
          <a:xfrm>
            <a:off x="1325880" y="2624328"/>
            <a:ext cx="4480560" cy="365760"/>
          </a:xfrm>
          <a:prstGeom prst="rect">
            <a:avLst/>
          </a:prstGeom>
          <a:noFill/>
        </p:spPr>
        <p:txBody>
          <a:bodyPr wrap="square" lIns="0" tIns="0" rIns="0" bIns="0" anchor="t"/>
          <a:lstStyle/>
          <a:p>
            <a:pPr algn="l">
              <a:spcAft>
                <a:spcPts val="400"/>
              </a:spcAft>
            </a:pPr>
            <a:r>
              <a:rPr sz="1600" b="1" i="0">
                <a:solidFill>
                  <a:srgbClr val="1E2433"/>
                </a:solidFill>
                <a:latin typeface="Arial"/>
              </a:rPr>
              <a:t>Comité de Control de Cambios (CCB)</a:t>
            </a:r>
          </a:p>
        </p:txBody>
      </p:sp>
      <p:sp>
        <p:nvSpPr>
          <p:cNvPr id="16" name="TextBox 15"/>
          <p:cNvSpPr txBox="1"/>
          <p:nvPr/>
        </p:nvSpPr>
        <p:spPr>
          <a:xfrm>
            <a:off x="1325880" y="2971800"/>
            <a:ext cx="4480560" cy="594360"/>
          </a:xfrm>
          <a:prstGeom prst="rect">
            <a:avLst/>
          </a:prstGeom>
          <a:noFill/>
        </p:spPr>
        <p:txBody>
          <a:bodyPr wrap="square" lIns="0" tIns="0" rIns="0" bIns="0" anchor="t"/>
          <a:lstStyle/>
          <a:p>
            <a:pPr algn="l">
              <a:spcAft>
                <a:spcPts val="400"/>
              </a:spcAft>
            </a:pPr>
            <a:r>
              <a:rPr sz="1300" b="0" i="0">
                <a:solidFill>
                  <a:srgbClr val="1F2937"/>
                </a:solidFill>
                <a:latin typeface="Arial"/>
              </a:rPr>
              <a:t>Jefe de proyecto, líder técnico y representante del usuario: aprueba, rechaza o difiere.</a:t>
            </a:r>
          </a:p>
        </p:txBody>
      </p:sp>
      <p:sp>
        <p:nvSpPr>
          <p:cNvPr id="17" name="Rounded Rectangle 16"/>
          <p:cNvSpPr/>
          <p:nvPr/>
        </p:nvSpPr>
        <p:spPr>
          <a:xfrm>
            <a:off x="6172200" y="2514600"/>
            <a:ext cx="5440680" cy="1069848"/>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400800" y="2852928"/>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1E2433"/>
                </a:solidFill>
                <a:latin typeface="Arial"/>
              </a:rPr>
              <a:t>4</a:t>
            </a:r>
          </a:p>
        </p:txBody>
      </p:sp>
      <p:sp>
        <p:nvSpPr>
          <p:cNvPr id="19" name="TextBox 18"/>
          <p:cNvSpPr txBox="1"/>
          <p:nvPr/>
        </p:nvSpPr>
        <p:spPr>
          <a:xfrm>
            <a:off x="6949440" y="2624328"/>
            <a:ext cx="4480560" cy="365760"/>
          </a:xfrm>
          <a:prstGeom prst="rect">
            <a:avLst/>
          </a:prstGeom>
          <a:noFill/>
        </p:spPr>
        <p:txBody>
          <a:bodyPr wrap="square" lIns="0" tIns="0" rIns="0" bIns="0" anchor="t"/>
          <a:lstStyle/>
          <a:p>
            <a:pPr algn="l">
              <a:spcAft>
                <a:spcPts val="400"/>
              </a:spcAft>
            </a:pPr>
            <a:r>
              <a:rPr sz="1600" b="1" i="0">
                <a:solidFill>
                  <a:srgbClr val="1E2433"/>
                </a:solidFill>
                <a:latin typeface="Arial"/>
              </a:rPr>
              <a:t>Analista / Líder técnico</a:t>
            </a:r>
          </a:p>
        </p:txBody>
      </p:sp>
      <p:sp>
        <p:nvSpPr>
          <p:cNvPr id="20" name="TextBox 19"/>
          <p:cNvSpPr txBox="1"/>
          <p:nvPr/>
        </p:nvSpPr>
        <p:spPr>
          <a:xfrm>
            <a:off x="6949440" y="2971800"/>
            <a:ext cx="4480560" cy="594360"/>
          </a:xfrm>
          <a:prstGeom prst="rect">
            <a:avLst/>
          </a:prstGeom>
          <a:noFill/>
        </p:spPr>
        <p:txBody>
          <a:bodyPr wrap="square" lIns="0" tIns="0" rIns="0" bIns="0" anchor="t"/>
          <a:lstStyle/>
          <a:p>
            <a:pPr algn="l">
              <a:spcAft>
                <a:spcPts val="400"/>
              </a:spcAft>
            </a:pPr>
            <a:r>
              <a:rPr sz="1300" b="0" i="0">
                <a:solidFill>
                  <a:srgbClr val="1F2937"/>
                </a:solidFill>
                <a:latin typeface="Arial"/>
              </a:rPr>
              <a:t>Evalúa el impacto técnico: componentes, base de datos, esfuerzo, riesgos y dependencias.</a:t>
            </a:r>
          </a:p>
        </p:txBody>
      </p:sp>
      <p:sp>
        <p:nvSpPr>
          <p:cNvPr id="21" name="Rounded Rectangle 20"/>
          <p:cNvSpPr/>
          <p:nvPr/>
        </p:nvSpPr>
        <p:spPr>
          <a:xfrm>
            <a:off x="548640" y="3749039"/>
            <a:ext cx="5440680" cy="1069848"/>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777240" y="4087368"/>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1E2433"/>
                </a:solidFill>
                <a:latin typeface="Arial"/>
              </a:rPr>
              <a:t>5</a:t>
            </a:r>
          </a:p>
        </p:txBody>
      </p:sp>
      <p:sp>
        <p:nvSpPr>
          <p:cNvPr id="23" name="TextBox 22"/>
          <p:cNvSpPr txBox="1"/>
          <p:nvPr/>
        </p:nvSpPr>
        <p:spPr>
          <a:xfrm>
            <a:off x="1325880" y="3858768"/>
            <a:ext cx="4480560" cy="365760"/>
          </a:xfrm>
          <a:prstGeom prst="rect">
            <a:avLst/>
          </a:prstGeom>
          <a:noFill/>
        </p:spPr>
        <p:txBody>
          <a:bodyPr wrap="square" lIns="0" tIns="0" rIns="0" bIns="0" anchor="t"/>
          <a:lstStyle/>
          <a:p>
            <a:pPr algn="l">
              <a:spcAft>
                <a:spcPts val="400"/>
              </a:spcAft>
            </a:pPr>
            <a:r>
              <a:rPr sz="1600" b="1" i="0">
                <a:solidFill>
                  <a:srgbClr val="1E2433"/>
                </a:solidFill>
                <a:latin typeface="Arial"/>
              </a:rPr>
              <a:t>Desarrollador</a:t>
            </a:r>
          </a:p>
        </p:txBody>
      </p:sp>
      <p:sp>
        <p:nvSpPr>
          <p:cNvPr id="24" name="TextBox 23"/>
          <p:cNvSpPr txBox="1"/>
          <p:nvPr/>
        </p:nvSpPr>
        <p:spPr>
          <a:xfrm>
            <a:off x="1325880" y="4206240"/>
            <a:ext cx="4480560" cy="594360"/>
          </a:xfrm>
          <a:prstGeom prst="rect">
            <a:avLst/>
          </a:prstGeom>
          <a:noFill/>
        </p:spPr>
        <p:txBody>
          <a:bodyPr wrap="square" lIns="0" tIns="0" rIns="0" bIns="0" anchor="t"/>
          <a:lstStyle/>
          <a:p>
            <a:pPr algn="l">
              <a:spcAft>
                <a:spcPts val="400"/>
              </a:spcAft>
            </a:pPr>
            <a:r>
              <a:rPr sz="1300" b="0" i="0">
                <a:solidFill>
                  <a:srgbClr val="1F2937"/>
                </a:solidFill>
                <a:latin typeface="Arial"/>
              </a:rPr>
              <a:t>Implementa el cambio aprobado en su rama y documenta el commit y el Pull Request.</a:t>
            </a:r>
          </a:p>
        </p:txBody>
      </p:sp>
      <p:sp>
        <p:nvSpPr>
          <p:cNvPr id="25" name="Rounded Rectangle 24"/>
          <p:cNvSpPr/>
          <p:nvPr/>
        </p:nvSpPr>
        <p:spPr>
          <a:xfrm>
            <a:off x="6172200" y="3749039"/>
            <a:ext cx="5440680" cy="1069848"/>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400800" y="4087368"/>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1E2433"/>
                </a:solidFill>
                <a:latin typeface="Arial"/>
              </a:rPr>
              <a:t>6</a:t>
            </a:r>
          </a:p>
        </p:txBody>
      </p:sp>
      <p:sp>
        <p:nvSpPr>
          <p:cNvPr id="27" name="TextBox 26"/>
          <p:cNvSpPr txBox="1"/>
          <p:nvPr/>
        </p:nvSpPr>
        <p:spPr>
          <a:xfrm>
            <a:off x="6949440" y="3858768"/>
            <a:ext cx="4480560" cy="365760"/>
          </a:xfrm>
          <a:prstGeom prst="rect">
            <a:avLst/>
          </a:prstGeom>
          <a:noFill/>
        </p:spPr>
        <p:txBody>
          <a:bodyPr wrap="square" lIns="0" tIns="0" rIns="0" bIns="0" anchor="t"/>
          <a:lstStyle/>
          <a:p>
            <a:pPr algn="l">
              <a:spcAft>
                <a:spcPts val="400"/>
              </a:spcAft>
            </a:pPr>
            <a:r>
              <a:rPr sz="1600" b="1" i="0">
                <a:solidFill>
                  <a:srgbClr val="1E2433"/>
                </a:solidFill>
                <a:latin typeface="Arial"/>
              </a:rPr>
              <a:t>QA / Tester</a:t>
            </a:r>
          </a:p>
        </p:txBody>
      </p:sp>
      <p:sp>
        <p:nvSpPr>
          <p:cNvPr id="28" name="TextBox 27"/>
          <p:cNvSpPr txBox="1"/>
          <p:nvPr/>
        </p:nvSpPr>
        <p:spPr>
          <a:xfrm>
            <a:off x="6949440" y="4206240"/>
            <a:ext cx="4480560" cy="594360"/>
          </a:xfrm>
          <a:prstGeom prst="rect">
            <a:avLst/>
          </a:prstGeom>
          <a:noFill/>
        </p:spPr>
        <p:txBody>
          <a:bodyPr wrap="square" lIns="0" tIns="0" rIns="0" bIns="0" anchor="t"/>
          <a:lstStyle/>
          <a:p>
            <a:pPr algn="l">
              <a:spcAft>
                <a:spcPts val="400"/>
              </a:spcAft>
            </a:pPr>
            <a:r>
              <a:rPr sz="1300" b="0" i="0">
                <a:solidFill>
                  <a:srgbClr val="1F2937"/>
                </a:solidFill>
                <a:latin typeface="Arial"/>
              </a:rPr>
              <a:t>Verifica el cambio con pruebas funcionales y de regresión antes de integrarlo.</a:t>
            </a:r>
          </a:p>
        </p:txBody>
      </p:sp>
      <p:sp>
        <p:nvSpPr>
          <p:cNvPr id="29" name="Rounded Rectangle 28"/>
          <p:cNvSpPr/>
          <p:nvPr/>
        </p:nvSpPr>
        <p:spPr>
          <a:xfrm>
            <a:off x="548640" y="4983480"/>
            <a:ext cx="11064240" cy="1069848"/>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777240" y="5321808"/>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1E2433"/>
                </a:solidFill>
                <a:latin typeface="Arial"/>
              </a:rPr>
              <a:t>7</a:t>
            </a:r>
          </a:p>
        </p:txBody>
      </p:sp>
      <p:sp>
        <p:nvSpPr>
          <p:cNvPr id="31" name="TextBox 30"/>
          <p:cNvSpPr txBox="1"/>
          <p:nvPr/>
        </p:nvSpPr>
        <p:spPr>
          <a:xfrm>
            <a:off x="1325880" y="5093208"/>
            <a:ext cx="10104119" cy="365760"/>
          </a:xfrm>
          <a:prstGeom prst="rect">
            <a:avLst/>
          </a:prstGeom>
          <a:noFill/>
        </p:spPr>
        <p:txBody>
          <a:bodyPr wrap="square" lIns="0" tIns="0" rIns="0" bIns="0" anchor="t"/>
          <a:lstStyle/>
          <a:p>
            <a:pPr algn="l">
              <a:spcAft>
                <a:spcPts val="400"/>
              </a:spcAft>
            </a:pPr>
            <a:r>
              <a:rPr sz="1600" b="1" i="0">
                <a:solidFill>
                  <a:srgbClr val="1E2433"/>
                </a:solidFill>
                <a:latin typeface="Arial"/>
              </a:rPr>
              <a:t>Gestor de configuración</a:t>
            </a:r>
          </a:p>
        </p:txBody>
      </p:sp>
      <p:sp>
        <p:nvSpPr>
          <p:cNvPr id="32" name="TextBox 31"/>
          <p:cNvSpPr txBox="1"/>
          <p:nvPr/>
        </p:nvSpPr>
        <p:spPr>
          <a:xfrm>
            <a:off x="1325880" y="5440680"/>
            <a:ext cx="10104119" cy="594360"/>
          </a:xfrm>
          <a:prstGeom prst="rect">
            <a:avLst/>
          </a:prstGeom>
          <a:noFill/>
        </p:spPr>
        <p:txBody>
          <a:bodyPr wrap="square" lIns="0" tIns="0" rIns="0" bIns="0" anchor="t"/>
          <a:lstStyle/>
          <a:p>
            <a:pPr algn="l">
              <a:spcAft>
                <a:spcPts val="400"/>
              </a:spcAft>
            </a:pPr>
            <a:r>
              <a:rPr sz="1300" b="0" i="0">
                <a:solidFill>
                  <a:srgbClr val="1F2937"/>
                </a:solidFill>
                <a:latin typeface="Arial"/>
              </a:rPr>
              <a:t>Controla ramas, versiones y líneas base; integra a main y etiqueta la versión liberada.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64240" cy="640080"/>
          </a:xfrm>
          <a:prstGeom prst="rect">
            <a:avLst/>
          </a:prstGeom>
          <a:noFill/>
        </p:spPr>
        <p:txBody>
          <a:bodyPr wrap="square" lIns="0" tIns="0" rIns="0" bIns="0" anchor="t"/>
          <a:lstStyle/>
          <a:p>
            <a:pPr algn="l">
              <a:spcAft>
                <a:spcPts val="400"/>
              </a:spcAft>
            </a:pPr>
            <a:r>
              <a:rPr sz="3200" b="1" i="0">
                <a:solidFill>
                  <a:srgbClr val="1E2433"/>
                </a:solidFill>
                <a:latin typeface="Arial"/>
              </a:rPr>
              <a:t>Documentos y artefactos utilizados</a:t>
            </a:r>
          </a:p>
        </p:txBody>
      </p:sp>
      <p:sp>
        <p:nvSpPr>
          <p:cNvPr id="3" name="TextBox 2"/>
          <p:cNvSpPr txBox="1"/>
          <p:nvPr/>
        </p:nvSpPr>
        <p:spPr>
          <a:xfrm>
            <a:off x="10728655" y="6400800"/>
            <a:ext cx="914400" cy="274320"/>
          </a:xfrm>
          <a:prstGeom prst="rect">
            <a:avLst/>
          </a:prstGeom>
          <a:noFill/>
        </p:spPr>
        <p:txBody>
          <a:bodyPr wrap="square" lIns="0" tIns="0" rIns="0" bIns="0" anchor="t"/>
          <a:lstStyle/>
          <a:p>
            <a:pPr algn="r">
              <a:spcAft>
                <a:spcPts val="400"/>
              </a:spcAft>
            </a:pPr>
            <a:r>
              <a:rPr sz="1000" b="0" i="0">
                <a:solidFill>
                  <a:srgbClr val="6B7280"/>
                </a:solidFill>
                <a:latin typeface="Arial"/>
              </a:rPr>
              <a:t>10</a:t>
            </a:r>
          </a:p>
        </p:txBody>
      </p:sp>
      <p:sp>
        <p:nvSpPr>
          <p:cNvPr id="4" name="TextBox 3"/>
          <p:cNvSpPr txBox="1"/>
          <p:nvPr/>
        </p:nvSpPr>
        <p:spPr>
          <a:xfrm>
            <a:off x="548640" y="6400800"/>
            <a:ext cx="7315200" cy="274320"/>
          </a:xfrm>
          <a:prstGeom prst="rect">
            <a:avLst/>
          </a:prstGeom>
          <a:noFill/>
        </p:spPr>
        <p:txBody>
          <a:bodyPr wrap="square" lIns="0" tIns="0" rIns="0" bIns="0" anchor="t"/>
          <a:lstStyle/>
          <a:p>
            <a:pPr algn="l">
              <a:spcAft>
                <a:spcPts val="400"/>
              </a:spcAft>
            </a:pPr>
            <a:r>
              <a:rPr sz="1000" b="0" i="0">
                <a:solidFill>
                  <a:srgbClr val="6B7280"/>
                </a:solidFill>
                <a:latin typeface="Arial"/>
              </a:rPr>
              <a:t>Grupo 5 · Gestión del Cambio · Evo-RRLL</a:t>
            </a:r>
          </a:p>
        </p:txBody>
      </p:sp>
      <p:sp>
        <p:nvSpPr>
          <p:cNvPr id="5" name="Rounded Rectangle 4"/>
          <p:cNvSpPr/>
          <p:nvPr/>
        </p:nvSpPr>
        <p:spPr>
          <a:xfrm>
            <a:off x="548640" y="1280160"/>
            <a:ext cx="8229600" cy="566928"/>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353312"/>
            <a:ext cx="3566160" cy="420624"/>
          </a:xfrm>
          <a:prstGeom prst="rect">
            <a:avLst/>
          </a:prstGeom>
          <a:noFill/>
        </p:spPr>
        <p:txBody>
          <a:bodyPr wrap="square" lIns="0" tIns="0" rIns="0" bIns="0" anchor="ctr"/>
          <a:lstStyle/>
          <a:p>
            <a:pPr algn="l">
              <a:spcAft>
                <a:spcPts val="400"/>
              </a:spcAft>
            </a:pPr>
            <a:r>
              <a:rPr sz="1500" b="1" i="0">
                <a:solidFill>
                  <a:srgbClr val="1E2433"/>
                </a:solidFill>
                <a:latin typeface="Arial"/>
              </a:rPr>
              <a:t>Solicitud de cambio (RFC / SC)</a:t>
            </a:r>
          </a:p>
        </p:txBody>
      </p:sp>
      <p:sp>
        <p:nvSpPr>
          <p:cNvPr id="7" name="TextBox 6"/>
          <p:cNvSpPr txBox="1"/>
          <p:nvPr/>
        </p:nvSpPr>
        <p:spPr>
          <a:xfrm>
            <a:off x="4389120" y="1353312"/>
            <a:ext cx="4297680" cy="420624"/>
          </a:xfrm>
          <a:prstGeom prst="rect">
            <a:avLst/>
          </a:prstGeom>
          <a:noFill/>
        </p:spPr>
        <p:txBody>
          <a:bodyPr wrap="square" lIns="0" tIns="0" rIns="0" bIns="0" anchor="ctr"/>
          <a:lstStyle/>
          <a:p>
            <a:pPr algn="l">
              <a:spcAft>
                <a:spcPts val="400"/>
              </a:spcAft>
            </a:pPr>
            <a:r>
              <a:rPr sz="1300" b="0" i="0">
                <a:solidFill>
                  <a:srgbClr val="1F2937"/>
                </a:solidFill>
                <a:latin typeface="Arial"/>
              </a:rPr>
              <a:t>Registro formal: qué se pide, quién lo pide y por qué.</a:t>
            </a:r>
          </a:p>
        </p:txBody>
      </p:sp>
      <p:sp>
        <p:nvSpPr>
          <p:cNvPr id="8" name="Rounded Rectangle 7"/>
          <p:cNvSpPr/>
          <p:nvPr/>
        </p:nvSpPr>
        <p:spPr>
          <a:xfrm>
            <a:off x="8915400" y="1426463"/>
            <a:ext cx="1371600" cy="274320"/>
          </a:xfrm>
          <a:prstGeom prst="roundRect">
            <a:avLst>
              <a:gd name="adj" fmla="val 30000"/>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1E2433"/>
                </a:solidFill>
                <a:latin typeface="Arial"/>
              </a:rPr>
              <a:t>Entregado</a:t>
            </a:r>
          </a:p>
        </p:txBody>
      </p:sp>
      <p:sp>
        <p:nvSpPr>
          <p:cNvPr id="9" name="Rounded Rectangle 8"/>
          <p:cNvSpPr/>
          <p:nvPr/>
        </p:nvSpPr>
        <p:spPr>
          <a:xfrm>
            <a:off x="548640" y="1965960"/>
            <a:ext cx="8229600" cy="566928"/>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2039112"/>
            <a:ext cx="3566160" cy="420624"/>
          </a:xfrm>
          <a:prstGeom prst="rect">
            <a:avLst/>
          </a:prstGeom>
          <a:noFill/>
        </p:spPr>
        <p:txBody>
          <a:bodyPr wrap="square" lIns="0" tIns="0" rIns="0" bIns="0" anchor="ctr"/>
          <a:lstStyle/>
          <a:p>
            <a:pPr algn="l">
              <a:spcAft>
                <a:spcPts val="400"/>
              </a:spcAft>
            </a:pPr>
            <a:r>
              <a:rPr sz="1500" b="1" i="0">
                <a:solidFill>
                  <a:srgbClr val="1E2433"/>
                </a:solidFill>
                <a:latin typeface="Arial"/>
              </a:rPr>
              <a:t>Matriz o registro de cambios</a:t>
            </a:r>
          </a:p>
        </p:txBody>
      </p:sp>
      <p:sp>
        <p:nvSpPr>
          <p:cNvPr id="11" name="TextBox 10"/>
          <p:cNvSpPr txBox="1"/>
          <p:nvPr/>
        </p:nvSpPr>
        <p:spPr>
          <a:xfrm>
            <a:off x="4389120" y="2039112"/>
            <a:ext cx="4297680" cy="420624"/>
          </a:xfrm>
          <a:prstGeom prst="rect">
            <a:avLst/>
          </a:prstGeom>
          <a:noFill/>
        </p:spPr>
        <p:txBody>
          <a:bodyPr wrap="square" lIns="0" tIns="0" rIns="0" bIns="0" anchor="ctr"/>
          <a:lstStyle/>
          <a:p>
            <a:pPr algn="l">
              <a:spcAft>
                <a:spcPts val="400"/>
              </a:spcAft>
            </a:pPr>
            <a:r>
              <a:rPr sz="1300" b="0" i="0">
                <a:solidFill>
                  <a:srgbClr val="1F2937"/>
                </a:solidFill>
                <a:latin typeface="Arial"/>
              </a:rPr>
              <a:t>Lista consolidada de todas las solicitudes y su estado.</a:t>
            </a:r>
          </a:p>
        </p:txBody>
      </p:sp>
      <p:sp>
        <p:nvSpPr>
          <p:cNvPr id="12" name="Rounded Rectangle 11"/>
          <p:cNvSpPr/>
          <p:nvPr/>
        </p:nvSpPr>
        <p:spPr>
          <a:xfrm>
            <a:off x="8915400" y="2112264"/>
            <a:ext cx="1371600" cy="274320"/>
          </a:xfrm>
          <a:prstGeom prst="roundRect">
            <a:avLst>
              <a:gd name="adj" fmla="val 30000"/>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1E2433"/>
                </a:solidFill>
                <a:latin typeface="Arial"/>
              </a:rPr>
              <a:t>Entregado</a:t>
            </a:r>
          </a:p>
        </p:txBody>
      </p:sp>
      <p:sp>
        <p:nvSpPr>
          <p:cNvPr id="13" name="Rounded Rectangle 12"/>
          <p:cNvSpPr/>
          <p:nvPr/>
        </p:nvSpPr>
        <p:spPr>
          <a:xfrm>
            <a:off x="548640" y="2651760"/>
            <a:ext cx="8229600" cy="566928"/>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2724912"/>
            <a:ext cx="3566160" cy="420624"/>
          </a:xfrm>
          <a:prstGeom prst="rect">
            <a:avLst/>
          </a:prstGeom>
          <a:noFill/>
        </p:spPr>
        <p:txBody>
          <a:bodyPr wrap="square" lIns="0" tIns="0" rIns="0" bIns="0" anchor="ctr"/>
          <a:lstStyle/>
          <a:p>
            <a:pPr algn="l">
              <a:spcAft>
                <a:spcPts val="400"/>
              </a:spcAft>
            </a:pPr>
            <a:r>
              <a:rPr sz="1500" b="1" i="0">
                <a:solidFill>
                  <a:srgbClr val="1E2433"/>
                </a:solidFill>
                <a:latin typeface="Arial"/>
              </a:rPr>
              <a:t>Análisis de impacto</a:t>
            </a:r>
          </a:p>
        </p:txBody>
      </p:sp>
      <p:sp>
        <p:nvSpPr>
          <p:cNvPr id="15" name="TextBox 14"/>
          <p:cNvSpPr txBox="1"/>
          <p:nvPr/>
        </p:nvSpPr>
        <p:spPr>
          <a:xfrm>
            <a:off x="4389120" y="2724912"/>
            <a:ext cx="4297680" cy="420624"/>
          </a:xfrm>
          <a:prstGeom prst="rect">
            <a:avLst/>
          </a:prstGeom>
          <a:noFill/>
        </p:spPr>
        <p:txBody>
          <a:bodyPr wrap="square" lIns="0" tIns="0" rIns="0" bIns="0" anchor="ctr"/>
          <a:lstStyle/>
          <a:p>
            <a:pPr algn="l">
              <a:spcAft>
                <a:spcPts val="400"/>
              </a:spcAft>
            </a:pPr>
            <a:r>
              <a:rPr sz="1300" b="0" i="0">
                <a:solidFill>
                  <a:srgbClr val="1F2937"/>
                </a:solidFill>
                <a:latin typeface="Arial"/>
              </a:rPr>
              <a:t>Componentes afectados, esfuerzo, riesgos y mitigación.</a:t>
            </a:r>
          </a:p>
        </p:txBody>
      </p:sp>
      <p:sp>
        <p:nvSpPr>
          <p:cNvPr id="16" name="Rounded Rectangle 15"/>
          <p:cNvSpPr/>
          <p:nvPr/>
        </p:nvSpPr>
        <p:spPr>
          <a:xfrm>
            <a:off x="8915400" y="2798064"/>
            <a:ext cx="1371600" cy="274320"/>
          </a:xfrm>
          <a:prstGeom prst="roundRect">
            <a:avLst>
              <a:gd name="adj" fmla="val 30000"/>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1E2433"/>
                </a:solidFill>
                <a:latin typeface="Arial"/>
              </a:rPr>
              <a:t>Entregado</a:t>
            </a:r>
          </a:p>
        </p:txBody>
      </p:sp>
      <p:sp>
        <p:nvSpPr>
          <p:cNvPr id="17" name="Rounded Rectangle 16"/>
          <p:cNvSpPr/>
          <p:nvPr/>
        </p:nvSpPr>
        <p:spPr>
          <a:xfrm>
            <a:off x="548640" y="3337560"/>
            <a:ext cx="8229600" cy="566928"/>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3410712"/>
            <a:ext cx="3566160" cy="420624"/>
          </a:xfrm>
          <a:prstGeom prst="rect">
            <a:avLst/>
          </a:prstGeom>
          <a:noFill/>
        </p:spPr>
        <p:txBody>
          <a:bodyPr wrap="square" lIns="0" tIns="0" rIns="0" bIns="0" anchor="ctr"/>
          <a:lstStyle/>
          <a:p>
            <a:pPr algn="l">
              <a:spcAft>
                <a:spcPts val="400"/>
              </a:spcAft>
            </a:pPr>
            <a:r>
              <a:rPr sz="1500" b="1" i="0">
                <a:solidFill>
                  <a:srgbClr val="1E2433"/>
                </a:solidFill>
                <a:latin typeface="Arial"/>
              </a:rPr>
              <a:t>Acta del comité (CCB)</a:t>
            </a:r>
          </a:p>
        </p:txBody>
      </p:sp>
      <p:sp>
        <p:nvSpPr>
          <p:cNvPr id="19" name="TextBox 18"/>
          <p:cNvSpPr txBox="1"/>
          <p:nvPr/>
        </p:nvSpPr>
        <p:spPr>
          <a:xfrm>
            <a:off x="4389120" y="3410712"/>
            <a:ext cx="4297680" cy="420624"/>
          </a:xfrm>
          <a:prstGeom prst="rect">
            <a:avLst/>
          </a:prstGeom>
          <a:noFill/>
        </p:spPr>
        <p:txBody>
          <a:bodyPr wrap="square" lIns="0" tIns="0" rIns="0" bIns="0" anchor="ctr"/>
          <a:lstStyle/>
          <a:p>
            <a:pPr algn="l">
              <a:spcAft>
                <a:spcPts val="400"/>
              </a:spcAft>
            </a:pPr>
            <a:r>
              <a:rPr sz="1300" b="0" i="0">
                <a:solidFill>
                  <a:srgbClr val="1F2937"/>
                </a:solidFill>
                <a:latin typeface="Arial"/>
              </a:rPr>
              <a:t>Decisión: aprobado, rechazado o diferido.</a:t>
            </a:r>
          </a:p>
        </p:txBody>
      </p:sp>
      <p:sp>
        <p:nvSpPr>
          <p:cNvPr id="20" name="Rounded Rectangle 19"/>
          <p:cNvSpPr/>
          <p:nvPr/>
        </p:nvSpPr>
        <p:spPr>
          <a:xfrm>
            <a:off x="548640" y="4023360"/>
            <a:ext cx="8229600" cy="566928"/>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77240" y="4096512"/>
            <a:ext cx="3566160" cy="420624"/>
          </a:xfrm>
          <a:prstGeom prst="rect">
            <a:avLst/>
          </a:prstGeom>
          <a:noFill/>
        </p:spPr>
        <p:txBody>
          <a:bodyPr wrap="square" lIns="0" tIns="0" rIns="0" bIns="0" anchor="ctr"/>
          <a:lstStyle/>
          <a:p>
            <a:pPr algn="l">
              <a:spcAft>
                <a:spcPts val="400"/>
              </a:spcAft>
            </a:pPr>
            <a:r>
              <a:rPr sz="1500" b="1" i="0">
                <a:solidFill>
                  <a:srgbClr val="1E2433"/>
                </a:solidFill>
                <a:latin typeface="Arial"/>
              </a:rPr>
              <a:t>Plan del cambio</a:t>
            </a:r>
          </a:p>
        </p:txBody>
      </p:sp>
      <p:sp>
        <p:nvSpPr>
          <p:cNvPr id="22" name="TextBox 21"/>
          <p:cNvSpPr txBox="1"/>
          <p:nvPr/>
        </p:nvSpPr>
        <p:spPr>
          <a:xfrm>
            <a:off x="4389120" y="4096512"/>
            <a:ext cx="4297680" cy="420624"/>
          </a:xfrm>
          <a:prstGeom prst="rect">
            <a:avLst/>
          </a:prstGeom>
          <a:noFill/>
        </p:spPr>
        <p:txBody>
          <a:bodyPr wrap="square" lIns="0" tIns="0" rIns="0" bIns="0" anchor="ctr"/>
          <a:lstStyle/>
          <a:p>
            <a:pPr algn="l">
              <a:spcAft>
                <a:spcPts val="400"/>
              </a:spcAft>
            </a:pPr>
            <a:r>
              <a:rPr sz="1300" b="0" i="0">
                <a:solidFill>
                  <a:srgbClr val="1F2937"/>
                </a:solidFill>
                <a:latin typeface="Arial"/>
              </a:rPr>
              <a:t>Versión destino, responsable, rama y pruebas.</a:t>
            </a:r>
          </a:p>
        </p:txBody>
      </p:sp>
      <p:sp>
        <p:nvSpPr>
          <p:cNvPr id="23" name="Rounded Rectangle 22"/>
          <p:cNvSpPr/>
          <p:nvPr/>
        </p:nvSpPr>
        <p:spPr>
          <a:xfrm>
            <a:off x="548640" y="4709160"/>
            <a:ext cx="8229600" cy="566928"/>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77240" y="4782312"/>
            <a:ext cx="3566160" cy="420624"/>
          </a:xfrm>
          <a:prstGeom prst="rect">
            <a:avLst/>
          </a:prstGeom>
          <a:noFill/>
        </p:spPr>
        <p:txBody>
          <a:bodyPr wrap="square" lIns="0" tIns="0" rIns="0" bIns="0" anchor="ctr"/>
          <a:lstStyle/>
          <a:p>
            <a:pPr algn="l">
              <a:spcAft>
                <a:spcPts val="400"/>
              </a:spcAft>
            </a:pPr>
            <a:r>
              <a:rPr sz="1500" b="1" i="0">
                <a:solidFill>
                  <a:srgbClr val="1E2433"/>
                </a:solidFill>
                <a:latin typeface="Arial"/>
              </a:rPr>
              <a:t>Historial de versiones</a:t>
            </a:r>
          </a:p>
        </p:txBody>
      </p:sp>
      <p:sp>
        <p:nvSpPr>
          <p:cNvPr id="25" name="TextBox 24"/>
          <p:cNvSpPr txBox="1"/>
          <p:nvPr/>
        </p:nvSpPr>
        <p:spPr>
          <a:xfrm>
            <a:off x="4389120" y="4782312"/>
            <a:ext cx="4297680" cy="420624"/>
          </a:xfrm>
          <a:prstGeom prst="rect">
            <a:avLst/>
          </a:prstGeom>
          <a:noFill/>
        </p:spPr>
        <p:txBody>
          <a:bodyPr wrap="square" lIns="0" tIns="0" rIns="0" bIns="0" anchor="ctr"/>
          <a:lstStyle/>
          <a:p>
            <a:pPr algn="l">
              <a:spcAft>
                <a:spcPts val="400"/>
              </a:spcAft>
            </a:pPr>
            <a:r>
              <a:rPr sz="1300" b="0" i="0">
                <a:solidFill>
                  <a:srgbClr val="1F2937"/>
                </a:solidFill>
                <a:latin typeface="Arial"/>
              </a:rPr>
              <a:t>Commits, Pull Requests y etiquetas en Git.</a:t>
            </a:r>
          </a:p>
        </p:txBody>
      </p:sp>
      <p:sp>
        <p:nvSpPr>
          <p:cNvPr id="26" name="Rounded Rectangle 25"/>
          <p:cNvSpPr/>
          <p:nvPr/>
        </p:nvSpPr>
        <p:spPr>
          <a:xfrm>
            <a:off x="548640" y="5394960"/>
            <a:ext cx="8229600" cy="566928"/>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77240" y="5468112"/>
            <a:ext cx="3566160" cy="420624"/>
          </a:xfrm>
          <a:prstGeom prst="rect">
            <a:avLst/>
          </a:prstGeom>
          <a:noFill/>
        </p:spPr>
        <p:txBody>
          <a:bodyPr wrap="square" lIns="0" tIns="0" rIns="0" bIns="0" anchor="ctr"/>
          <a:lstStyle/>
          <a:p>
            <a:pPr algn="l">
              <a:spcAft>
                <a:spcPts val="400"/>
              </a:spcAft>
            </a:pPr>
            <a:r>
              <a:rPr sz="1500" b="1" i="0">
                <a:solidFill>
                  <a:srgbClr val="1E2433"/>
                </a:solidFill>
                <a:latin typeface="Arial"/>
              </a:rPr>
              <a:t>Notas de versión</a:t>
            </a:r>
          </a:p>
        </p:txBody>
      </p:sp>
      <p:sp>
        <p:nvSpPr>
          <p:cNvPr id="28" name="TextBox 27"/>
          <p:cNvSpPr txBox="1"/>
          <p:nvPr/>
        </p:nvSpPr>
        <p:spPr>
          <a:xfrm>
            <a:off x="4389120" y="5468112"/>
            <a:ext cx="4297680" cy="420624"/>
          </a:xfrm>
          <a:prstGeom prst="rect">
            <a:avLst/>
          </a:prstGeom>
          <a:noFill/>
        </p:spPr>
        <p:txBody>
          <a:bodyPr wrap="square" lIns="0" tIns="0" rIns="0" bIns="0" anchor="ctr"/>
          <a:lstStyle/>
          <a:p>
            <a:pPr algn="l">
              <a:spcAft>
                <a:spcPts val="400"/>
              </a:spcAft>
            </a:pPr>
            <a:r>
              <a:rPr sz="1300" b="0" i="0">
                <a:solidFill>
                  <a:srgbClr val="1F2937"/>
                </a:solidFill>
                <a:latin typeface="Arial"/>
              </a:rPr>
              <a:t>Qué cambió en cada entrega para el usuario.</a:t>
            </a:r>
          </a:p>
        </p:txBody>
      </p:sp>
      <p:sp>
        <p:nvSpPr>
          <p:cNvPr id="29" name="Rounded Rectangle 28"/>
          <p:cNvSpPr/>
          <p:nvPr/>
        </p:nvSpPr>
        <p:spPr>
          <a:xfrm>
            <a:off x="10469880" y="1280160"/>
            <a:ext cx="1170432" cy="1965960"/>
          </a:xfrm>
          <a:prstGeom prst="roundRect">
            <a:avLst>
              <a:gd name="adj" fmla="val 6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515600" y="1371600"/>
            <a:ext cx="1078992" cy="1828800"/>
          </a:xfrm>
          <a:prstGeom prst="rect">
            <a:avLst/>
          </a:prstGeom>
          <a:noFill/>
        </p:spPr>
        <p:txBody>
          <a:bodyPr wrap="square" lIns="0" tIns="0" rIns="0" bIns="0" anchor="t"/>
          <a:lstStyle/>
          <a:p>
            <a:pPr algn="ctr">
              <a:spcAft>
                <a:spcPts val="400"/>
              </a:spcAft>
            </a:pPr>
            <a:r>
              <a:rPr sz="4400" b="1" i="0">
                <a:solidFill>
                  <a:srgbClr val="F2A900"/>
                </a:solidFill>
                <a:latin typeface="Arial"/>
              </a:rPr>
              <a:t>3</a:t>
            </a:r>
          </a:p>
          <a:p>
            <a:pPr algn="ctr">
              <a:spcAft>
                <a:spcPts val="400"/>
              </a:spcAft>
            </a:pPr>
            <a:r>
              <a:rPr sz="1300" b="0" i="0">
                <a:solidFill>
                  <a:srgbClr val="FFFFFF"/>
                </a:solidFill>
                <a:latin typeface="Arial"/>
              </a:rPr>
              <a:t>artefactos elaborados para nuestro proyecto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64240" cy="640080"/>
          </a:xfrm>
          <a:prstGeom prst="rect">
            <a:avLst/>
          </a:prstGeom>
          <a:noFill/>
        </p:spPr>
        <p:txBody>
          <a:bodyPr wrap="square" lIns="0" tIns="0" rIns="0" bIns="0" anchor="t"/>
          <a:lstStyle/>
          <a:p>
            <a:pPr algn="l">
              <a:spcAft>
                <a:spcPts val="400"/>
              </a:spcAft>
            </a:pPr>
            <a:r>
              <a:rPr sz="3200" b="1" i="0">
                <a:solidFill>
                  <a:srgbClr val="1E2433"/>
                </a:solidFill>
                <a:latin typeface="Arial"/>
              </a:rPr>
              <a:t>Buenas prácticas</a:t>
            </a:r>
          </a:p>
        </p:txBody>
      </p:sp>
      <p:sp>
        <p:nvSpPr>
          <p:cNvPr id="3" name="TextBox 2"/>
          <p:cNvSpPr txBox="1"/>
          <p:nvPr/>
        </p:nvSpPr>
        <p:spPr>
          <a:xfrm>
            <a:off x="10728655" y="6400800"/>
            <a:ext cx="914400" cy="274320"/>
          </a:xfrm>
          <a:prstGeom prst="rect">
            <a:avLst/>
          </a:prstGeom>
          <a:noFill/>
        </p:spPr>
        <p:txBody>
          <a:bodyPr wrap="square" lIns="0" tIns="0" rIns="0" bIns="0" anchor="t"/>
          <a:lstStyle/>
          <a:p>
            <a:pPr algn="r">
              <a:spcAft>
                <a:spcPts val="400"/>
              </a:spcAft>
            </a:pPr>
            <a:r>
              <a:rPr sz="1000" b="0" i="0">
                <a:solidFill>
                  <a:srgbClr val="6B7280"/>
                </a:solidFill>
                <a:latin typeface="Arial"/>
              </a:rPr>
              <a:t>11</a:t>
            </a:r>
          </a:p>
        </p:txBody>
      </p:sp>
      <p:sp>
        <p:nvSpPr>
          <p:cNvPr id="4" name="TextBox 3"/>
          <p:cNvSpPr txBox="1"/>
          <p:nvPr/>
        </p:nvSpPr>
        <p:spPr>
          <a:xfrm>
            <a:off x="548640" y="6400800"/>
            <a:ext cx="7315200" cy="274320"/>
          </a:xfrm>
          <a:prstGeom prst="rect">
            <a:avLst/>
          </a:prstGeom>
          <a:noFill/>
        </p:spPr>
        <p:txBody>
          <a:bodyPr wrap="square" lIns="0" tIns="0" rIns="0" bIns="0" anchor="t"/>
          <a:lstStyle/>
          <a:p>
            <a:pPr algn="l">
              <a:spcAft>
                <a:spcPts val="400"/>
              </a:spcAft>
            </a:pPr>
            <a:r>
              <a:rPr sz="1000" b="0" i="0">
                <a:solidFill>
                  <a:srgbClr val="6B7280"/>
                </a:solidFill>
                <a:latin typeface="Arial"/>
              </a:rPr>
              <a:t>Grupo 5 · Gestión del Cambio · Evo-RRLL</a:t>
            </a:r>
          </a:p>
        </p:txBody>
      </p:sp>
      <p:sp>
        <p:nvSpPr>
          <p:cNvPr id="5" name="Rounded Rectangle 4"/>
          <p:cNvSpPr/>
          <p:nvPr/>
        </p:nvSpPr>
        <p:spPr>
          <a:xfrm>
            <a:off x="548640" y="1325880"/>
            <a:ext cx="5440680" cy="100584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77240" y="1636776"/>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1E2433"/>
                </a:solidFill>
                <a:latin typeface="Arial"/>
              </a:rPr>
              <a:t>✓</a:t>
            </a:r>
          </a:p>
        </p:txBody>
      </p:sp>
      <p:sp>
        <p:nvSpPr>
          <p:cNvPr id="7" name="TextBox 6"/>
          <p:cNvSpPr txBox="1"/>
          <p:nvPr/>
        </p:nvSpPr>
        <p:spPr>
          <a:xfrm>
            <a:off x="1325880" y="1417320"/>
            <a:ext cx="4480560" cy="822960"/>
          </a:xfrm>
          <a:prstGeom prst="rect">
            <a:avLst/>
          </a:prstGeom>
          <a:noFill/>
        </p:spPr>
        <p:txBody>
          <a:bodyPr wrap="square" lIns="0" tIns="0" rIns="0" bIns="0" anchor="ctr"/>
          <a:lstStyle/>
          <a:p>
            <a:pPr algn="l">
              <a:spcAft>
                <a:spcPts val="400"/>
              </a:spcAft>
            </a:pPr>
            <a:r>
              <a:rPr sz="1500" b="0" i="0">
                <a:solidFill>
                  <a:srgbClr val="1F2937"/>
                </a:solidFill>
                <a:latin typeface="Arial"/>
              </a:rPr>
              <a:t>Todo cambio entra por una solicitud escrita, sin excepciones.</a:t>
            </a:r>
          </a:p>
        </p:txBody>
      </p:sp>
      <p:sp>
        <p:nvSpPr>
          <p:cNvPr id="8" name="Rounded Rectangle 7"/>
          <p:cNvSpPr/>
          <p:nvPr/>
        </p:nvSpPr>
        <p:spPr>
          <a:xfrm>
            <a:off x="6172200" y="1325880"/>
            <a:ext cx="5440680" cy="100584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400800" y="1636776"/>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1E2433"/>
                </a:solidFill>
                <a:latin typeface="Arial"/>
              </a:rPr>
              <a:t>✓</a:t>
            </a:r>
          </a:p>
        </p:txBody>
      </p:sp>
      <p:sp>
        <p:nvSpPr>
          <p:cNvPr id="10" name="TextBox 9"/>
          <p:cNvSpPr txBox="1"/>
          <p:nvPr/>
        </p:nvSpPr>
        <p:spPr>
          <a:xfrm>
            <a:off x="6949440" y="1417320"/>
            <a:ext cx="4480560" cy="822960"/>
          </a:xfrm>
          <a:prstGeom prst="rect">
            <a:avLst/>
          </a:prstGeom>
          <a:noFill/>
        </p:spPr>
        <p:txBody>
          <a:bodyPr wrap="square" lIns="0" tIns="0" rIns="0" bIns="0" anchor="ctr"/>
          <a:lstStyle/>
          <a:p>
            <a:pPr algn="l">
              <a:spcAft>
                <a:spcPts val="400"/>
              </a:spcAft>
            </a:pPr>
            <a:r>
              <a:rPr sz="1500" b="0" i="0">
                <a:solidFill>
                  <a:srgbClr val="1F2937"/>
                </a:solidFill>
                <a:latin typeface="Arial"/>
              </a:rPr>
              <a:t>Evaluar el impacto antes de estimar o programar.</a:t>
            </a:r>
          </a:p>
        </p:txBody>
      </p:sp>
      <p:sp>
        <p:nvSpPr>
          <p:cNvPr id="11" name="Rounded Rectangle 10"/>
          <p:cNvSpPr/>
          <p:nvPr/>
        </p:nvSpPr>
        <p:spPr>
          <a:xfrm>
            <a:off x="548640" y="2514600"/>
            <a:ext cx="5440680" cy="100584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777240" y="2825496"/>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1E2433"/>
                </a:solidFill>
                <a:latin typeface="Arial"/>
              </a:rPr>
              <a:t>✓</a:t>
            </a:r>
          </a:p>
        </p:txBody>
      </p:sp>
      <p:sp>
        <p:nvSpPr>
          <p:cNvPr id="13" name="TextBox 12"/>
          <p:cNvSpPr txBox="1"/>
          <p:nvPr/>
        </p:nvSpPr>
        <p:spPr>
          <a:xfrm>
            <a:off x="1325880" y="2606040"/>
            <a:ext cx="4480560" cy="822960"/>
          </a:xfrm>
          <a:prstGeom prst="rect">
            <a:avLst/>
          </a:prstGeom>
          <a:noFill/>
        </p:spPr>
        <p:txBody>
          <a:bodyPr wrap="square" lIns="0" tIns="0" rIns="0" bIns="0" anchor="ctr"/>
          <a:lstStyle/>
          <a:p>
            <a:pPr algn="l">
              <a:spcAft>
                <a:spcPts val="400"/>
              </a:spcAft>
            </a:pPr>
            <a:r>
              <a:rPr sz="1500" b="0" i="0">
                <a:solidFill>
                  <a:srgbClr val="1F2937"/>
                </a:solidFill>
                <a:latin typeface="Arial"/>
              </a:rPr>
              <a:t>Un comité pequeño decide; el desarrollador no se autoaprueba.</a:t>
            </a:r>
          </a:p>
        </p:txBody>
      </p:sp>
      <p:sp>
        <p:nvSpPr>
          <p:cNvPr id="14" name="Rounded Rectangle 13"/>
          <p:cNvSpPr/>
          <p:nvPr/>
        </p:nvSpPr>
        <p:spPr>
          <a:xfrm>
            <a:off x="6172200" y="2514600"/>
            <a:ext cx="5440680" cy="100584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400800" y="2825496"/>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1E2433"/>
                </a:solidFill>
                <a:latin typeface="Arial"/>
              </a:rPr>
              <a:t>✓</a:t>
            </a:r>
          </a:p>
        </p:txBody>
      </p:sp>
      <p:sp>
        <p:nvSpPr>
          <p:cNvPr id="16" name="TextBox 15"/>
          <p:cNvSpPr txBox="1"/>
          <p:nvPr/>
        </p:nvSpPr>
        <p:spPr>
          <a:xfrm>
            <a:off x="6949440" y="2606040"/>
            <a:ext cx="4480560" cy="822960"/>
          </a:xfrm>
          <a:prstGeom prst="rect">
            <a:avLst/>
          </a:prstGeom>
          <a:noFill/>
        </p:spPr>
        <p:txBody>
          <a:bodyPr wrap="square" lIns="0" tIns="0" rIns="0" bIns="0" anchor="ctr"/>
          <a:lstStyle/>
          <a:p>
            <a:pPr algn="l">
              <a:spcAft>
                <a:spcPts val="400"/>
              </a:spcAft>
            </a:pPr>
            <a:r>
              <a:rPr sz="1500" b="0" i="0">
                <a:solidFill>
                  <a:srgbClr val="1F2937"/>
                </a:solidFill>
                <a:latin typeface="Arial"/>
              </a:rPr>
              <a:t>Una rama por cambio y commits con el código de la SC.</a:t>
            </a:r>
          </a:p>
        </p:txBody>
      </p:sp>
      <p:sp>
        <p:nvSpPr>
          <p:cNvPr id="17" name="Rounded Rectangle 16"/>
          <p:cNvSpPr/>
          <p:nvPr/>
        </p:nvSpPr>
        <p:spPr>
          <a:xfrm>
            <a:off x="548640" y="3703320"/>
            <a:ext cx="5440680" cy="100584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777240" y="4014215"/>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1E2433"/>
                </a:solidFill>
                <a:latin typeface="Arial"/>
              </a:rPr>
              <a:t>✓</a:t>
            </a:r>
          </a:p>
        </p:txBody>
      </p:sp>
      <p:sp>
        <p:nvSpPr>
          <p:cNvPr id="19" name="TextBox 18"/>
          <p:cNvSpPr txBox="1"/>
          <p:nvPr/>
        </p:nvSpPr>
        <p:spPr>
          <a:xfrm>
            <a:off x="1325880" y="3794759"/>
            <a:ext cx="4480560" cy="822960"/>
          </a:xfrm>
          <a:prstGeom prst="rect">
            <a:avLst/>
          </a:prstGeom>
          <a:noFill/>
        </p:spPr>
        <p:txBody>
          <a:bodyPr wrap="square" lIns="0" tIns="0" rIns="0" bIns="0" anchor="ctr"/>
          <a:lstStyle/>
          <a:p>
            <a:pPr algn="l">
              <a:spcAft>
                <a:spcPts val="400"/>
              </a:spcAft>
            </a:pPr>
            <a:r>
              <a:rPr sz="1500" b="0" i="0">
                <a:solidFill>
                  <a:srgbClr val="1F2937"/>
                </a:solidFill>
                <a:latin typeface="Arial"/>
              </a:rPr>
              <a:t>Revisión de código (Pull Request) y pruebas antes de integrar.</a:t>
            </a:r>
          </a:p>
        </p:txBody>
      </p:sp>
      <p:sp>
        <p:nvSpPr>
          <p:cNvPr id="20" name="Rounded Rectangle 19"/>
          <p:cNvSpPr/>
          <p:nvPr/>
        </p:nvSpPr>
        <p:spPr>
          <a:xfrm>
            <a:off x="6172200" y="3703320"/>
            <a:ext cx="5440680" cy="100584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400800" y="4014215"/>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1E2433"/>
                </a:solidFill>
                <a:latin typeface="Arial"/>
              </a:rPr>
              <a:t>✓</a:t>
            </a:r>
          </a:p>
        </p:txBody>
      </p:sp>
      <p:sp>
        <p:nvSpPr>
          <p:cNvPr id="22" name="TextBox 21"/>
          <p:cNvSpPr txBox="1"/>
          <p:nvPr/>
        </p:nvSpPr>
        <p:spPr>
          <a:xfrm>
            <a:off x="6949440" y="3794759"/>
            <a:ext cx="4480560" cy="822960"/>
          </a:xfrm>
          <a:prstGeom prst="rect">
            <a:avLst/>
          </a:prstGeom>
          <a:noFill/>
        </p:spPr>
        <p:txBody>
          <a:bodyPr wrap="square" lIns="0" tIns="0" rIns="0" bIns="0" anchor="ctr"/>
          <a:lstStyle/>
          <a:p>
            <a:pPr algn="l">
              <a:spcAft>
                <a:spcPts val="400"/>
              </a:spcAft>
            </a:pPr>
            <a:r>
              <a:rPr sz="1500" b="0" i="0">
                <a:solidFill>
                  <a:srgbClr val="1F2937"/>
                </a:solidFill>
                <a:latin typeface="Arial"/>
              </a:rPr>
              <a:t>Cambios de base de datos como scripts versionados.</a:t>
            </a:r>
          </a:p>
        </p:txBody>
      </p:sp>
      <p:sp>
        <p:nvSpPr>
          <p:cNvPr id="23" name="Rounded Rectangle 22"/>
          <p:cNvSpPr/>
          <p:nvPr/>
        </p:nvSpPr>
        <p:spPr>
          <a:xfrm>
            <a:off x="548640" y="4892040"/>
            <a:ext cx="5440680" cy="100584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777240" y="5202936"/>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1E2433"/>
                </a:solidFill>
                <a:latin typeface="Arial"/>
              </a:rPr>
              <a:t>✓</a:t>
            </a:r>
          </a:p>
        </p:txBody>
      </p:sp>
      <p:sp>
        <p:nvSpPr>
          <p:cNvPr id="25" name="TextBox 24"/>
          <p:cNvSpPr txBox="1"/>
          <p:nvPr/>
        </p:nvSpPr>
        <p:spPr>
          <a:xfrm>
            <a:off x="1325880" y="4983480"/>
            <a:ext cx="4480560" cy="822960"/>
          </a:xfrm>
          <a:prstGeom prst="rect">
            <a:avLst/>
          </a:prstGeom>
          <a:noFill/>
        </p:spPr>
        <p:txBody>
          <a:bodyPr wrap="square" lIns="0" tIns="0" rIns="0" bIns="0" anchor="ctr"/>
          <a:lstStyle/>
          <a:p>
            <a:pPr algn="l">
              <a:spcAft>
                <a:spcPts val="400"/>
              </a:spcAft>
            </a:pPr>
            <a:r>
              <a:rPr sz="1500" b="0" i="0">
                <a:solidFill>
                  <a:srgbClr val="1F2937"/>
                </a:solidFill>
                <a:latin typeface="Arial"/>
              </a:rPr>
              <a:t>Mantener la matriz de cambios actualizada y visible.</a:t>
            </a:r>
          </a:p>
        </p:txBody>
      </p:sp>
      <p:sp>
        <p:nvSpPr>
          <p:cNvPr id="26" name="Rounded Rectangle 25"/>
          <p:cNvSpPr/>
          <p:nvPr/>
        </p:nvSpPr>
        <p:spPr>
          <a:xfrm>
            <a:off x="6172200" y="4892040"/>
            <a:ext cx="5440680" cy="100584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6400800" y="5202936"/>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1E2433"/>
                </a:solidFill>
                <a:latin typeface="Arial"/>
              </a:rPr>
              <a:t>✓</a:t>
            </a:r>
          </a:p>
        </p:txBody>
      </p:sp>
      <p:sp>
        <p:nvSpPr>
          <p:cNvPr id="28" name="TextBox 27"/>
          <p:cNvSpPr txBox="1"/>
          <p:nvPr/>
        </p:nvSpPr>
        <p:spPr>
          <a:xfrm>
            <a:off x="6949440" y="4983480"/>
            <a:ext cx="4480560" cy="822960"/>
          </a:xfrm>
          <a:prstGeom prst="rect">
            <a:avLst/>
          </a:prstGeom>
          <a:noFill/>
        </p:spPr>
        <p:txBody>
          <a:bodyPr wrap="square" lIns="0" tIns="0" rIns="0" bIns="0" anchor="ctr"/>
          <a:lstStyle/>
          <a:p>
            <a:pPr algn="l">
              <a:spcAft>
                <a:spcPts val="400"/>
              </a:spcAft>
            </a:pPr>
            <a:r>
              <a:rPr sz="1500" b="0" i="0">
                <a:solidFill>
                  <a:srgbClr val="1F2937"/>
                </a:solidFill>
                <a:latin typeface="Arial"/>
              </a:rPr>
              <a:t>Comunicar la decisión al solicitante, también si se rechaza.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E2433"/>
        </a:solidFill>
        <a:effectLst/>
      </p:bgPr>
    </p:bg>
    <p:spTree>
      <p:nvGrpSpPr>
        <p:cNvPr id="1" name=""/>
        <p:cNvGrpSpPr/>
        <p:nvPr/>
      </p:nvGrpSpPr>
      <p:grpSpPr>
        <a:xfrm>
          <a:off x="0" y="0"/>
          <a:ext cx="0" cy="0"/>
          <a:chOff x="0" y="0"/>
          <a:chExt cx="0" cy="0"/>
        </a:xfrm>
      </p:grpSpPr>
      <p:sp>
        <p:nvSpPr>
          <p:cNvPr id="2" name="TextBox 1"/>
          <p:cNvSpPr txBox="1"/>
          <p:nvPr/>
        </p:nvSpPr>
        <p:spPr>
          <a:xfrm>
            <a:off x="10728655" y="6400800"/>
            <a:ext cx="914400" cy="274320"/>
          </a:xfrm>
          <a:prstGeom prst="rect">
            <a:avLst/>
          </a:prstGeom>
          <a:noFill/>
        </p:spPr>
        <p:txBody>
          <a:bodyPr wrap="square" lIns="0" tIns="0" rIns="0" bIns="0" anchor="t"/>
          <a:lstStyle/>
          <a:p>
            <a:pPr algn="r">
              <a:spcAft>
                <a:spcPts val="400"/>
              </a:spcAft>
            </a:pPr>
            <a:r>
              <a:rPr sz="1000" b="0" i="0">
                <a:solidFill>
                  <a:srgbClr val="6B7280"/>
                </a:solidFill>
                <a:latin typeface="Arial"/>
              </a:rPr>
              <a:t>12</a:t>
            </a:r>
          </a:p>
        </p:txBody>
      </p:sp>
      <p:sp>
        <p:nvSpPr>
          <p:cNvPr id="3" name="TextBox 2"/>
          <p:cNvSpPr txBox="1"/>
          <p:nvPr/>
        </p:nvSpPr>
        <p:spPr>
          <a:xfrm>
            <a:off x="548640" y="6400800"/>
            <a:ext cx="7315200" cy="274320"/>
          </a:xfrm>
          <a:prstGeom prst="rect">
            <a:avLst/>
          </a:prstGeom>
          <a:noFill/>
        </p:spPr>
        <p:txBody>
          <a:bodyPr wrap="square" lIns="0" tIns="0" rIns="0" bIns="0" anchor="t"/>
          <a:lstStyle/>
          <a:p>
            <a:pPr algn="l">
              <a:spcAft>
                <a:spcPts val="400"/>
              </a:spcAft>
            </a:pPr>
            <a:r>
              <a:rPr sz="1000" b="0" i="0">
                <a:solidFill>
                  <a:srgbClr val="6B7280"/>
                </a:solidFill>
                <a:latin typeface="Arial"/>
              </a:rPr>
              <a:t>Grupo 5 · Gestión del Cambio · Evo-RRLL</a:t>
            </a:r>
          </a:p>
        </p:txBody>
      </p:sp>
      <p:sp>
        <p:nvSpPr>
          <p:cNvPr id="4" name="TextBox 3"/>
          <p:cNvSpPr txBox="1"/>
          <p:nvPr/>
        </p:nvSpPr>
        <p:spPr>
          <a:xfrm>
            <a:off x="731520" y="1280160"/>
            <a:ext cx="10058400" cy="457200"/>
          </a:xfrm>
          <a:prstGeom prst="rect">
            <a:avLst/>
          </a:prstGeom>
          <a:noFill/>
        </p:spPr>
        <p:txBody>
          <a:bodyPr wrap="square" lIns="0" tIns="0" rIns="0" bIns="0" anchor="t"/>
          <a:lstStyle/>
          <a:p>
            <a:pPr algn="l">
              <a:spcAft>
                <a:spcPts val="400"/>
              </a:spcAft>
            </a:pPr>
            <a:r>
              <a:rPr sz="1600" b="1" i="0">
                <a:solidFill>
                  <a:srgbClr val="F2A900"/>
                </a:solidFill>
                <a:latin typeface="Arial"/>
              </a:rPr>
              <a:t>PARTE 2 · DESARROLLO PRÁCTICO</a:t>
            </a:r>
          </a:p>
        </p:txBody>
      </p:sp>
      <p:sp>
        <p:nvSpPr>
          <p:cNvPr id="5" name="TextBox 4"/>
          <p:cNvSpPr txBox="1"/>
          <p:nvPr/>
        </p:nvSpPr>
        <p:spPr>
          <a:xfrm>
            <a:off x="731520" y="1783080"/>
            <a:ext cx="10515600" cy="1463040"/>
          </a:xfrm>
          <a:prstGeom prst="rect">
            <a:avLst/>
          </a:prstGeom>
          <a:noFill/>
        </p:spPr>
        <p:txBody>
          <a:bodyPr wrap="square" lIns="0" tIns="0" rIns="0" bIns="0" anchor="t"/>
          <a:lstStyle/>
          <a:p>
            <a:pPr algn="l">
              <a:spcAft>
                <a:spcPts val="0"/>
              </a:spcAft>
            </a:pPr>
            <a:r>
              <a:rPr sz="3800" b="1" i="0">
                <a:solidFill>
                  <a:srgbClr val="FFFFFF"/>
                </a:solidFill>
                <a:latin typeface="Arial"/>
              </a:rPr>
              <a:t>Nuestro proyecto:</a:t>
            </a:r>
          </a:p>
          <a:p>
            <a:pPr algn="l">
              <a:spcAft>
                <a:spcPts val="0"/>
              </a:spcAft>
            </a:pPr>
            <a:r>
              <a:rPr sz="3800" b="1" i="0">
                <a:solidFill>
                  <a:srgbClr val="FFFFFF"/>
                </a:solidFill>
                <a:latin typeface="Arial"/>
              </a:rPr>
              <a:t>Sistema de RR.HH. Evo-RRLL</a:t>
            </a:r>
          </a:p>
        </p:txBody>
      </p:sp>
      <p:sp>
        <p:nvSpPr>
          <p:cNvPr id="6" name="TextBox 5"/>
          <p:cNvSpPr txBox="1"/>
          <p:nvPr/>
        </p:nvSpPr>
        <p:spPr>
          <a:xfrm>
            <a:off x="731520" y="3337560"/>
            <a:ext cx="10515600" cy="822960"/>
          </a:xfrm>
          <a:prstGeom prst="rect">
            <a:avLst/>
          </a:prstGeom>
          <a:noFill/>
        </p:spPr>
        <p:txBody>
          <a:bodyPr wrap="square" lIns="0" tIns="0" rIns="0" bIns="0" anchor="t"/>
          <a:lstStyle/>
          <a:p>
            <a:pPr algn="l">
              <a:spcAft>
                <a:spcPts val="400"/>
              </a:spcAft>
            </a:pPr>
            <a:r>
              <a:rPr sz="1600" b="0" i="0">
                <a:solidFill>
                  <a:srgbClr val="C7CBD3"/>
                </a:solidFill>
                <a:latin typeface="Arial"/>
              </a:rPr>
              <a:t>Aplicación web ASP.NET Core MVC (.NET 10) con arquitectura en capas: Entidades, Datos, Lógica y Web, sobre SQL Server. Versionada en GitHub con ramas y Pull Requests.</a:t>
            </a:r>
          </a:p>
        </p:txBody>
      </p:sp>
      <p:sp>
        <p:nvSpPr>
          <p:cNvPr id="7" name="Rounded Rectangle 6"/>
          <p:cNvSpPr/>
          <p:nvPr/>
        </p:nvSpPr>
        <p:spPr>
          <a:xfrm>
            <a:off x="731520" y="4526280"/>
            <a:ext cx="2560320" cy="1508760"/>
          </a:xfrm>
          <a:prstGeom prst="roundRect">
            <a:avLst>
              <a:gd name="adj" fmla="val 8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4617720"/>
            <a:ext cx="2194560" cy="731520"/>
          </a:xfrm>
          <a:prstGeom prst="rect">
            <a:avLst/>
          </a:prstGeom>
          <a:noFill/>
        </p:spPr>
        <p:txBody>
          <a:bodyPr wrap="square" lIns="0" tIns="0" rIns="0" bIns="0" anchor="t"/>
          <a:lstStyle/>
          <a:p>
            <a:pPr algn="l">
              <a:spcAft>
                <a:spcPts val="400"/>
              </a:spcAft>
            </a:pPr>
            <a:r>
              <a:rPr sz="4000" b="1" i="0">
                <a:solidFill>
                  <a:srgbClr val="F2A900"/>
                </a:solidFill>
                <a:latin typeface="Arial"/>
              </a:rPr>
              <a:t>4</a:t>
            </a:r>
          </a:p>
        </p:txBody>
      </p:sp>
      <p:sp>
        <p:nvSpPr>
          <p:cNvPr id="9" name="TextBox 8"/>
          <p:cNvSpPr txBox="1"/>
          <p:nvPr/>
        </p:nvSpPr>
        <p:spPr>
          <a:xfrm>
            <a:off x="960120" y="5394960"/>
            <a:ext cx="2194560" cy="548640"/>
          </a:xfrm>
          <a:prstGeom prst="rect">
            <a:avLst/>
          </a:prstGeom>
          <a:noFill/>
        </p:spPr>
        <p:txBody>
          <a:bodyPr wrap="square" lIns="0" tIns="0" rIns="0" bIns="0" anchor="t"/>
          <a:lstStyle/>
          <a:p>
            <a:pPr algn="l">
              <a:spcAft>
                <a:spcPts val="400"/>
              </a:spcAft>
            </a:pPr>
            <a:r>
              <a:rPr sz="1400" b="0" i="0">
                <a:solidFill>
                  <a:srgbClr val="FFFFFF"/>
                </a:solidFill>
                <a:latin typeface="Arial"/>
              </a:rPr>
              <a:t>capas del sistema</a:t>
            </a:r>
          </a:p>
        </p:txBody>
      </p:sp>
      <p:sp>
        <p:nvSpPr>
          <p:cNvPr id="10" name="Rounded Rectangle 9"/>
          <p:cNvSpPr/>
          <p:nvPr/>
        </p:nvSpPr>
        <p:spPr>
          <a:xfrm>
            <a:off x="3520439" y="4526280"/>
            <a:ext cx="2560320" cy="1508760"/>
          </a:xfrm>
          <a:prstGeom prst="roundRect">
            <a:avLst>
              <a:gd name="adj" fmla="val 8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749039" y="4617720"/>
            <a:ext cx="2194560" cy="731520"/>
          </a:xfrm>
          <a:prstGeom prst="rect">
            <a:avLst/>
          </a:prstGeom>
          <a:noFill/>
        </p:spPr>
        <p:txBody>
          <a:bodyPr wrap="square" lIns="0" tIns="0" rIns="0" bIns="0" anchor="t"/>
          <a:lstStyle/>
          <a:p>
            <a:pPr algn="l">
              <a:spcAft>
                <a:spcPts val="400"/>
              </a:spcAft>
            </a:pPr>
            <a:r>
              <a:rPr sz="4000" b="1" i="0">
                <a:solidFill>
                  <a:srgbClr val="F2A900"/>
                </a:solidFill>
                <a:latin typeface="Arial"/>
              </a:rPr>
              <a:t>17</a:t>
            </a:r>
          </a:p>
        </p:txBody>
      </p:sp>
      <p:sp>
        <p:nvSpPr>
          <p:cNvPr id="12" name="TextBox 11"/>
          <p:cNvSpPr txBox="1"/>
          <p:nvPr/>
        </p:nvSpPr>
        <p:spPr>
          <a:xfrm>
            <a:off x="3749039" y="5394960"/>
            <a:ext cx="2194560" cy="548640"/>
          </a:xfrm>
          <a:prstGeom prst="rect">
            <a:avLst/>
          </a:prstGeom>
          <a:noFill/>
        </p:spPr>
        <p:txBody>
          <a:bodyPr wrap="square" lIns="0" tIns="0" rIns="0" bIns="0" anchor="t"/>
          <a:lstStyle/>
          <a:p>
            <a:pPr algn="l">
              <a:spcAft>
                <a:spcPts val="400"/>
              </a:spcAft>
            </a:pPr>
            <a:r>
              <a:rPr sz="1400" b="0" i="0">
                <a:solidFill>
                  <a:srgbClr val="FFFFFF"/>
                </a:solidFill>
                <a:latin typeface="Arial"/>
              </a:rPr>
              <a:t>módulos (controladores)</a:t>
            </a:r>
          </a:p>
        </p:txBody>
      </p:sp>
      <p:sp>
        <p:nvSpPr>
          <p:cNvPr id="13" name="Rounded Rectangle 12"/>
          <p:cNvSpPr/>
          <p:nvPr/>
        </p:nvSpPr>
        <p:spPr>
          <a:xfrm>
            <a:off x="6309359" y="4526280"/>
            <a:ext cx="2560320" cy="1508760"/>
          </a:xfrm>
          <a:prstGeom prst="roundRect">
            <a:avLst>
              <a:gd name="adj" fmla="val 8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37959" y="4617720"/>
            <a:ext cx="2194560" cy="731520"/>
          </a:xfrm>
          <a:prstGeom prst="rect">
            <a:avLst/>
          </a:prstGeom>
          <a:noFill/>
        </p:spPr>
        <p:txBody>
          <a:bodyPr wrap="square" lIns="0" tIns="0" rIns="0" bIns="0" anchor="t"/>
          <a:lstStyle/>
          <a:p>
            <a:pPr algn="l">
              <a:spcAft>
                <a:spcPts val="400"/>
              </a:spcAft>
            </a:pPr>
            <a:r>
              <a:rPr sz="4000" b="1" i="0">
                <a:solidFill>
                  <a:srgbClr val="F2A900"/>
                </a:solidFill>
                <a:latin typeface="Arial"/>
              </a:rPr>
              <a:t>77</a:t>
            </a:r>
          </a:p>
        </p:txBody>
      </p:sp>
      <p:sp>
        <p:nvSpPr>
          <p:cNvPr id="15" name="TextBox 14"/>
          <p:cNvSpPr txBox="1"/>
          <p:nvPr/>
        </p:nvSpPr>
        <p:spPr>
          <a:xfrm>
            <a:off x="6537959" y="5394960"/>
            <a:ext cx="2194560" cy="548640"/>
          </a:xfrm>
          <a:prstGeom prst="rect">
            <a:avLst/>
          </a:prstGeom>
          <a:noFill/>
        </p:spPr>
        <p:txBody>
          <a:bodyPr wrap="square" lIns="0" tIns="0" rIns="0" bIns="0" anchor="t"/>
          <a:lstStyle/>
          <a:p>
            <a:pPr algn="l">
              <a:spcAft>
                <a:spcPts val="400"/>
              </a:spcAft>
            </a:pPr>
            <a:r>
              <a:rPr sz="1400" b="0" i="0">
                <a:solidFill>
                  <a:srgbClr val="FFFFFF"/>
                </a:solidFill>
                <a:latin typeface="Arial"/>
              </a:rPr>
              <a:t>tablas en la BD RRHH_Nuevo</a:t>
            </a:r>
          </a:p>
        </p:txBody>
      </p:sp>
      <p:sp>
        <p:nvSpPr>
          <p:cNvPr id="16" name="Rounded Rectangle 15"/>
          <p:cNvSpPr/>
          <p:nvPr/>
        </p:nvSpPr>
        <p:spPr>
          <a:xfrm>
            <a:off x="9098280" y="4526280"/>
            <a:ext cx="2560320" cy="1508760"/>
          </a:xfrm>
          <a:prstGeom prst="roundRect">
            <a:avLst>
              <a:gd name="adj" fmla="val 8000"/>
            </a:avLst>
          </a:prstGeom>
          <a:solidFill>
            <a:srgbClr val="2A31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326880" y="4617720"/>
            <a:ext cx="2194560" cy="731520"/>
          </a:xfrm>
          <a:prstGeom prst="rect">
            <a:avLst/>
          </a:prstGeom>
          <a:noFill/>
        </p:spPr>
        <p:txBody>
          <a:bodyPr wrap="square" lIns="0" tIns="0" rIns="0" bIns="0" anchor="t"/>
          <a:lstStyle/>
          <a:p>
            <a:pPr algn="l">
              <a:spcAft>
                <a:spcPts val="400"/>
              </a:spcAft>
            </a:pPr>
            <a:r>
              <a:rPr sz="4000" b="1" i="0">
                <a:solidFill>
                  <a:srgbClr val="F2A900"/>
                </a:solidFill>
                <a:latin typeface="Arial"/>
              </a:rPr>
              <a:t>7</a:t>
            </a:r>
          </a:p>
        </p:txBody>
      </p:sp>
      <p:sp>
        <p:nvSpPr>
          <p:cNvPr id="18" name="TextBox 17"/>
          <p:cNvSpPr txBox="1"/>
          <p:nvPr/>
        </p:nvSpPr>
        <p:spPr>
          <a:xfrm>
            <a:off x="9326880" y="5394960"/>
            <a:ext cx="2194560" cy="548640"/>
          </a:xfrm>
          <a:prstGeom prst="rect">
            <a:avLst/>
          </a:prstGeom>
          <a:noFill/>
        </p:spPr>
        <p:txBody>
          <a:bodyPr wrap="square" lIns="0" tIns="0" rIns="0" bIns="0" anchor="t"/>
          <a:lstStyle/>
          <a:p>
            <a:pPr algn="l">
              <a:spcAft>
                <a:spcPts val="400"/>
              </a:spcAft>
            </a:pPr>
            <a:r>
              <a:rPr sz="1400" b="0" i="0">
                <a:solidFill>
                  <a:srgbClr val="FFFFFF"/>
                </a:solidFill>
                <a:latin typeface="Arial"/>
              </a:rPr>
              <a:t>solicitudes de cambio</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64240" cy="640080"/>
          </a:xfrm>
          <a:prstGeom prst="rect">
            <a:avLst/>
          </a:prstGeom>
          <a:noFill/>
        </p:spPr>
        <p:txBody>
          <a:bodyPr wrap="square" lIns="0" tIns="0" rIns="0" bIns="0" anchor="t"/>
          <a:lstStyle/>
          <a:p>
            <a:pPr algn="l">
              <a:spcAft>
                <a:spcPts val="400"/>
              </a:spcAft>
            </a:pPr>
            <a:r>
              <a:rPr sz="3200" b="1" i="0">
                <a:solidFill>
                  <a:srgbClr val="1E2433"/>
                </a:solidFill>
                <a:latin typeface="Arial"/>
              </a:rPr>
              <a:t>Cambios identificados en el proyecto</a:t>
            </a:r>
          </a:p>
        </p:txBody>
      </p:sp>
      <p:sp>
        <p:nvSpPr>
          <p:cNvPr id="3" name="TextBox 2"/>
          <p:cNvSpPr txBox="1"/>
          <p:nvPr/>
        </p:nvSpPr>
        <p:spPr>
          <a:xfrm>
            <a:off x="548640" y="1024128"/>
            <a:ext cx="11064240" cy="411480"/>
          </a:xfrm>
          <a:prstGeom prst="rect">
            <a:avLst/>
          </a:prstGeom>
          <a:noFill/>
        </p:spPr>
        <p:txBody>
          <a:bodyPr wrap="square" lIns="0" tIns="0" rIns="0" bIns="0" anchor="t"/>
          <a:lstStyle/>
          <a:p>
            <a:pPr algn="l">
              <a:spcAft>
                <a:spcPts val="400"/>
              </a:spcAft>
            </a:pPr>
            <a:r>
              <a:rPr sz="1600" b="0" i="0">
                <a:solidFill>
                  <a:srgbClr val="6B7280"/>
                </a:solidFill>
                <a:latin typeface="Arial"/>
              </a:rPr>
              <a:t>Registramos 7 solicitudes: 5 detectadas al revisar el código y 2 ya implementadas.</a:t>
            </a:r>
          </a:p>
        </p:txBody>
      </p:sp>
      <p:sp>
        <p:nvSpPr>
          <p:cNvPr id="4" name="TextBox 3"/>
          <p:cNvSpPr txBox="1"/>
          <p:nvPr/>
        </p:nvSpPr>
        <p:spPr>
          <a:xfrm>
            <a:off x="10728655" y="6400800"/>
            <a:ext cx="914400" cy="274320"/>
          </a:xfrm>
          <a:prstGeom prst="rect">
            <a:avLst/>
          </a:prstGeom>
          <a:noFill/>
        </p:spPr>
        <p:txBody>
          <a:bodyPr wrap="square" lIns="0" tIns="0" rIns="0" bIns="0" anchor="t"/>
          <a:lstStyle/>
          <a:p>
            <a:pPr algn="r">
              <a:spcAft>
                <a:spcPts val="400"/>
              </a:spcAft>
            </a:pPr>
            <a:r>
              <a:rPr sz="1000" b="0" i="0">
                <a:solidFill>
                  <a:srgbClr val="6B7280"/>
                </a:solidFill>
                <a:latin typeface="Arial"/>
              </a:rPr>
              <a:t>13</a:t>
            </a:r>
          </a:p>
        </p:txBody>
      </p:sp>
      <p:sp>
        <p:nvSpPr>
          <p:cNvPr id="5" name="TextBox 4"/>
          <p:cNvSpPr txBox="1"/>
          <p:nvPr/>
        </p:nvSpPr>
        <p:spPr>
          <a:xfrm>
            <a:off x="548640" y="6400800"/>
            <a:ext cx="7315200" cy="274320"/>
          </a:xfrm>
          <a:prstGeom prst="rect">
            <a:avLst/>
          </a:prstGeom>
          <a:noFill/>
        </p:spPr>
        <p:txBody>
          <a:bodyPr wrap="square" lIns="0" tIns="0" rIns="0" bIns="0" anchor="t"/>
          <a:lstStyle/>
          <a:p>
            <a:pPr algn="l">
              <a:spcAft>
                <a:spcPts val="400"/>
              </a:spcAft>
            </a:pPr>
            <a:r>
              <a:rPr sz="1000" b="0" i="0">
                <a:solidFill>
                  <a:srgbClr val="6B7280"/>
                </a:solidFill>
                <a:latin typeface="Arial"/>
              </a:rPr>
              <a:t>Grupo 5 · Gestión del Cambio · Evo-RRLL</a:t>
            </a:r>
          </a:p>
        </p:txBody>
      </p:sp>
      <p:graphicFrame>
        <p:nvGraphicFramePr>
          <p:cNvPr id="6" name="Table 5"/>
          <p:cNvGraphicFramePr>
            <a:graphicFrameLocks noGrp="1"/>
          </p:cNvGraphicFramePr>
          <p:nvPr/>
        </p:nvGraphicFramePr>
        <p:xfrm>
          <a:off x="548640" y="1600200"/>
          <a:ext cx="11064240" cy="4105649"/>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gridCol w="379476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1051560">
                  <a:extLst>
                    <a:ext uri="{9D8B030D-6E8A-4147-A177-3AD203B41FA5}">
                      <a16:colId xmlns:a16="http://schemas.microsoft.com/office/drawing/2014/main" val="20004"/>
                    </a:ext>
                  </a:extLst>
                </a:gridCol>
                <a:gridCol w="1325880">
                  <a:extLst>
                    <a:ext uri="{9D8B030D-6E8A-4147-A177-3AD203B41FA5}">
                      <a16:colId xmlns:a16="http://schemas.microsoft.com/office/drawing/2014/main" val="20005"/>
                    </a:ext>
                  </a:extLst>
                </a:gridCol>
              </a:tblGrid>
              <a:tr h="457200">
                <a:tc>
                  <a:txBody>
                    <a:bodyPr/>
                    <a:lstStyle/>
                    <a:p>
                      <a:r>
                        <a:rPr sz="1300" b="1">
                          <a:solidFill>
                            <a:srgbClr val="FFFFFF"/>
                          </a:solidFill>
                          <a:latin typeface="Arial"/>
                        </a:rPr>
                        <a:t>ID</a:t>
                      </a:r>
                    </a:p>
                  </a:txBody>
                  <a:tcPr anchor="ctr">
                    <a:solidFill>
                      <a:srgbClr val="1E2433"/>
                    </a:solidFill>
                  </a:tcPr>
                </a:tc>
                <a:tc>
                  <a:txBody>
                    <a:bodyPr/>
                    <a:lstStyle/>
                    <a:p>
                      <a:r>
                        <a:rPr sz="1300" b="1">
                          <a:solidFill>
                            <a:srgbClr val="FFFFFF"/>
                          </a:solidFill>
                          <a:latin typeface="Arial"/>
                        </a:rPr>
                        <a:t>Cambio solicitado</a:t>
                      </a:r>
                    </a:p>
                  </a:txBody>
                  <a:tcPr anchor="ctr">
                    <a:solidFill>
                      <a:srgbClr val="1E2433"/>
                    </a:solidFill>
                  </a:tcPr>
                </a:tc>
                <a:tc>
                  <a:txBody>
                    <a:bodyPr/>
                    <a:lstStyle/>
                    <a:p>
                      <a:r>
                        <a:rPr sz="1300" b="1">
                          <a:solidFill>
                            <a:srgbClr val="FFFFFF"/>
                          </a:solidFill>
                          <a:latin typeface="Arial"/>
                        </a:rPr>
                        <a:t>Vinculado a</a:t>
                      </a:r>
                    </a:p>
                  </a:txBody>
                  <a:tcPr anchor="ctr">
                    <a:solidFill>
                      <a:srgbClr val="1E2433"/>
                    </a:solidFill>
                  </a:tcPr>
                </a:tc>
                <a:tc>
                  <a:txBody>
                    <a:bodyPr/>
                    <a:lstStyle/>
                    <a:p>
                      <a:r>
                        <a:rPr sz="1300" b="1">
                          <a:solidFill>
                            <a:srgbClr val="FFFFFF"/>
                          </a:solidFill>
                          <a:latin typeface="Arial"/>
                        </a:rPr>
                        <a:t>Tipo</a:t>
                      </a:r>
                    </a:p>
                  </a:txBody>
                  <a:tcPr anchor="ctr">
                    <a:solidFill>
                      <a:srgbClr val="1E2433"/>
                    </a:solidFill>
                  </a:tcPr>
                </a:tc>
                <a:tc>
                  <a:txBody>
                    <a:bodyPr/>
                    <a:lstStyle/>
                    <a:p>
                      <a:r>
                        <a:rPr sz="1300" b="1">
                          <a:solidFill>
                            <a:srgbClr val="FFFFFF"/>
                          </a:solidFill>
                          <a:latin typeface="Arial"/>
                        </a:rPr>
                        <a:t>Prioridad</a:t>
                      </a:r>
                    </a:p>
                  </a:txBody>
                  <a:tcPr anchor="ctr">
                    <a:solidFill>
                      <a:srgbClr val="1E2433"/>
                    </a:solidFill>
                  </a:tcPr>
                </a:tc>
                <a:tc>
                  <a:txBody>
                    <a:bodyPr/>
                    <a:lstStyle/>
                    <a:p>
                      <a:r>
                        <a:rPr sz="1300" b="1">
                          <a:solidFill>
                            <a:srgbClr val="FFFFFF"/>
                          </a:solidFill>
                          <a:latin typeface="Arial"/>
                        </a:rPr>
                        <a:t>Estado</a:t>
                      </a:r>
                    </a:p>
                  </a:txBody>
                  <a:tcPr anchor="ctr">
                    <a:solidFill>
                      <a:srgbClr val="1E2433"/>
                    </a:solidFill>
                  </a:tcPr>
                </a:tc>
                <a:extLst>
                  <a:ext uri="{0D108BD9-81ED-4DB2-BD59-A6C34878D82A}">
                    <a16:rowId xmlns:a16="http://schemas.microsoft.com/office/drawing/2014/main" val="10000"/>
                  </a:ext>
                </a:extLst>
              </a:tr>
              <a:tr h="521207">
                <a:tc>
                  <a:txBody>
                    <a:bodyPr/>
                    <a:lstStyle/>
                    <a:p>
                      <a:r>
                        <a:rPr sz="1300" b="1">
                          <a:solidFill>
                            <a:srgbClr val="1F2937"/>
                          </a:solidFill>
                          <a:latin typeface="Arial"/>
                        </a:rPr>
                        <a:t>SC-001</a:t>
                      </a:r>
                    </a:p>
                  </a:txBody>
                  <a:tcPr anchor="ctr">
                    <a:solidFill>
                      <a:srgbClr val="FFFFFF"/>
                    </a:solidFill>
                  </a:tcPr>
                </a:tc>
                <a:tc>
                  <a:txBody>
                    <a:bodyPr/>
                    <a:lstStyle/>
                    <a:p>
                      <a:r>
                        <a:rPr sz="1300" b="0">
                          <a:solidFill>
                            <a:srgbClr val="1F2937"/>
                          </a:solidFill>
                          <a:latin typeface="Arial"/>
                        </a:rPr>
                        <a:t>Validar fechas, horas y solapamiento al registrar permisos</a:t>
                      </a:r>
                    </a:p>
                  </a:txBody>
                  <a:tcPr anchor="ctr">
                    <a:solidFill>
                      <a:srgbClr val="FFFFFF"/>
                    </a:solidFill>
                  </a:tcPr>
                </a:tc>
                <a:tc>
                  <a:txBody>
                    <a:bodyPr/>
                    <a:lstStyle/>
                    <a:p>
                      <a:r>
                        <a:rPr sz="1300" b="0">
                          <a:solidFill>
                            <a:srgbClr val="1F2937"/>
                          </a:solidFill>
                          <a:latin typeface="Arial"/>
                        </a:rPr>
                        <a:t>Corrección de error · Regla de negocio</a:t>
                      </a:r>
                    </a:p>
                  </a:txBody>
                  <a:tcPr anchor="ctr">
                    <a:solidFill>
                      <a:srgbClr val="FFFFFF"/>
                    </a:solidFill>
                  </a:tcPr>
                </a:tc>
                <a:tc>
                  <a:txBody>
                    <a:bodyPr/>
                    <a:lstStyle/>
                    <a:p>
                      <a:r>
                        <a:rPr sz="1300" b="0">
                          <a:solidFill>
                            <a:srgbClr val="1F2937"/>
                          </a:solidFill>
                          <a:latin typeface="Arial"/>
                        </a:rPr>
                        <a:t>Correctivo</a:t>
                      </a:r>
                    </a:p>
                  </a:txBody>
                  <a:tcPr anchor="ctr">
                    <a:solidFill>
                      <a:srgbClr val="FFFFFF"/>
                    </a:solidFill>
                  </a:tcPr>
                </a:tc>
                <a:tc>
                  <a:txBody>
                    <a:bodyPr/>
                    <a:lstStyle/>
                    <a:p>
                      <a:r>
                        <a:rPr sz="1300" b="1">
                          <a:solidFill>
                            <a:srgbClr val="B42318"/>
                          </a:solidFill>
                          <a:latin typeface="Arial"/>
                        </a:rPr>
                        <a:t>Alta</a:t>
                      </a:r>
                    </a:p>
                  </a:txBody>
                  <a:tcPr anchor="ctr">
                    <a:solidFill>
                      <a:srgbClr val="FFFFFF"/>
                    </a:solidFill>
                  </a:tcPr>
                </a:tc>
                <a:tc>
                  <a:txBody>
                    <a:bodyPr/>
                    <a:lstStyle/>
                    <a:p>
                      <a:r>
                        <a:rPr sz="1300" b="1">
                          <a:solidFill>
                            <a:srgbClr val="1E7A46"/>
                          </a:solidFill>
                          <a:latin typeface="Arial"/>
                        </a:rPr>
                        <a:t>Aprobado</a:t>
                      </a:r>
                    </a:p>
                  </a:txBody>
                  <a:tcPr anchor="ctr">
                    <a:solidFill>
                      <a:srgbClr val="E7F5EC"/>
                    </a:solidFill>
                  </a:tcPr>
                </a:tc>
                <a:extLst>
                  <a:ext uri="{0D108BD9-81ED-4DB2-BD59-A6C34878D82A}">
                    <a16:rowId xmlns:a16="http://schemas.microsoft.com/office/drawing/2014/main" val="10001"/>
                  </a:ext>
                </a:extLst>
              </a:tr>
              <a:tr h="521207">
                <a:tc>
                  <a:txBody>
                    <a:bodyPr/>
                    <a:lstStyle/>
                    <a:p>
                      <a:r>
                        <a:rPr sz="1300" b="1">
                          <a:solidFill>
                            <a:srgbClr val="1F2937"/>
                          </a:solidFill>
                          <a:latin typeface="Arial"/>
                        </a:rPr>
                        <a:t>SC-002</a:t>
                      </a:r>
                    </a:p>
                  </a:txBody>
                  <a:tcPr anchor="ctr">
                    <a:solidFill>
                      <a:srgbClr val="F3F4F6"/>
                    </a:solidFill>
                  </a:tcPr>
                </a:tc>
                <a:tc>
                  <a:txBody>
                    <a:bodyPr/>
                    <a:lstStyle/>
                    <a:p>
                      <a:r>
                        <a:rPr sz="1300" b="0">
                          <a:solidFill>
                            <a:srgbClr val="1F2937"/>
                          </a:solidFill>
                          <a:latin typeface="Arial"/>
                        </a:rPr>
                        <a:t>Bloquear la cuenta tras intentos fallidos de inicio de sesión</a:t>
                      </a:r>
                    </a:p>
                  </a:txBody>
                  <a:tcPr anchor="ctr">
                    <a:solidFill>
                      <a:srgbClr val="F3F4F6"/>
                    </a:solidFill>
                  </a:tcPr>
                </a:tc>
                <a:tc>
                  <a:txBody>
                    <a:bodyPr/>
                    <a:lstStyle/>
                    <a:p>
                      <a:r>
                        <a:rPr sz="1300" b="0">
                          <a:solidFill>
                            <a:srgbClr val="1F2937"/>
                          </a:solidFill>
                          <a:latin typeface="Arial"/>
                        </a:rPr>
                        <a:t>Seguridad · Ajuste en BD</a:t>
                      </a:r>
                    </a:p>
                  </a:txBody>
                  <a:tcPr anchor="ctr">
                    <a:solidFill>
                      <a:srgbClr val="F3F4F6"/>
                    </a:solidFill>
                  </a:tcPr>
                </a:tc>
                <a:tc>
                  <a:txBody>
                    <a:bodyPr/>
                    <a:lstStyle/>
                    <a:p>
                      <a:r>
                        <a:rPr sz="1300" b="0">
                          <a:solidFill>
                            <a:srgbClr val="1F2937"/>
                          </a:solidFill>
                          <a:latin typeface="Arial"/>
                        </a:rPr>
                        <a:t>Preventivo</a:t>
                      </a:r>
                    </a:p>
                  </a:txBody>
                  <a:tcPr anchor="ctr">
                    <a:solidFill>
                      <a:srgbClr val="F3F4F6"/>
                    </a:solidFill>
                  </a:tcPr>
                </a:tc>
                <a:tc>
                  <a:txBody>
                    <a:bodyPr/>
                    <a:lstStyle/>
                    <a:p>
                      <a:r>
                        <a:rPr sz="1300" b="1">
                          <a:solidFill>
                            <a:srgbClr val="B42318"/>
                          </a:solidFill>
                          <a:latin typeface="Arial"/>
                        </a:rPr>
                        <a:t>Alta</a:t>
                      </a:r>
                    </a:p>
                  </a:txBody>
                  <a:tcPr anchor="ctr">
                    <a:solidFill>
                      <a:srgbClr val="F3F4F6"/>
                    </a:solidFill>
                  </a:tcPr>
                </a:tc>
                <a:tc>
                  <a:txBody>
                    <a:bodyPr/>
                    <a:lstStyle/>
                    <a:p>
                      <a:r>
                        <a:rPr sz="1300" b="1">
                          <a:solidFill>
                            <a:srgbClr val="1E7A46"/>
                          </a:solidFill>
                          <a:latin typeface="Arial"/>
                        </a:rPr>
                        <a:t>Aprobado</a:t>
                      </a:r>
                    </a:p>
                  </a:txBody>
                  <a:tcPr anchor="ctr">
                    <a:solidFill>
                      <a:srgbClr val="E7F5EC"/>
                    </a:solidFill>
                  </a:tcPr>
                </a:tc>
                <a:extLst>
                  <a:ext uri="{0D108BD9-81ED-4DB2-BD59-A6C34878D82A}">
                    <a16:rowId xmlns:a16="http://schemas.microsoft.com/office/drawing/2014/main" val="10002"/>
                  </a:ext>
                </a:extLst>
              </a:tr>
              <a:tr h="521207">
                <a:tc>
                  <a:txBody>
                    <a:bodyPr/>
                    <a:lstStyle/>
                    <a:p>
                      <a:r>
                        <a:rPr sz="1300" b="1">
                          <a:solidFill>
                            <a:srgbClr val="1F2937"/>
                          </a:solidFill>
                          <a:latin typeface="Arial"/>
                        </a:rPr>
                        <a:t>SC-003</a:t>
                      </a:r>
                    </a:p>
                  </a:txBody>
                  <a:tcPr anchor="ctr">
                    <a:solidFill>
                      <a:srgbClr val="FFFFFF"/>
                    </a:solidFill>
                  </a:tcPr>
                </a:tc>
                <a:tc>
                  <a:txBody>
                    <a:bodyPr/>
                    <a:lstStyle/>
                    <a:p>
                      <a:r>
                        <a:rPr sz="1300" b="0">
                          <a:solidFill>
                            <a:srgbClr val="1F2937"/>
                          </a:solidFill>
                          <a:latin typeface="Arial"/>
                        </a:rPr>
                        <a:t>Exportar el registro de asistencia a CSV / Excel</a:t>
                      </a:r>
                    </a:p>
                  </a:txBody>
                  <a:tcPr anchor="ctr">
                    <a:solidFill>
                      <a:srgbClr val="FFFFFF"/>
                    </a:solidFill>
                  </a:tcPr>
                </a:tc>
                <a:tc>
                  <a:txBody>
                    <a:bodyPr/>
                    <a:lstStyle/>
                    <a:p>
                      <a:r>
                        <a:rPr sz="1300" b="0">
                          <a:solidFill>
                            <a:srgbClr val="1F2937"/>
                          </a:solidFill>
                          <a:latin typeface="Arial"/>
                        </a:rPr>
                        <a:t>Requisito del usuario · Interfaz</a:t>
                      </a:r>
                    </a:p>
                  </a:txBody>
                  <a:tcPr anchor="ctr">
                    <a:solidFill>
                      <a:srgbClr val="FFFFFF"/>
                    </a:solidFill>
                  </a:tcPr>
                </a:tc>
                <a:tc>
                  <a:txBody>
                    <a:bodyPr/>
                    <a:lstStyle/>
                    <a:p>
                      <a:r>
                        <a:rPr sz="1300" b="0">
                          <a:solidFill>
                            <a:srgbClr val="1F2937"/>
                          </a:solidFill>
                          <a:latin typeface="Arial"/>
                        </a:rPr>
                        <a:t>Perfectivo</a:t>
                      </a:r>
                    </a:p>
                  </a:txBody>
                  <a:tcPr anchor="ctr">
                    <a:solidFill>
                      <a:srgbClr val="FFFFFF"/>
                    </a:solidFill>
                  </a:tcPr>
                </a:tc>
                <a:tc>
                  <a:txBody>
                    <a:bodyPr/>
                    <a:lstStyle/>
                    <a:p>
                      <a:r>
                        <a:rPr sz="1300" b="1">
                          <a:solidFill>
                            <a:srgbClr val="92400E"/>
                          </a:solidFill>
                          <a:latin typeface="Arial"/>
                        </a:rPr>
                        <a:t>Media</a:t>
                      </a:r>
                    </a:p>
                  </a:txBody>
                  <a:tcPr anchor="ctr">
                    <a:solidFill>
                      <a:srgbClr val="FFFFFF"/>
                    </a:solidFill>
                  </a:tcPr>
                </a:tc>
                <a:tc>
                  <a:txBody>
                    <a:bodyPr/>
                    <a:lstStyle/>
                    <a:p>
                      <a:r>
                        <a:rPr sz="1300" b="1">
                          <a:solidFill>
                            <a:srgbClr val="1E7A46"/>
                          </a:solidFill>
                          <a:latin typeface="Arial"/>
                        </a:rPr>
                        <a:t>Aprobado</a:t>
                      </a:r>
                    </a:p>
                  </a:txBody>
                  <a:tcPr anchor="ctr">
                    <a:solidFill>
                      <a:srgbClr val="E7F5EC"/>
                    </a:solidFill>
                  </a:tcPr>
                </a:tc>
                <a:extLst>
                  <a:ext uri="{0D108BD9-81ED-4DB2-BD59-A6C34878D82A}">
                    <a16:rowId xmlns:a16="http://schemas.microsoft.com/office/drawing/2014/main" val="10003"/>
                  </a:ext>
                </a:extLst>
              </a:tr>
              <a:tr h="521207">
                <a:tc>
                  <a:txBody>
                    <a:bodyPr/>
                    <a:lstStyle/>
                    <a:p>
                      <a:r>
                        <a:rPr sz="1300" b="1">
                          <a:solidFill>
                            <a:srgbClr val="1F2937"/>
                          </a:solidFill>
                          <a:latin typeface="Arial"/>
                        </a:rPr>
                        <a:t>SC-004</a:t>
                      </a:r>
                    </a:p>
                  </a:txBody>
                  <a:tcPr anchor="ctr">
                    <a:solidFill>
                      <a:srgbClr val="F3F4F6"/>
                    </a:solidFill>
                  </a:tcPr>
                </a:tc>
                <a:tc>
                  <a:txBody>
                    <a:bodyPr/>
                    <a:lstStyle/>
                    <a:p>
                      <a:r>
                        <a:rPr sz="1300" b="0">
                          <a:solidFill>
                            <a:srgbClr val="1F2937"/>
                          </a:solidFill>
                          <a:latin typeface="Arial"/>
                        </a:rPr>
                        <a:t>Leer la cadena de conexión desde variable de entorno (la clave del admin ya se lee así)</a:t>
                      </a:r>
                    </a:p>
                  </a:txBody>
                  <a:tcPr anchor="ctr">
                    <a:solidFill>
                      <a:srgbClr val="F3F4F6"/>
                    </a:solidFill>
                  </a:tcPr>
                </a:tc>
                <a:tc>
                  <a:txBody>
                    <a:bodyPr/>
                    <a:lstStyle/>
                    <a:p>
                      <a:r>
                        <a:rPr sz="1300" b="0">
                          <a:solidFill>
                            <a:srgbClr val="1F2937"/>
                          </a:solidFill>
                          <a:latin typeface="Arial"/>
                        </a:rPr>
                        <a:t>Cambio de entorno / plataforma</a:t>
                      </a:r>
                    </a:p>
                  </a:txBody>
                  <a:tcPr anchor="ctr">
                    <a:solidFill>
                      <a:srgbClr val="F3F4F6"/>
                    </a:solidFill>
                  </a:tcPr>
                </a:tc>
                <a:tc>
                  <a:txBody>
                    <a:bodyPr/>
                    <a:lstStyle/>
                    <a:p>
                      <a:r>
                        <a:rPr sz="1300" b="0">
                          <a:solidFill>
                            <a:srgbClr val="1F2937"/>
                          </a:solidFill>
                          <a:latin typeface="Arial"/>
                        </a:rPr>
                        <a:t>Adaptativo</a:t>
                      </a:r>
                    </a:p>
                  </a:txBody>
                  <a:tcPr anchor="ctr">
                    <a:solidFill>
                      <a:srgbClr val="F3F4F6"/>
                    </a:solidFill>
                  </a:tcPr>
                </a:tc>
                <a:tc>
                  <a:txBody>
                    <a:bodyPr/>
                    <a:lstStyle/>
                    <a:p>
                      <a:r>
                        <a:rPr sz="1300" b="1">
                          <a:solidFill>
                            <a:srgbClr val="92400E"/>
                          </a:solidFill>
                          <a:latin typeface="Arial"/>
                        </a:rPr>
                        <a:t>Media</a:t>
                      </a:r>
                    </a:p>
                  </a:txBody>
                  <a:tcPr anchor="ctr">
                    <a:solidFill>
                      <a:srgbClr val="F3F4F6"/>
                    </a:solidFill>
                  </a:tcPr>
                </a:tc>
                <a:tc>
                  <a:txBody>
                    <a:bodyPr/>
                    <a:lstStyle/>
                    <a:p>
                      <a:r>
                        <a:rPr sz="1300" b="1">
                          <a:solidFill>
                            <a:srgbClr val="3730A3"/>
                          </a:solidFill>
                          <a:latin typeface="Arial"/>
                        </a:rPr>
                        <a:t>Diferido</a:t>
                      </a:r>
                    </a:p>
                  </a:txBody>
                  <a:tcPr anchor="ctr">
                    <a:solidFill>
                      <a:srgbClr val="E0E7FF"/>
                    </a:solidFill>
                  </a:tcPr>
                </a:tc>
                <a:extLst>
                  <a:ext uri="{0D108BD9-81ED-4DB2-BD59-A6C34878D82A}">
                    <a16:rowId xmlns:a16="http://schemas.microsoft.com/office/drawing/2014/main" val="10004"/>
                  </a:ext>
                </a:extLst>
              </a:tr>
              <a:tr h="521207">
                <a:tc>
                  <a:txBody>
                    <a:bodyPr/>
                    <a:lstStyle/>
                    <a:p>
                      <a:r>
                        <a:rPr sz="1300" b="1">
                          <a:solidFill>
                            <a:srgbClr val="1F2937"/>
                          </a:solidFill>
                          <a:latin typeface="Arial"/>
                        </a:rPr>
                        <a:t>SC-005</a:t>
                      </a:r>
                    </a:p>
                  </a:txBody>
                  <a:tcPr anchor="ctr">
                    <a:solidFill>
                      <a:srgbClr val="FFFFFF"/>
                    </a:solidFill>
                  </a:tcPr>
                </a:tc>
                <a:tc>
                  <a:txBody>
                    <a:bodyPr/>
                    <a:lstStyle/>
                    <a:p>
                      <a:r>
                        <a:rPr sz="1300" b="0">
                          <a:solidFill>
                            <a:srgbClr val="1F2937"/>
                          </a:solidFill>
                          <a:latin typeface="Arial"/>
                        </a:rPr>
                        <a:t>Filtrar y paginar los permisos en la base de datos</a:t>
                      </a:r>
                    </a:p>
                  </a:txBody>
                  <a:tcPr anchor="ctr">
                    <a:solidFill>
                      <a:srgbClr val="FFFFFF"/>
                    </a:solidFill>
                  </a:tcPr>
                </a:tc>
                <a:tc>
                  <a:txBody>
                    <a:bodyPr/>
                    <a:lstStyle/>
                    <a:p>
                      <a:r>
                        <a:rPr sz="1300" b="0">
                          <a:solidFill>
                            <a:srgbClr val="1F2937"/>
                          </a:solidFill>
                          <a:latin typeface="Arial"/>
                        </a:rPr>
                        <a:t>Rendimiento</a:t>
                      </a:r>
                    </a:p>
                  </a:txBody>
                  <a:tcPr anchor="ctr">
                    <a:solidFill>
                      <a:srgbClr val="FFFFFF"/>
                    </a:solidFill>
                  </a:tcPr>
                </a:tc>
                <a:tc>
                  <a:txBody>
                    <a:bodyPr/>
                    <a:lstStyle/>
                    <a:p>
                      <a:r>
                        <a:rPr sz="1300" b="0">
                          <a:solidFill>
                            <a:srgbClr val="1F2937"/>
                          </a:solidFill>
                          <a:latin typeface="Arial"/>
                        </a:rPr>
                        <a:t>Perfectivo</a:t>
                      </a:r>
                    </a:p>
                  </a:txBody>
                  <a:tcPr anchor="ctr">
                    <a:solidFill>
                      <a:srgbClr val="FFFFFF"/>
                    </a:solidFill>
                  </a:tcPr>
                </a:tc>
                <a:tc>
                  <a:txBody>
                    <a:bodyPr/>
                    <a:lstStyle/>
                    <a:p>
                      <a:r>
                        <a:rPr sz="1300" b="1">
                          <a:solidFill>
                            <a:srgbClr val="1E7A46"/>
                          </a:solidFill>
                          <a:latin typeface="Arial"/>
                        </a:rPr>
                        <a:t>Baja</a:t>
                      </a:r>
                    </a:p>
                  </a:txBody>
                  <a:tcPr anchor="ctr">
                    <a:solidFill>
                      <a:srgbClr val="FFFFFF"/>
                    </a:solidFill>
                  </a:tcPr>
                </a:tc>
                <a:tc>
                  <a:txBody>
                    <a:bodyPr/>
                    <a:lstStyle/>
                    <a:p>
                      <a:r>
                        <a:rPr sz="1300" b="1">
                          <a:solidFill>
                            <a:srgbClr val="92400E"/>
                          </a:solidFill>
                          <a:latin typeface="Arial"/>
                        </a:rPr>
                        <a:t>En evaluación</a:t>
                      </a:r>
                    </a:p>
                  </a:txBody>
                  <a:tcPr anchor="ctr">
                    <a:solidFill>
                      <a:srgbClr val="FEF3C7"/>
                    </a:solidFill>
                  </a:tcPr>
                </a:tc>
                <a:extLst>
                  <a:ext uri="{0D108BD9-81ED-4DB2-BD59-A6C34878D82A}">
                    <a16:rowId xmlns:a16="http://schemas.microsoft.com/office/drawing/2014/main" val="10005"/>
                  </a:ext>
                </a:extLst>
              </a:tr>
              <a:tr h="521207">
                <a:tc>
                  <a:txBody>
                    <a:bodyPr/>
                    <a:lstStyle/>
                    <a:p>
                      <a:r>
                        <a:rPr sz="1300" b="1">
                          <a:solidFill>
                            <a:srgbClr val="1F2937"/>
                          </a:solidFill>
                          <a:latin typeface="Arial"/>
                        </a:rPr>
                        <a:t>SC-006</a:t>
                      </a:r>
                    </a:p>
                  </a:txBody>
                  <a:tcPr anchor="ctr">
                    <a:solidFill>
                      <a:srgbClr val="F3F4F6"/>
                    </a:solidFill>
                  </a:tcPr>
                </a:tc>
                <a:tc>
                  <a:txBody>
                    <a:bodyPr/>
                    <a:lstStyle/>
                    <a:p>
                      <a:r>
                        <a:rPr sz="1300" b="0">
                          <a:solidFill>
                            <a:srgbClr val="1F2937"/>
                          </a:solidFill>
                          <a:latin typeface="Arial"/>
                        </a:rPr>
                        <a:t>Reestructurar en capas con contratos para cambiar solo la Capa Datos</a:t>
                      </a:r>
                    </a:p>
                  </a:txBody>
                  <a:tcPr anchor="ctr">
                    <a:solidFill>
                      <a:srgbClr val="F3F4F6"/>
                    </a:solidFill>
                  </a:tcPr>
                </a:tc>
                <a:tc>
                  <a:txBody>
                    <a:bodyPr/>
                    <a:lstStyle/>
                    <a:p>
                      <a:r>
                        <a:rPr sz="1300" b="0">
                          <a:solidFill>
                            <a:srgbClr val="1F2937"/>
                          </a:solidFill>
                          <a:latin typeface="Arial"/>
                        </a:rPr>
                        <a:t>Mejora · Arquitectura</a:t>
                      </a:r>
                    </a:p>
                  </a:txBody>
                  <a:tcPr anchor="ctr">
                    <a:solidFill>
                      <a:srgbClr val="F3F4F6"/>
                    </a:solidFill>
                  </a:tcPr>
                </a:tc>
                <a:tc>
                  <a:txBody>
                    <a:bodyPr/>
                    <a:lstStyle/>
                    <a:p>
                      <a:r>
                        <a:rPr sz="1300" b="0">
                          <a:solidFill>
                            <a:srgbClr val="1F2937"/>
                          </a:solidFill>
                          <a:latin typeface="Arial"/>
                        </a:rPr>
                        <a:t>Perfectivo</a:t>
                      </a:r>
                    </a:p>
                  </a:txBody>
                  <a:tcPr anchor="ctr">
                    <a:solidFill>
                      <a:srgbClr val="F3F4F6"/>
                    </a:solidFill>
                  </a:tcPr>
                </a:tc>
                <a:tc>
                  <a:txBody>
                    <a:bodyPr/>
                    <a:lstStyle/>
                    <a:p>
                      <a:r>
                        <a:rPr sz="1300" b="1">
                          <a:solidFill>
                            <a:srgbClr val="92400E"/>
                          </a:solidFill>
                          <a:latin typeface="Arial"/>
                        </a:rPr>
                        <a:t>Media</a:t>
                      </a:r>
                    </a:p>
                  </a:txBody>
                  <a:tcPr anchor="ctr">
                    <a:solidFill>
                      <a:srgbClr val="F3F4F6"/>
                    </a:solidFill>
                  </a:tcPr>
                </a:tc>
                <a:tc>
                  <a:txBody>
                    <a:bodyPr/>
                    <a:lstStyle/>
                    <a:p>
                      <a:r>
                        <a:rPr sz="1300" b="1">
                          <a:solidFill>
                            <a:srgbClr val="1E7A46"/>
                          </a:solidFill>
                          <a:latin typeface="Arial"/>
                        </a:rPr>
                        <a:t>Implementado</a:t>
                      </a:r>
                    </a:p>
                  </a:txBody>
                  <a:tcPr anchor="ctr">
                    <a:solidFill>
                      <a:srgbClr val="E7F5EC"/>
                    </a:solidFill>
                  </a:tcPr>
                </a:tc>
                <a:extLst>
                  <a:ext uri="{0D108BD9-81ED-4DB2-BD59-A6C34878D82A}">
                    <a16:rowId xmlns:a16="http://schemas.microsoft.com/office/drawing/2014/main" val="10006"/>
                  </a:ext>
                </a:extLst>
              </a:tr>
              <a:tr h="521207">
                <a:tc>
                  <a:txBody>
                    <a:bodyPr/>
                    <a:lstStyle/>
                    <a:p>
                      <a:r>
                        <a:rPr sz="1300" b="1">
                          <a:solidFill>
                            <a:srgbClr val="1F2937"/>
                          </a:solidFill>
                          <a:latin typeface="Arial"/>
                        </a:rPr>
                        <a:t>SC-007</a:t>
                      </a:r>
                    </a:p>
                  </a:txBody>
                  <a:tcPr anchor="ctr">
                    <a:solidFill>
                      <a:srgbClr val="FFFFFF"/>
                    </a:solidFill>
                  </a:tcPr>
                </a:tc>
                <a:tc>
                  <a:txBody>
                    <a:bodyPr/>
                    <a:lstStyle/>
                    <a:p>
                      <a:r>
                        <a:rPr sz="1300" b="0">
                          <a:solidFill>
                            <a:srgbClr val="1F2937"/>
                          </a:solidFill>
                          <a:latin typeface="Arial"/>
                        </a:rPr>
                        <a:t>Rediseñar la interfaz (login, inicio y layout) con Tailwind CSS</a:t>
                      </a:r>
                    </a:p>
                  </a:txBody>
                  <a:tcPr anchor="ctr">
                    <a:solidFill>
                      <a:srgbClr val="FFFFFF"/>
                    </a:solidFill>
                  </a:tcPr>
                </a:tc>
                <a:tc>
                  <a:txBody>
                    <a:bodyPr/>
                    <a:lstStyle/>
                    <a:p>
                      <a:r>
                        <a:rPr sz="1300" b="0">
                          <a:solidFill>
                            <a:srgbClr val="1F2937"/>
                          </a:solidFill>
                          <a:latin typeface="Arial"/>
                        </a:rPr>
                        <a:t>Interfaz · Pedido del usuario</a:t>
                      </a:r>
                    </a:p>
                  </a:txBody>
                  <a:tcPr anchor="ctr">
                    <a:solidFill>
                      <a:srgbClr val="FFFFFF"/>
                    </a:solidFill>
                  </a:tcPr>
                </a:tc>
                <a:tc>
                  <a:txBody>
                    <a:bodyPr/>
                    <a:lstStyle/>
                    <a:p>
                      <a:r>
                        <a:rPr sz="1300" b="0">
                          <a:solidFill>
                            <a:srgbClr val="1F2937"/>
                          </a:solidFill>
                          <a:latin typeface="Arial"/>
                        </a:rPr>
                        <a:t>Perfectivo</a:t>
                      </a:r>
                    </a:p>
                  </a:txBody>
                  <a:tcPr anchor="ctr">
                    <a:solidFill>
                      <a:srgbClr val="FFFFFF"/>
                    </a:solidFill>
                  </a:tcPr>
                </a:tc>
                <a:tc>
                  <a:txBody>
                    <a:bodyPr/>
                    <a:lstStyle/>
                    <a:p>
                      <a:r>
                        <a:rPr sz="1300" b="1">
                          <a:solidFill>
                            <a:srgbClr val="92400E"/>
                          </a:solidFill>
                          <a:latin typeface="Arial"/>
                        </a:rPr>
                        <a:t>Media</a:t>
                      </a:r>
                    </a:p>
                  </a:txBody>
                  <a:tcPr anchor="ctr">
                    <a:solidFill>
                      <a:srgbClr val="FFFFFF"/>
                    </a:solidFill>
                  </a:tcPr>
                </a:tc>
                <a:tc>
                  <a:txBody>
                    <a:bodyPr/>
                    <a:lstStyle/>
                    <a:p>
                      <a:r>
                        <a:rPr sz="1300" b="1">
                          <a:solidFill>
                            <a:srgbClr val="1E7A46"/>
                          </a:solidFill>
                          <a:latin typeface="Arial"/>
                        </a:rPr>
                        <a:t>Implementado</a:t>
                      </a:r>
                    </a:p>
                  </a:txBody>
                  <a:tcPr anchor="ctr">
                    <a:solidFill>
                      <a:srgbClr val="E7F5EC"/>
                    </a:solidFill>
                  </a:tcPr>
                </a:tc>
                <a:extLst>
                  <a:ext uri="{0D108BD9-81ED-4DB2-BD59-A6C34878D82A}">
                    <a16:rowId xmlns:a16="http://schemas.microsoft.com/office/drawing/2014/main" val="10007"/>
                  </a:ext>
                </a:extLst>
              </a:tr>
            </a:tbl>
          </a:graphicData>
        </a:graphic>
      </p:graphicFrame>
      <p:sp>
        <p:nvSpPr>
          <p:cNvPr id="7" name="TextBox 6"/>
          <p:cNvSpPr txBox="1"/>
          <p:nvPr/>
        </p:nvSpPr>
        <p:spPr>
          <a:xfrm>
            <a:off x="548640" y="5806440"/>
            <a:ext cx="11064240" cy="457200"/>
          </a:xfrm>
          <a:prstGeom prst="rect">
            <a:avLst/>
          </a:prstGeom>
          <a:noFill/>
        </p:spPr>
        <p:txBody>
          <a:bodyPr wrap="square" lIns="0" tIns="0" rIns="0" bIns="0" anchor="t"/>
          <a:lstStyle/>
          <a:p>
            <a:pPr algn="l">
              <a:spcAft>
                <a:spcPts val="400"/>
              </a:spcAft>
            </a:pPr>
            <a:r>
              <a:rPr sz="1300" b="0" i="0">
                <a:solidFill>
                  <a:srgbClr val="6B7280"/>
                </a:solidFill>
                <a:latin typeface="Arial"/>
              </a:rPr>
              <a:t>Cubren: requisito funcional, corrección de error, mejora, interfaz, regla de negocio, pedido del usuario, ajuste de BD, rendimiento y seguridad.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64240" cy="640080"/>
          </a:xfrm>
          <a:prstGeom prst="rect">
            <a:avLst/>
          </a:prstGeom>
          <a:noFill/>
        </p:spPr>
        <p:txBody>
          <a:bodyPr wrap="square" lIns="0" tIns="0" rIns="0" bIns="0" anchor="t"/>
          <a:lstStyle/>
          <a:p>
            <a:pPr algn="l">
              <a:spcAft>
                <a:spcPts val="400"/>
              </a:spcAft>
            </a:pPr>
            <a:r>
              <a:rPr sz="3200" b="1" i="0">
                <a:solidFill>
                  <a:srgbClr val="1E2433"/>
                </a:solidFill>
                <a:latin typeface="Arial"/>
              </a:rPr>
              <a:t>Evidencia en el código actual</a:t>
            </a:r>
          </a:p>
        </p:txBody>
      </p:sp>
      <p:sp>
        <p:nvSpPr>
          <p:cNvPr id="3" name="TextBox 2"/>
          <p:cNvSpPr txBox="1"/>
          <p:nvPr/>
        </p:nvSpPr>
        <p:spPr>
          <a:xfrm>
            <a:off x="548640" y="1024128"/>
            <a:ext cx="11064240" cy="411480"/>
          </a:xfrm>
          <a:prstGeom prst="rect">
            <a:avLst/>
          </a:prstGeom>
          <a:noFill/>
        </p:spPr>
        <p:txBody>
          <a:bodyPr wrap="square" lIns="0" tIns="0" rIns="0" bIns="0" anchor="t"/>
          <a:lstStyle/>
          <a:p>
            <a:pPr algn="l">
              <a:spcAft>
                <a:spcPts val="400"/>
              </a:spcAft>
            </a:pPr>
            <a:r>
              <a:rPr sz="1600" b="0" i="0">
                <a:solidFill>
                  <a:srgbClr val="6B7280"/>
                </a:solidFill>
                <a:latin typeface="Arial"/>
              </a:rPr>
              <a:t>Dos de los cambios nacen de revisar el código fuente del sistema.</a:t>
            </a:r>
          </a:p>
        </p:txBody>
      </p:sp>
      <p:sp>
        <p:nvSpPr>
          <p:cNvPr id="4" name="TextBox 3"/>
          <p:cNvSpPr txBox="1"/>
          <p:nvPr/>
        </p:nvSpPr>
        <p:spPr>
          <a:xfrm>
            <a:off x="10728655" y="6400800"/>
            <a:ext cx="914400" cy="274320"/>
          </a:xfrm>
          <a:prstGeom prst="rect">
            <a:avLst/>
          </a:prstGeom>
          <a:noFill/>
        </p:spPr>
        <p:txBody>
          <a:bodyPr wrap="square" lIns="0" tIns="0" rIns="0" bIns="0" anchor="t"/>
          <a:lstStyle/>
          <a:p>
            <a:pPr algn="r">
              <a:spcAft>
                <a:spcPts val="400"/>
              </a:spcAft>
            </a:pPr>
            <a:r>
              <a:rPr sz="1000" b="0" i="0">
                <a:solidFill>
                  <a:srgbClr val="6B7280"/>
                </a:solidFill>
                <a:latin typeface="Arial"/>
              </a:rPr>
              <a:t>14</a:t>
            </a:r>
          </a:p>
        </p:txBody>
      </p:sp>
      <p:sp>
        <p:nvSpPr>
          <p:cNvPr id="5" name="TextBox 4"/>
          <p:cNvSpPr txBox="1"/>
          <p:nvPr/>
        </p:nvSpPr>
        <p:spPr>
          <a:xfrm>
            <a:off x="548640" y="6400800"/>
            <a:ext cx="7315200" cy="274320"/>
          </a:xfrm>
          <a:prstGeom prst="rect">
            <a:avLst/>
          </a:prstGeom>
          <a:noFill/>
        </p:spPr>
        <p:txBody>
          <a:bodyPr wrap="square" lIns="0" tIns="0" rIns="0" bIns="0" anchor="t"/>
          <a:lstStyle/>
          <a:p>
            <a:pPr algn="l">
              <a:spcAft>
                <a:spcPts val="400"/>
              </a:spcAft>
            </a:pPr>
            <a:r>
              <a:rPr sz="1000" b="0" i="0">
                <a:solidFill>
                  <a:srgbClr val="6B7280"/>
                </a:solidFill>
                <a:latin typeface="Arial"/>
              </a:rPr>
              <a:t>Grupo 5 · Gestión del Cambio · Evo-RRLL</a:t>
            </a:r>
          </a:p>
        </p:txBody>
      </p:sp>
      <p:sp>
        <p:nvSpPr>
          <p:cNvPr id="6" name="TextBox 5"/>
          <p:cNvSpPr txBox="1"/>
          <p:nvPr/>
        </p:nvSpPr>
        <p:spPr>
          <a:xfrm>
            <a:off x="548640" y="1600200"/>
            <a:ext cx="5440680" cy="365760"/>
          </a:xfrm>
          <a:prstGeom prst="rect">
            <a:avLst/>
          </a:prstGeom>
          <a:noFill/>
        </p:spPr>
        <p:txBody>
          <a:bodyPr wrap="square" lIns="0" tIns="0" rIns="0" bIns="0" anchor="t"/>
          <a:lstStyle/>
          <a:p>
            <a:pPr algn="l">
              <a:spcAft>
                <a:spcPts val="400"/>
              </a:spcAft>
            </a:pPr>
            <a:r>
              <a:rPr sz="1600" b="1" i="0">
                <a:solidFill>
                  <a:srgbClr val="1E2433"/>
                </a:solidFill>
                <a:latin typeface="Arial"/>
              </a:rPr>
              <a:t>SC-002 · SeguridadController.cs</a:t>
            </a:r>
          </a:p>
        </p:txBody>
      </p:sp>
      <p:sp>
        <p:nvSpPr>
          <p:cNvPr id="7" name="Rounded Rectangle 6"/>
          <p:cNvSpPr/>
          <p:nvPr/>
        </p:nvSpPr>
        <p:spPr>
          <a:xfrm>
            <a:off x="548640" y="2057400"/>
            <a:ext cx="5440680" cy="306324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59" y="2240280"/>
            <a:ext cx="5029200" cy="2743200"/>
          </a:xfrm>
          <a:prstGeom prst="rect">
            <a:avLst/>
          </a:prstGeom>
          <a:noFill/>
        </p:spPr>
        <p:txBody>
          <a:bodyPr wrap="square" lIns="0" tIns="0" rIns="0" bIns="0" anchor="t"/>
          <a:lstStyle/>
          <a:p>
            <a:pPr algn="l">
              <a:spcAft>
                <a:spcPts val="200"/>
              </a:spcAft>
            </a:pPr>
            <a:r>
              <a:rPr sz="1200" b="0" i="0">
                <a:solidFill>
                  <a:srgbClr val="E5E7EB"/>
                </a:solidFill>
                <a:latin typeface="Courier New"/>
              </a:rPr>
              <a:t>var resultado = verificador</a:t>
            </a:r>
          </a:p>
          <a:p>
            <a:pPr algn="l">
              <a:spcAft>
                <a:spcPts val="200"/>
              </a:spcAft>
            </a:pPr>
            <a:r>
              <a:rPr sz="1200" b="0" i="0">
                <a:solidFill>
                  <a:srgbClr val="E5E7EB"/>
                </a:solidFill>
                <a:latin typeface="Courier New"/>
              </a:rPr>
              <a:t>  .VerifyHashedPassword(new Usuario(),</a:t>
            </a:r>
          </a:p>
          <a:p>
            <a:pPr algn="l">
              <a:spcAft>
                <a:spcPts val="200"/>
              </a:spcAft>
            </a:pPr>
            <a:r>
              <a:rPr sz="1200" b="0" i="0">
                <a:solidFill>
                  <a:srgbClr val="E5E7EB"/>
                </a:solidFill>
                <a:latin typeface="Courier New"/>
              </a:rPr>
              <a:t>     usuario.PasswordHash, modelo.Clave);</a:t>
            </a:r>
          </a:p>
          <a:p>
            <a:pPr algn="l">
              <a:spcAft>
                <a:spcPts val="200"/>
              </a:spcAft>
            </a:pPr>
            <a:r>
              <a:rPr sz="1200" b="0" i="0">
                <a:solidFill>
                  <a:srgbClr val="E5E7EB"/>
                </a:solidFill>
                <a:latin typeface="Courier New"/>
              </a:rPr>
              <a:t>if (resultado == PasswordVerificationResult.Failed)</a:t>
            </a:r>
          </a:p>
          <a:p>
            <a:pPr algn="l">
              <a:spcAft>
                <a:spcPts val="200"/>
              </a:spcAft>
            </a:pPr>
            <a:r>
              <a:rPr sz="1200" b="0" i="0">
                <a:solidFill>
                  <a:srgbClr val="E5E7EB"/>
                </a:solidFill>
                <a:latin typeface="Courier New"/>
              </a:rPr>
              <a:t>{</a:t>
            </a:r>
          </a:p>
          <a:p>
            <a:pPr algn="l">
              <a:spcAft>
                <a:spcPts val="200"/>
              </a:spcAft>
            </a:pPr>
            <a:r>
              <a:rPr sz="1200" b="0" i="0">
                <a:solidFill>
                  <a:srgbClr val="E5E7EB"/>
                </a:solidFill>
                <a:latin typeface="Courier New"/>
              </a:rPr>
              <a:t>    modelo.Error = "Usuario o clave incorrectos.";</a:t>
            </a:r>
          </a:p>
          <a:p>
            <a:pPr algn="l">
              <a:spcAft>
                <a:spcPts val="200"/>
              </a:spcAft>
            </a:pPr>
            <a:r>
              <a:rPr sz="1200" b="0" i="0">
                <a:solidFill>
                  <a:srgbClr val="E5E7EB"/>
                </a:solidFill>
                <a:latin typeface="Courier New"/>
              </a:rPr>
              <a:t>    return View(modelo);</a:t>
            </a:r>
          </a:p>
          <a:p>
            <a:pPr algn="l">
              <a:spcAft>
                <a:spcPts val="200"/>
              </a:spcAft>
            </a:pPr>
            <a:r>
              <a:rPr sz="1200" b="0" i="0">
                <a:solidFill>
                  <a:srgbClr val="E5E7EB"/>
                </a:solidFill>
                <a:latin typeface="Courier New"/>
              </a:rPr>
              <a:t>}</a:t>
            </a:r>
          </a:p>
          <a:p>
            <a:pPr algn="l">
              <a:spcAft>
                <a:spcPts val="200"/>
              </a:spcAft>
            </a:pPr>
            <a:r>
              <a:rPr sz="1200" b="0" i="0">
                <a:solidFill>
                  <a:srgbClr val="F2A900"/>
                </a:solidFill>
                <a:latin typeface="Courier New"/>
              </a:rPr>
              <a:t>// sin límite de intentos fallidos</a:t>
            </a:r>
          </a:p>
        </p:txBody>
      </p:sp>
      <p:sp>
        <p:nvSpPr>
          <p:cNvPr id="9" name="Rounded Rectangle 8"/>
          <p:cNvSpPr/>
          <p:nvPr/>
        </p:nvSpPr>
        <p:spPr>
          <a:xfrm>
            <a:off x="548640" y="5303520"/>
            <a:ext cx="5440680" cy="777240"/>
          </a:xfrm>
          <a:prstGeom prst="roundRect">
            <a:avLst>
              <a:gd name="adj" fmla="val 6000"/>
            </a:avLst>
          </a:prstGeom>
          <a:solidFill>
            <a:srgbClr val="FBE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5349240"/>
            <a:ext cx="5029200" cy="685800"/>
          </a:xfrm>
          <a:prstGeom prst="rect">
            <a:avLst/>
          </a:prstGeom>
          <a:noFill/>
        </p:spPr>
        <p:txBody>
          <a:bodyPr wrap="square" lIns="0" tIns="0" rIns="0" bIns="0" anchor="ctr"/>
          <a:lstStyle/>
          <a:p>
            <a:pPr algn="l">
              <a:spcAft>
                <a:spcPts val="400"/>
              </a:spcAft>
            </a:pPr>
            <a:r>
              <a:rPr sz="1400" b="1" i="0">
                <a:solidFill>
                  <a:srgbClr val="B42318"/>
                </a:solidFill>
                <a:latin typeface="Arial"/>
              </a:rPr>
              <a:t>Se pueden probar claves sin límite: riesgo de fuerza bruta.</a:t>
            </a:r>
          </a:p>
        </p:txBody>
      </p:sp>
      <p:sp>
        <p:nvSpPr>
          <p:cNvPr id="11" name="TextBox 10"/>
          <p:cNvSpPr txBox="1"/>
          <p:nvPr/>
        </p:nvSpPr>
        <p:spPr>
          <a:xfrm>
            <a:off x="6263640" y="1600200"/>
            <a:ext cx="5440680" cy="365760"/>
          </a:xfrm>
          <a:prstGeom prst="rect">
            <a:avLst/>
          </a:prstGeom>
          <a:noFill/>
        </p:spPr>
        <p:txBody>
          <a:bodyPr wrap="square" lIns="0" tIns="0" rIns="0" bIns="0" anchor="t"/>
          <a:lstStyle/>
          <a:p>
            <a:pPr algn="l">
              <a:spcAft>
                <a:spcPts val="400"/>
              </a:spcAft>
            </a:pPr>
            <a:r>
              <a:rPr sz="1600" b="1" i="0">
                <a:solidFill>
                  <a:srgbClr val="1E2433"/>
                </a:solidFill>
                <a:latin typeface="Arial"/>
              </a:rPr>
              <a:t>SC-005 · PermisoController.cs</a:t>
            </a:r>
          </a:p>
        </p:txBody>
      </p:sp>
      <p:sp>
        <p:nvSpPr>
          <p:cNvPr id="12" name="Rounded Rectangle 11"/>
          <p:cNvSpPr/>
          <p:nvPr/>
        </p:nvSpPr>
        <p:spPr>
          <a:xfrm>
            <a:off x="6263640" y="2057400"/>
            <a:ext cx="5440680" cy="306324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37959" y="2240280"/>
            <a:ext cx="5029200" cy="2743200"/>
          </a:xfrm>
          <a:prstGeom prst="rect">
            <a:avLst/>
          </a:prstGeom>
          <a:noFill/>
        </p:spPr>
        <p:txBody>
          <a:bodyPr wrap="square" lIns="0" tIns="0" rIns="0" bIns="0" anchor="t"/>
          <a:lstStyle/>
          <a:p>
            <a:pPr algn="l">
              <a:spcAft>
                <a:spcPts val="200"/>
              </a:spcAft>
            </a:pPr>
            <a:r>
              <a:rPr sz="1200" b="0" i="0">
                <a:solidFill>
                  <a:srgbClr val="E5E7EB"/>
                </a:solidFill>
                <a:latin typeface="Courier New"/>
              </a:rPr>
              <a:t>var permisos = (await _permisoLogica.Listar())</a:t>
            </a:r>
          </a:p>
          <a:p>
            <a:pPr algn="l">
              <a:spcAft>
                <a:spcPts val="200"/>
              </a:spcAft>
            </a:pPr>
            <a:r>
              <a:rPr sz="1200" b="0" i="0">
                <a:solidFill>
                  <a:srgbClr val="E5E7EB"/>
                </a:solidFill>
                <a:latin typeface="Courier New"/>
              </a:rPr>
              <a:t>    .Where(p =&gt; idEmpleado is null</a:t>
            </a:r>
          </a:p>
          <a:p>
            <a:pPr algn="l">
              <a:spcAft>
                <a:spcPts val="200"/>
              </a:spcAft>
            </a:pPr>
            <a:r>
              <a:rPr sz="1200" b="0" i="0">
                <a:solidFill>
                  <a:srgbClr val="E5E7EB"/>
                </a:solidFill>
                <a:latin typeface="Courier New"/>
              </a:rPr>
              <a:t>             || p.IdEmpleado == idEmpleado)</a:t>
            </a:r>
          </a:p>
          <a:p>
            <a:pPr algn="l">
              <a:spcAft>
                <a:spcPts val="200"/>
              </a:spcAft>
            </a:pPr>
            <a:r>
              <a:rPr sz="1200" b="0" i="0">
                <a:solidFill>
                  <a:srgbClr val="E5E7EB"/>
                </a:solidFill>
                <a:latin typeface="Courier New"/>
              </a:rPr>
              <a:t>    .OrderByDescending(p =&gt; p.FechaInicio);</a:t>
            </a:r>
          </a:p>
          <a:p>
            <a:pPr algn="l">
              <a:spcAft>
                <a:spcPts val="200"/>
              </a:spcAft>
            </a:pPr>
            <a:endParaRPr sz="1200" b="0" i="0">
              <a:solidFill>
                <a:srgbClr val="E5E7EB"/>
              </a:solidFill>
              <a:latin typeface="Courier New"/>
            </a:endParaRPr>
          </a:p>
          <a:p>
            <a:pPr algn="l">
              <a:spcAft>
                <a:spcPts val="200"/>
              </a:spcAft>
            </a:pPr>
            <a:r>
              <a:rPr sz="1200" b="0" i="0">
                <a:solidFill>
                  <a:srgbClr val="F2A900"/>
                </a:solidFill>
                <a:latin typeface="Courier New"/>
              </a:rPr>
              <a:t>// PermisoLogica → IRepositorio&lt;Permiso&gt;.Listar()</a:t>
            </a:r>
          </a:p>
          <a:p>
            <a:pPr algn="l">
              <a:spcAft>
                <a:spcPts val="200"/>
              </a:spcAft>
            </a:pPr>
            <a:r>
              <a:rPr sz="1200" b="0" i="0">
                <a:solidFill>
                  <a:srgbClr val="F2A900"/>
                </a:solidFill>
                <a:latin typeface="Courier New"/>
              </a:rPr>
              <a:t>// → RepositorioBase: Tabla.ToListAsync()</a:t>
            </a:r>
          </a:p>
          <a:p>
            <a:pPr algn="l">
              <a:spcAft>
                <a:spcPts val="200"/>
              </a:spcAft>
            </a:pPr>
            <a:r>
              <a:rPr sz="1200" b="0" i="0">
                <a:solidFill>
                  <a:srgbClr val="F2A900"/>
                </a:solidFill>
                <a:latin typeface="Courier New"/>
              </a:rPr>
              <a:t>// trae TODA la tabla y filtra en memoria</a:t>
            </a:r>
          </a:p>
        </p:txBody>
      </p:sp>
      <p:sp>
        <p:nvSpPr>
          <p:cNvPr id="14" name="Rounded Rectangle 13"/>
          <p:cNvSpPr/>
          <p:nvPr/>
        </p:nvSpPr>
        <p:spPr>
          <a:xfrm>
            <a:off x="6263640" y="5303520"/>
            <a:ext cx="5440680" cy="777240"/>
          </a:xfrm>
          <a:prstGeom prst="roundRect">
            <a:avLst>
              <a:gd name="adj" fmla="val 6000"/>
            </a:avLst>
          </a:prstGeom>
          <a:solidFill>
            <a:srgbClr val="FBE7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92240" y="5349240"/>
            <a:ext cx="5029200" cy="685800"/>
          </a:xfrm>
          <a:prstGeom prst="rect">
            <a:avLst/>
          </a:prstGeom>
          <a:noFill/>
        </p:spPr>
        <p:txBody>
          <a:bodyPr wrap="square" lIns="0" tIns="0" rIns="0" bIns="0" anchor="ctr"/>
          <a:lstStyle/>
          <a:p>
            <a:pPr algn="l">
              <a:spcAft>
                <a:spcPts val="400"/>
              </a:spcAft>
            </a:pPr>
            <a:r>
              <a:rPr sz="1400" b="1" i="0">
                <a:solidFill>
                  <a:srgbClr val="B42318"/>
                </a:solidFill>
                <a:latin typeface="Arial"/>
              </a:rPr>
              <a:t>El filtro se hace en memoria, no en SQL: lento al crecer la tabla.</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64240" cy="640080"/>
          </a:xfrm>
          <a:prstGeom prst="rect">
            <a:avLst/>
          </a:prstGeom>
          <a:noFill/>
        </p:spPr>
        <p:txBody>
          <a:bodyPr wrap="square" lIns="0" tIns="0" rIns="0" bIns="0" anchor="t"/>
          <a:lstStyle/>
          <a:p>
            <a:pPr algn="l">
              <a:spcAft>
                <a:spcPts val="400"/>
              </a:spcAft>
            </a:pPr>
            <a:r>
              <a:rPr sz="3200" b="1" i="0">
                <a:solidFill>
                  <a:srgbClr val="1E2433"/>
                </a:solidFill>
                <a:latin typeface="Arial"/>
              </a:rPr>
              <a:t>Formato de solicitud de cambio</a:t>
            </a:r>
          </a:p>
        </p:txBody>
      </p:sp>
      <p:sp>
        <p:nvSpPr>
          <p:cNvPr id="3" name="TextBox 2"/>
          <p:cNvSpPr txBox="1"/>
          <p:nvPr/>
        </p:nvSpPr>
        <p:spPr>
          <a:xfrm>
            <a:off x="548640" y="1024128"/>
            <a:ext cx="11064240" cy="411480"/>
          </a:xfrm>
          <a:prstGeom prst="rect">
            <a:avLst/>
          </a:prstGeom>
          <a:noFill/>
        </p:spPr>
        <p:txBody>
          <a:bodyPr wrap="square" lIns="0" tIns="0" rIns="0" bIns="0" anchor="t"/>
          <a:lstStyle/>
          <a:p>
            <a:pPr algn="l">
              <a:spcAft>
                <a:spcPts val="400"/>
              </a:spcAft>
            </a:pPr>
            <a:r>
              <a:rPr sz="1600" b="0" i="0">
                <a:solidFill>
                  <a:srgbClr val="6B7280"/>
                </a:solidFill>
                <a:latin typeface="Arial"/>
              </a:rPr>
              <a:t>Documento GC-F01 · entregado aparte en Word (Grupo5_Formato_Solicitud_Cambio.docx).</a:t>
            </a:r>
          </a:p>
        </p:txBody>
      </p:sp>
      <p:sp>
        <p:nvSpPr>
          <p:cNvPr id="4" name="TextBox 3"/>
          <p:cNvSpPr txBox="1"/>
          <p:nvPr/>
        </p:nvSpPr>
        <p:spPr>
          <a:xfrm>
            <a:off x="10728655" y="6400800"/>
            <a:ext cx="914400" cy="274320"/>
          </a:xfrm>
          <a:prstGeom prst="rect">
            <a:avLst/>
          </a:prstGeom>
          <a:noFill/>
        </p:spPr>
        <p:txBody>
          <a:bodyPr wrap="square" lIns="0" tIns="0" rIns="0" bIns="0" anchor="t"/>
          <a:lstStyle/>
          <a:p>
            <a:pPr algn="r">
              <a:spcAft>
                <a:spcPts val="400"/>
              </a:spcAft>
            </a:pPr>
            <a:r>
              <a:rPr sz="1000" b="0" i="0">
                <a:solidFill>
                  <a:srgbClr val="6B7280"/>
                </a:solidFill>
                <a:latin typeface="Arial"/>
              </a:rPr>
              <a:t>15</a:t>
            </a:r>
          </a:p>
        </p:txBody>
      </p:sp>
      <p:sp>
        <p:nvSpPr>
          <p:cNvPr id="5" name="TextBox 4"/>
          <p:cNvSpPr txBox="1"/>
          <p:nvPr/>
        </p:nvSpPr>
        <p:spPr>
          <a:xfrm>
            <a:off x="548640" y="6400800"/>
            <a:ext cx="7315200" cy="274320"/>
          </a:xfrm>
          <a:prstGeom prst="rect">
            <a:avLst/>
          </a:prstGeom>
          <a:noFill/>
        </p:spPr>
        <p:txBody>
          <a:bodyPr wrap="square" lIns="0" tIns="0" rIns="0" bIns="0" anchor="t"/>
          <a:lstStyle/>
          <a:p>
            <a:pPr algn="l">
              <a:spcAft>
                <a:spcPts val="400"/>
              </a:spcAft>
            </a:pPr>
            <a:r>
              <a:rPr sz="1000" b="0" i="0">
                <a:solidFill>
                  <a:srgbClr val="6B7280"/>
                </a:solidFill>
                <a:latin typeface="Arial"/>
              </a:rPr>
              <a:t>Grupo 5 · Gestión del Cambio · Evo-RRLL</a:t>
            </a:r>
          </a:p>
        </p:txBody>
      </p:sp>
      <p:pic>
        <p:nvPicPr>
          <p:cNvPr id="6" name="Picture 5" descr="cap_form_blank_t.png"/>
          <p:cNvPicPr>
            <a:picLocks noChangeAspect="1"/>
          </p:cNvPicPr>
          <p:nvPr/>
        </p:nvPicPr>
        <p:blipFill>
          <a:blip r:embed="rId2"/>
          <a:stretch>
            <a:fillRect/>
          </a:stretch>
        </p:blipFill>
        <p:spPr>
          <a:xfrm>
            <a:off x="572578" y="1554480"/>
            <a:ext cx="3518282" cy="4663440"/>
          </a:xfrm>
          <a:prstGeom prst="rect">
            <a:avLst/>
          </a:prstGeom>
          <a:ln w="9525">
            <a:solidFill>
              <a:srgbClr val="D1D5DB"/>
            </a:solidFill>
          </a:ln>
        </p:spPr>
      </p:pic>
      <p:pic>
        <p:nvPicPr>
          <p:cNvPr id="7" name="Picture 6" descr="cap_form_sc001_t.png"/>
          <p:cNvPicPr>
            <a:picLocks noChangeAspect="1"/>
          </p:cNvPicPr>
          <p:nvPr/>
        </p:nvPicPr>
        <p:blipFill>
          <a:blip r:embed="rId3"/>
          <a:stretch>
            <a:fillRect/>
          </a:stretch>
        </p:blipFill>
        <p:spPr>
          <a:xfrm>
            <a:off x="4343400" y="1554480"/>
            <a:ext cx="4206240" cy="4076120"/>
          </a:xfrm>
          <a:prstGeom prst="rect">
            <a:avLst/>
          </a:prstGeom>
          <a:ln w="9525">
            <a:solidFill>
              <a:srgbClr val="D1D5DB"/>
            </a:solidFill>
          </a:ln>
        </p:spPr>
      </p:pic>
      <p:sp>
        <p:nvSpPr>
          <p:cNvPr id="8" name="TextBox 7"/>
          <p:cNvSpPr txBox="1"/>
          <p:nvPr/>
        </p:nvSpPr>
        <p:spPr>
          <a:xfrm>
            <a:off x="8869680" y="1554480"/>
            <a:ext cx="2834640" cy="365760"/>
          </a:xfrm>
          <a:prstGeom prst="rect">
            <a:avLst/>
          </a:prstGeom>
          <a:noFill/>
        </p:spPr>
        <p:txBody>
          <a:bodyPr wrap="square" lIns="0" tIns="0" rIns="0" bIns="0" anchor="t"/>
          <a:lstStyle/>
          <a:p>
            <a:pPr algn="l">
              <a:spcAft>
                <a:spcPts val="400"/>
              </a:spcAft>
            </a:pPr>
            <a:r>
              <a:rPr sz="1800" b="1" i="0">
                <a:solidFill>
                  <a:srgbClr val="1E2433"/>
                </a:solidFill>
                <a:latin typeface="Arial"/>
              </a:rPr>
              <a:t>6 secciones</a:t>
            </a:r>
          </a:p>
        </p:txBody>
      </p:sp>
      <p:sp>
        <p:nvSpPr>
          <p:cNvPr id="9" name="Oval 8"/>
          <p:cNvSpPr/>
          <p:nvPr/>
        </p:nvSpPr>
        <p:spPr>
          <a:xfrm>
            <a:off x="8869680" y="2057400"/>
            <a:ext cx="329184" cy="329184"/>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1E2433"/>
                </a:solidFill>
                <a:latin typeface="Arial"/>
              </a:rPr>
              <a:t>1</a:t>
            </a:r>
          </a:p>
        </p:txBody>
      </p:sp>
      <p:sp>
        <p:nvSpPr>
          <p:cNvPr id="10" name="TextBox 9"/>
          <p:cNvSpPr txBox="1"/>
          <p:nvPr/>
        </p:nvSpPr>
        <p:spPr>
          <a:xfrm>
            <a:off x="9326880" y="2011680"/>
            <a:ext cx="2377440" cy="457200"/>
          </a:xfrm>
          <a:prstGeom prst="rect">
            <a:avLst/>
          </a:prstGeom>
          <a:noFill/>
        </p:spPr>
        <p:txBody>
          <a:bodyPr wrap="square" lIns="0" tIns="0" rIns="0" bIns="0" anchor="ctr"/>
          <a:lstStyle/>
          <a:p>
            <a:pPr algn="l">
              <a:spcAft>
                <a:spcPts val="400"/>
              </a:spcAft>
            </a:pPr>
            <a:r>
              <a:rPr sz="1300" b="0" i="0">
                <a:solidFill>
                  <a:srgbClr val="1F2937"/>
                </a:solidFill>
                <a:latin typeface="Arial"/>
              </a:rPr>
              <a:t>Datos de la solicitud</a:t>
            </a:r>
          </a:p>
        </p:txBody>
      </p:sp>
      <p:sp>
        <p:nvSpPr>
          <p:cNvPr id="11" name="Oval 10"/>
          <p:cNvSpPr/>
          <p:nvPr/>
        </p:nvSpPr>
        <p:spPr>
          <a:xfrm>
            <a:off x="8869680" y="2697480"/>
            <a:ext cx="329184" cy="329184"/>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1E2433"/>
                </a:solidFill>
                <a:latin typeface="Arial"/>
              </a:rPr>
              <a:t>2</a:t>
            </a:r>
          </a:p>
        </p:txBody>
      </p:sp>
      <p:sp>
        <p:nvSpPr>
          <p:cNvPr id="12" name="TextBox 11"/>
          <p:cNvSpPr txBox="1"/>
          <p:nvPr/>
        </p:nvSpPr>
        <p:spPr>
          <a:xfrm>
            <a:off x="9326880" y="2651760"/>
            <a:ext cx="2377440" cy="457200"/>
          </a:xfrm>
          <a:prstGeom prst="rect">
            <a:avLst/>
          </a:prstGeom>
          <a:noFill/>
        </p:spPr>
        <p:txBody>
          <a:bodyPr wrap="square" lIns="0" tIns="0" rIns="0" bIns="0" anchor="ctr"/>
          <a:lstStyle/>
          <a:p>
            <a:pPr algn="l">
              <a:spcAft>
                <a:spcPts val="400"/>
              </a:spcAft>
            </a:pPr>
            <a:r>
              <a:rPr sz="1300" b="0" i="0">
                <a:solidFill>
                  <a:srgbClr val="1F2937"/>
                </a:solidFill>
                <a:latin typeface="Arial"/>
              </a:rPr>
              <a:t>Clasificación (tipo, origen, prioridad)</a:t>
            </a:r>
          </a:p>
        </p:txBody>
      </p:sp>
      <p:sp>
        <p:nvSpPr>
          <p:cNvPr id="13" name="Oval 12"/>
          <p:cNvSpPr/>
          <p:nvPr/>
        </p:nvSpPr>
        <p:spPr>
          <a:xfrm>
            <a:off x="8869680" y="3337560"/>
            <a:ext cx="329184" cy="329184"/>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1E2433"/>
                </a:solidFill>
                <a:latin typeface="Arial"/>
              </a:rPr>
              <a:t>3</a:t>
            </a:r>
          </a:p>
        </p:txBody>
      </p:sp>
      <p:sp>
        <p:nvSpPr>
          <p:cNvPr id="14" name="TextBox 13"/>
          <p:cNvSpPr txBox="1"/>
          <p:nvPr/>
        </p:nvSpPr>
        <p:spPr>
          <a:xfrm>
            <a:off x="9326880" y="3291840"/>
            <a:ext cx="2377440" cy="457200"/>
          </a:xfrm>
          <a:prstGeom prst="rect">
            <a:avLst/>
          </a:prstGeom>
          <a:noFill/>
        </p:spPr>
        <p:txBody>
          <a:bodyPr wrap="square" lIns="0" tIns="0" rIns="0" bIns="0" anchor="ctr"/>
          <a:lstStyle/>
          <a:p>
            <a:pPr algn="l">
              <a:spcAft>
                <a:spcPts val="400"/>
              </a:spcAft>
            </a:pPr>
            <a:r>
              <a:rPr sz="1300" b="0" i="0">
                <a:solidFill>
                  <a:srgbClr val="1F2937"/>
                </a:solidFill>
                <a:latin typeface="Arial"/>
              </a:rPr>
              <a:t>Descripción del cambio</a:t>
            </a:r>
          </a:p>
        </p:txBody>
      </p:sp>
      <p:sp>
        <p:nvSpPr>
          <p:cNvPr id="15" name="Oval 14"/>
          <p:cNvSpPr/>
          <p:nvPr/>
        </p:nvSpPr>
        <p:spPr>
          <a:xfrm>
            <a:off x="8869680" y="3977639"/>
            <a:ext cx="329184" cy="329184"/>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1E2433"/>
                </a:solidFill>
                <a:latin typeface="Arial"/>
              </a:rPr>
              <a:t>4</a:t>
            </a:r>
          </a:p>
        </p:txBody>
      </p:sp>
      <p:sp>
        <p:nvSpPr>
          <p:cNvPr id="16" name="TextBox 15"/>
          <p:cNvSpPr txBox="1"/>
          <p:nvPr/>
        </p:nvSpPr>
        <p:spPr>
          <a:xfrm>
            <a:off x="9326880" y="3931920"/>
            <a:ext cx="2377440" cy="457200"/>
          </a:xfrm>
          <a:prstGeom prst="rect">
            <a:avLst/>
          </a:prstGeom>
          <a:noFill/>
        </p:spPr>
        <p:txBody>
          <a:bodyPr wrap="square" lIns="0" tIns="0" rIns="0" bIns="0" anchor="ctr"/>
          <a:lstStyle/>
          <a:p>
            <a:pPr algn="l">
              <a:spcAft>
                <a:spcPts val="400"/>
              </a:spcAft>
            </a:pPr>
            <a:r>
              <a:rPr sz="1300" b="0" i="0">
                <a:solidFill>
                  <a:srgbClr val="1F2937"/>
                </a:solidFill>
                <a:latin typeface="Arial"/>
              </a:rPr>
              <a:t>Evaluación de impacto</a:t>
            </a:r>
          </a:p>
        </p:txBody>
      </p:sp>
      <p:sp>
        <p:nvSpPr>
          <p:cNvPr id="17" name="Oval 16"/>
          <p:cNvSpPr/>
          <p:nvPr/>
        </p:nvSpPr>
        <p:spPr>
          <a:xfrm>
            <a:off x="8869680" y="4617720"/>
            <a:ext cx="329184" cy="329184"/>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1E2433"/>
                </a:solidFill>
                <a:latin typeface="Arial"/>
              </a:rPr>
              <a:t>5</a:t>
            </a:r>
          </a:p>
        </p:txBody>
      </p:sp>
      <p:sp>
        <p:nvSpPr>
          <p:cNvPr id="18" name="TextBox 17"/>
          <p:cNvSpPr txBox="1"/>
          <p:nvPr/>
        </p:nvSpPr>
        <p:spPr>
          <a:xfrm>
            <a:off x="9326880" y="4572000"/>
            <a:ext cx="2377440" cy="457200"/>
          </a:xfrm>
          <a:prstGeom prst="rect">
            <a:avLst/>
          </a:prstGeom>
          <a:noFill/>
        </p:spPr>
        <p:txBody>
          <a:bodyPr wrap="square" lIns="0" tIns="0" rIns="0" bIns="0" anchor="ctr"/>
          <a:lstStyle/>
          <a:p>
            <a:pPr algn="l">
              <a:spcAft>
                <a:spcPts val="400"/>
              </a:spcAft>
            </a:pPr>
            <a:r>
              <a:rPr sz="1300" b="0" i="0">
                <a:solidFill>
                  <a:srgbClr val="1F2937"/>
                </a:solidFill>
                <a:latin typeface="Arial"/>
              </a:rPr>
              <a:t>Decisión del comité (CCB)</a:t>
            </a:r>
          </a:p>
        </p:txBody>
      </p:sp>
      <p:sp>
        <p:nvSpPr>
          <p:cNvPr id="19" name="Oval 18"/>
          <p:cNvSpPr/>
          <p:nvPr/>
        </p:nvSpPr>
        <p:spPr>
          <a:xfrm>
            <a:off x="8869680" y="5257800"/>
            <a:ext cx="329184" cy="329184"/>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1E2433"/>
                </a:solidFill>
                <a:latin typeface="Arial"/>
              </a:rPr>
              <a:t>6</a:t>
            </a:r>
          </a:p>
        </p:txBody>
      </p:sp>
      <p:sp>
        <p:nvSpPr>
          <p:cNvPr id="20" name="TextBox 19"/>
          <p:cNvSpPr txBox="1"/>
          <p:nvPr/>
        </p:nvSpPr>
        <p:spPr>
          <a:xfrm>
            <a:off x="9326880" y="5212080"/>
            <a:ext cx="2377440" cy="457200"/>
          </a:xfrm>
          <a:prstGeom prst="rect">
            <a:avLst/>
          </a:prstGeom>
          <a:noFill/>
        </p:spPr>
        <p:txBody>
          <a:bodyPr wrap="square" lIns="0" tIns="0" rIns="0" bIns="0" anchor="ctr"/>
          <a:lstStyle/>
          <a:p>
            <a:pPr algn="l">
              <a:spcAft>
                <a:spcPts val="400"/>
              </a:spcAft>
            </a:pPr>
            <a:r>
              <a:rPr sz="1300" b="0" i="0">
                <a:solidFill>
                  <a:srgbClr val="1F2937"/>
                </a:solidFill>
                <a:latin typeface="Arial"/>
              </a:rPr>
              <a:t>Implementación y cierre</a:t>
            </a:r>
          </a:p>
        </p:txBody>
      </p:sp>
      <p:sp>
        <p:nvSpPr>
          <p:cNvPr id="21" name="TextBox 20"/>
          <p:cNvSpPr txBox="1"/>
          <p:nvPr/>
        </p:nvSpPr>
        <p:spPr>
          <a:xfrm>
            <a:off x="8869680" y="5943600"/>
            <a:ext cx="2834640" cy="320040"/>
          </a:xfrm>
          <a:prstGeom prst="rect">
            <a:avLst/>
          </a:prstGeom>
          <a:noFill/>
        </p:spPr>
        <p:txBody>
          <a:bodyPr wrap="square" lIns="0" tIns="0" rIns="0" bIns="0" anchor="t"/>
          <a:lstStyle/>
          <a:p>
            <a:pPr algn="l">
              <a:spcAft>
                <a:spcPts val="400"/>
              </a:spcAft>
            </a:pPr>
            <a:r>
              <a:rPr sz="1100" b="0" i="1">
                <a:solidFill>
                  <a:srgbClr val="6B7280"/>
                </a:solidFill>
                <a:latin typeface="Arial"/>
              </a:rPr>
              <a:t>Formato en blanco + ejemplo SC-001</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64240" cy="640080"/>
          </a:xfrm>
          <a:prstGeom prst="rect">
            <a:avLst/>
          </a:prstGeom>
          <a:noFill/>
        </p:spPr>
        <p:txBody>
          <a:bodyPr wrap="square" lIns="0" tIns="0" rIns="0" bIns="0" anchor="t"/>
          <a:lstStyle/>
          <a:p>
            <a:pPr algn="l">
              <a:spcAft>
                <a:spcPts val="400"/>
              </a:spcAft>
            </a:pPr>
            <a:r>
              <a:rPr sz="3200" b="1" i="0">
                <a:solidFill>
                  <a:srgbClr val="1E2433"/>
                </a:solidFill>
                <a:latin typeface="Arial"/>
              </a:rPr>
              <a:t>Matriz de cambios del proyecto</a:t>
            </a:r>
          </a:p>
        </p:txBody>
      </p:sp>
      <p:sp>
        <p:nvSpPr>
          <p:cNvPr id="3" name="TextBox 2"/>
          <p:cNvSpPr txBox="1"/>
          <p:nvPr/>
        </p:nvSpPr>
        <p:spPr>
          <a:xfrm>
            <a:off x="548640" y="1024128"/>
            <a:ext cx="11064240" cy="411480"/>
          </a:xfrm>
          <a:prstGeom prst="rect">
            <a:avLst/>
          </a:prstGeom>
          <a:noFill/>
        </p:spPr>
        <p:txBody>
          <a:bodyPr wrap="square" lIns="0" tIns="0" rIns="0" bIns="0" anchor="t"/>
          <a:lstStyle/>
          <a:p>
            <a:pPr algn="l">
              <a:spcAft>
                <a:spcPts val="400"/>
              </a:spcAft>
            </a:pPr>
            <a:r>
              <a:rPr sz="1600" b="0" i="0">
                <a:solidFill>
                  <a:srgbClr val="6B7280"/>
                </a:solidFill>
                <a:latin typeface="Arial"/>
              </a:rPr>
              <a:t>Registro y estado de cada solicitud (detalle e impacto en docs/GESTION-DEL-CAMBIO.md).</a:t>
            </a:r>
          </a:p>
        </p:txBody>
      </p:sp>
      <p:sp>
        <p:nvSpPr>
          <p:cNvPr id="4" name="TextBox 3"/>
          <p:cNvSpPr txBox="1"/>
          <p:nvPr/>
        </p:nvSpPr>
        <p:spPr>
          <a:xfrm>
            <a:off x="10728655" y="6400800"/>
            <a:ext cx="914400" cy="274320"/>
          </a:xfrm>
          <a:prstGeom prst="rect">
            <a:avLst/>
          </a:prstGeom>
          <a:noFill/>
        </p:spPr>
        <p:txBody>
          <a:bodyPr wrap="square" lIns="0" tIns="0" rIns="0" bIns="0" anchor="t"/>
          <a:lstStyle/>
          <a:p>
            <a:pPr algn="r">
              <a:spcAft>
                <a:spcPts val="400"/>
              </a:spcAft>
            </a:pPr>
            <a:r>
              <a:rPr sz="1000" b="0" i="0">
                <a:solidFill>
                  <a:srgbClr val="6B7280"/>
                </a:solidFill>
                <a:latin typeface="Arial"/>
              </a:rPr>
              <a:t>16</a:t>
            </a:r>
          </a:p>
        </p:txBody>
      </p:sp>
      <p:sp>
        <p:nvSpPr>
          <p:cNvPr id="5" name="TextBox 4"/>
          <p:cNvSpPr txBox="1"/>
          <p:nvPr/>
        </p:nvSpPr>
        <p:spPr>
          <a:xfrm>
            <a:off x="548640" y="6400800"/>
            <a:ext cx="7315200" cy="274320"/>
          </a:xfrm>
          <a:prstGeom prst="rect">
            <a:avLst/>
          </a:prstGeom>
          <a:noFill/>
        </p:spPr>
        <p:txBody>
          <a:bodyPr wrap="square" lIns="0" tIns="0" rIns="0" bIns="0" anchor="t"/>
          <a:lstStyle/>
          <a:p>
            <a:pPr algn="l">
              <a:spcAft>
                <a:spcPts val="400"/>
              </a:spcAft>
            </a:pPr>
            <a:r>
              <a:rPr sz="1000" b="0" i="0">
                <a:solidFill>
                  <a:srgbClr val="6B7280"/>
                </a:solidFill>
                <a:latin typeface="Arial"/>
              </a:rPr>
              <a:t>Grupo 5 · Gestión del Cambio · Evo-RRLL</a:t>
            </a:r>
          </a:p>
        </p:txBody>
      </p:sp>
      <p:graphicFrame>
        <p:nvGraphicFramePr>
          <p:cNvPr id="19" name="Table 5"/>
          <p:cNvGraphicFramePr>
            <a:graphicFrameLocks noGrp="1"/>
          </p:cNvGraphicFramePr>
          <p:nvPr/>
        </p:nvGraphicFramePr>
        <p:xfrm>
          <a:off x="548640" y="1554480"/>
          <a:ext cx="8138160" cy="4224528"/>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20000"/>
                    </a:ext>
                  </a:extLst>
                </a:gridCol>
                <a:gridCol w="278892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gridCol w="1234440">
                  <a:extLst>
                    <a:ext uri="{9D8B030D-6E8A-4147-A177-3AD203B41FA5}">
                      <a16:colId xmlns:a16="http://schemas.microsoft.com/office/drawing/2014/main" val="20005"/>
                    </a:ext>
                  </a:extLst>
                </a:gridCol>
              </a:tblGrid>
              <a:tr h="384048">
                <a:tc>
                  <a:txBody>
                    <a:bodyPr/>
                    <a:lstStyle/>
                    <a:p>
                      <a:r>
                        <a:rPr sz="1100" b="1">
                          <a:solidFill>
                            <a:srgbClr val="FFFFFF"/>
                          </a:solidFill>
                          <a:latin typeface="Arial"/>
                        </a:rPr>
                        <a:t>ID</a:t>
                      </a:r>
                    </a:p>
                  </a:txBody>
                  <a:tcPr anchor="ctr">
                    <a:solidFill>
                      <a:srgbClr val="1E2433"/>
                    </a:solidFill>
                  </a:tcPr>
                </a:tc>
                <a:tc>
                  <a:txBody>
                    <a:bodyPr/>
                    <a:lstStyle/>
                    <a:p>
                      <a:r>
                        <a:rPr sz="1100" b="1">
                          <a:solidFill>
                            <a:srgbClr val="FFFFFF"/>
                          </a:solidFill>
                          <a:latin typeface="Arial"/>
                        </a:rPr>
                        <a:t>Cambio solicitado</a:t>
                      </a:r>
                    </a:p>
                  </a:txBody>
                  <a:tcPr anchor="ctr">
                    <a:solidFill>
                      <a:srgbClr val="1E2433"/>
                    </a:solidFill>
                  </a:tcPr>
                </a:tc>
                <a:tc>
                  <a:txBody>
                    <a:bodyPr/>
                    <a:lstStyle/>
                    <a:p>
                      <a:r>
                        <a:rPr sz="1100" b="1">
                          <a:solidFill>
                            <a:srgbClr val="FFFFFF"/>
                          </a:solidFill>
                          <a:latin typeface="Arial"/>
                        </a:rPr>
                        <a:t>Módulo</a:t>
                      </a:r>
                    </a:p>
                  </a:txBody>
                  <a:tcPr anchor="ctr">
                    <a:solidFill>
                      <a:srgbClr val="1E2433"/>
                    </a:solidFill>
                  </a:tcPr>
                </a:tc>
                <a:tc>
                  <a:txBody>
                    <a:bodyPr/>
                    <a:lstStyle/>
                    <a:p>
                      <a:r>
                        <a:rPr sz="1100" b="1">
                          <a:solidFill>
                            <a:srgbClr val="FFFFFF"/>
                          </a:solidFill>
                          <a:latin typeface="Arial"/>
                        </a:rPr>
                        <a:t>Tipo</a:t>
                      </a:r>
                    </a:p>
                  </a:txBody>
                  <a:tcPr anchor="ctr">
                    <a:solidFill>
                      <a:srgbClr val="1E2433"/>
                    </a:solidFill>
                  </a:tcPr>
                </a:tc>
                <a:tc>
                  <a:txBody>
                    <a:bodyPr/>
                    <a:lstStyle/>
                    <a:p>
                      <a:r>
                        <a:rPr sz="1100" b="1">
                          <a:solidFill>
                            <a:srgbClr val="FFFFFF"/>
                          </a:solidFill>
                          <a:latin typeface="Arial"/>
                        </a:rPr>
                        <a:t>Prioridad</a:t>
                      </a:r>
                    </a:p>
                  </a:txBody>
                  <a:tcPr anchor="ctr">
                    <a:solidFill>
                      <a:srgbClr val="1E2433"/>
                    </a:solidFill>
                  </a:tcPr>
                </a:tc>
                <a:tc>
                  <a:txBody>
                    <a:bodyPr/>
                    <a:lstStyle/>
                    <a:p>
                      <a:r>
                        <a:rPr sz="1100" b="1">
                          <a:solidFill>
                            <a:srgbClr val="FFFFFF"/>
                          </a:solidFill>
                          <a:latin typeface="Arial"/>
                        </a:rPr>
                        <a:t>Estado</a:t>
                      </a:r>
                    </a:p>
                  </a:txBody>
                  <a:tcPr anchor="ctr">
                    <a:solidFill>
                      <a:srgbClr val="1E2433"/>
                    </a:solidFill>
                  </a:tcPr>
                </a:tc>
                <a:extLst>
                  <a:ext uri="{0D108BD9-81ED-4DB2-BD59-A6C34878D82A}">
                    <a16:rowId xmlns:a16="http://schemas.microsoft.com/office/drawing/2014/main" val="10000"/>
                  </a:ext>
                </a:extLst>
              </a:tr>
              <a:tr h="548640">
                <a:tc>
                  <a:txBody>
                    <a:bodyPr/>
                    <a:lstStyle/>
                    <a:p>
                      <a:r>
                        <a:rPr sz="1100" b="1">
                          <a:solidFill>
                            <a:srgbClr val="1F2937"/>
                          </a:solidFill>
                          <a:latin typeface="Arial"/>
                        </a:rPr>
                        <a:t>SC-001</a:t>
                      </a:r>
                    </a:p>
                  </a:txBody>
                  <a:tcPr anchor="ctr">
                    <a:solidFill>
                      <a:srgbClr val="FFFFFF"/>
                    </a:solidFill>
                  </a:tcPr>
                </a:tc>
                <a:tc>
                  <a:txBody>
                    <a:bodyPr/>
                    <a:lstStyle/>
                    <a:p>
                      <a:r>
                        <a:rPr sz="1100" b="0">
                          <a:solidFill>
                            <a:srgbClr val="1F2937"/>
                          </a:solidFill>
                          <a:latin typeface="Arial"/>
                        </a:rPr>
                        <a:t>Validar fechas y solapamiento en permisos</a:t>
                      </a:r>
                    </a:p>
                  </a:txBody>
                  <a:tcPr anchor="ctr">
                    <a:solidFill>
                      <a:srgbClr val="FFFFFF"/>
                    </a:solidFill>
                  </a:tcPr>
                </a:tc>
                <a:tc>
                  <a:txBody>
                    <a:bodyPr/>
                    <a:lstStyle/>
                    <a:p>
                      <a:r>
                        <a:rPr sz="1100" b="0">
                          <a:solidFill>
                            <a:srgbClr val="1F2937"/>
                          </a:solidFill>
                          <a:latin typeface="Arial"/>
                        </a:rPr>
                        <a:t>Permisos</a:t>
                      </a:r>
                    </a:p>
                  </a:txBody>
                  <a:tcPr anchor="ctr">
                    <a:solidFill>
                      <a:srgbClr val="FFFFFF"/>
                    </a:solidFill>
                  </a:tcPr>
                </a:tc>
                <a:tc>
                  <a:txBody>
                    <a:bodyPr/>
                    <a:lstStyle/>
                    <a:p>
                      <a:r>
                        <a:rPr sz="1100" b="0">
                          <a:solidFill>
                            <a:srgbClr val="1F2937"/>
                          </a:solidFill>
                          <a:latin typeface="Arial"/>
                        </a:rPr>
                        <a:t>Correctivo</a:t>
                      </a:r>
                    </a:p>
                  </a:txBody>
                  <a:tcPr anchor="ctr">
                    <a:solidFill>
                      <a:srgbClr val="FFFFFF"/>
                    </a:solidFill>
                  </a:tcPr>
                </a:tc>
                <a:tc>
                  <a:txBody>
                    <a:bodyPr/>
                    <a:lstStyle/>
                    <a:p>
                      <a:r>
                        <a:rPr sz="1100" b="1">
                          <a:solidFill>
                            <a:srgbClr val="B42318"/>
                          </a:solidFill>
                          <a:latin typeface="Arial"/>
                        </a:rPr>
                        <a:t>Alta</a:t>
                      </a:r>
                    </a:p>
                  </a:txBody>
                  <a:tcPr anchor="ctr">
                    <a:solidFill>
                      <a:srgbClr val="FFFFFF"/>
                    </a:solidFill>
                  </a:tcPr>
                </a:tc>
                <a:tc>
                  <a:txBody>
                    <a:bodyPr/>
                    <a:lstStyle/>
                    <a:p>
                      <a:r>
                        <a:rPr sz="1100" b="1">
                          <a:solidFill>
                            <a:srgbClr val="1E7A46"/>
                          </a:solidFill>
                          <a:latin typeface="Arial"/>
                        </a:rPr>
                        <a:t>Aprobado</a:t>
                      </a:r>
                    </a:p>
                  </a:txBody>
                  <a:tcPr anchor="ctr">
                    <a:solidFill>
                      <a:srgbClr val="E7F5EC"/>
                    </a:solidFill>
                  </a:tcPr>
                </a:tc>
                <a:extLst>
                  <a:ext uri="{0D108BD9-81ED-4DB2-BD59-A6C34878D82A}">
                    <a16:rowId xmlns:a16="http://schemas.microsoft.com/office/drawing/2014/main" val="10001"/>
                  </a:ext>
                </a:extLst>
              </a:tr>
              <a:tr h="548640">
                <a:tc>
                  <a:txBody>
                    <a:bodyPr/>
                    <a:lstStyle/>
                    <a:p>
                      <a:r>
                        <a:rPr sz="1100" b="1">
                          <a:solidFill>
                            <a:srgbClr val="1F2937"/>
                          </a:solidFill>
                          <a:latin typeface="Arial"/>
                        </a:rPr>
                        <a:t>SC-002</a:t>
                      </a:r>
                    </a:p>
                  </a:txBody>
                  <a:tcPr anchor="ctr">
                    <a:solidFill>
                      <a:srgbClr val="F3F4F6"/>
                    </a:solidFill>
                  </a:tcPr>
                </a:tc>
                <a:tc>
                  <a:txBody>
                    <a:bodyPr/>
                    <a:lstStyle/>
                    <a:p>
                      <a:r>
                        <a:rPr sz="1100" b="0">
                          <a:solidFill>
                            <a:srgbClr val="1F2937"/>
                          </a:solidFill>
                          <a:latin typeface="Arial"/>
                        </a:rPr>
                        <a:t>Bloquear cuenta tras intentos fallidos</a:t>
                      </a:r>
                    </a:p>
                  </a:txBody>
                  <a:tcPr anchor="ctr">
                    <a:solidFill>
                      <a:srgbClr val="F3F4F6"/>
                    </a:solidFill>
                  </a:tcPr>
                </a:tc>
                <a:tc>
                  <a:txBody>
                    <a:bodyPr/>
                    <a:lstStyle/>
                    <a:p>
                      <a:r>
                        <a:rPr sz="1100" b="0">
                          <a:solidFill>
                            <a:srgbClr val="1F2937"/>
                          </a:solidFill>
                          <a:latin typeface="Arial"/>
                        </a:rPr>
                        <a:t>Seguridad (Login)</a:t>
                      </a:r>
                    </a:p>
                  </a:txBody>
                  <a:tcPr anchor="ctr">
                    <a:solidFill>
                      <a:srgbClr val="F3F4F6"/>
                    </a:solidFill>
                  </a:tcPr>
                </a:tc>
                <a:tc>
                  <a:txBody>
                    <a:bodyPr/>
                    <a:lstStyle/>
                    <a:p>
                      <a:r>
                        <a:rPr sz="1100" b="0">
                          <a:solidFill>
                            <a:srgbClr val="1F2937"/>
                          </a:solidFill>
                          <a:latin typeface="Arial"/>
                        </a:rPr>
                        <a:t>Preventivo</a:t>
                      </a:r>
                    </a:p>
                  </a:txBody>
                  <a:tcPr anchor="ctr">
                    <a:solidFill>
                      <a:srgbClr val="F3F4F6"/>
                    </a:solidFill>
                  </a:tcPr>
                </a:tc>
                <a:tc>
                  <a:txBody>
                    <a:bodyPr/>
                    <a:lstStyle/>
                    <a:p>
                      <a:r>
                        <a:rPr sz="1100" b="1">
                          <a:solidFill>
                            <a:srgbClr val="B42318"/>
                          </a:solidFill>
                          <a:latin typeface="Arial"/>
                        </a:rPr>
                        <a:t>Alta</a:t>
                      </a:r>
                    </a:p>
                  </a:txBody>
                  <a:tcPr anchor="ctr">
                    <a:solidFill>
                      <a:srgbClr val="F3F4F6"/>
                    </a:solidFill>
                  </a:tcPr>
                </a:tc>
                <a:tc>
                  <a:txBody>
                    <a:bodyPr/>
                    <a:lstStyle/>
                    <a:p>
                      <a:r>
                        <a:rPr sz="1100" b="1">
                          <a:solidFill>
                            <a:srgbClr val="1E7A46"/>
                          </a:solidFill>
                          <a:latin typeface="Arial"/>
                        </a:rPr>
                        <a:t>Aprobado</a:t>
                      </a:r>
                    </a:p>
                  </a:txBody>
                  <a:tcPr anchor="ctr">
                    <a:solidFill>
                      <a:srgbClr val="E7F5EC"/>
                    </a:solidFill>
                  </a:tcPr>
                </a:tc>
                <a:extLst>
                  <a:ext uri="{0D108BD9-81ED-4DB2-BD59-A6C34878D82A}">
                    <a16:rowId xmlns:a16="http://schemas.microsoft.com/office/drawing/2014/main" val="10002"/>
                  </a:ext>
                </a:extLst>
              </a:tr>
              <a:tr h="548640">
                <a:tc>
                  <a:txBody>
                    <a:bodyPr/>
                    <a:lstStyle/>
                    <a:p>
                      <a:r>
                        <a:rPr sz="1100" b="1">
                          <a:solidFill>
                            <a:srgbClr val="1F2937"/>
                          </a:solidFill>
                          <a:latin typeface="Arial"/>
                        </a:rPr>
                        <a:t>SC-003</a:t>
                      </a:r>
                    </a:p>
                  </a:txBody>
                  <a:tcPr anchor="ctr">
                    <a:solidFill>
                      <a:srgbClr val="FFFFFF"/>
                    </a:solidFill>
                  </a:tcPr>
                </a:tc>
                <a:tc>
                  <a:txBody>
                    <a:bodyPr/>
                    <a:lstStyle/>
                    <a:p>
                      <a:r>
                        <a:rPr sz="1100" b="0">
                          <a:solidFill>
                            <a:srgbClr val="1F2937"/>
                          </a:solidFill>
                          <a:latin typeface="Arial"/>
                        </a:rPr>
                        <a:t>Exportar asistencia a CSV</a:t>
                      </a:r>
                    </a:p>
                  </a:txBody>
                  <a:tcPr anchor="ctr">
                    <a:solidFill>
                      <a:srgbClr val="FFFFFF"/>
                    </a:solidFill>
                  </a:tcPr>
                </a:tc>
                <a:tc>
                  <a:txBody>
                    <a:bodyPr/>
                    <a:lstStyle/>
                    <a:p>
                      <a:r>
                        <a:rPr sz="1100" b="0">
                          <a:solidFill>
                            <a:srgbClr val="1F2937"/>
                          </a:solidFill>
                          <a:latin typeface="Arial"/>
                        </a:rPr>
                        <a:t>Asistencia</a:t>
                      </a:r>
                    </a:p>
                  </a:txBody>
                  <a:tcPr anchor="ctr">
                    <a:solidFill>
                      <a:srgbClr val="FFFFFF"/>
                    </a:solidFill>
                  </a:tcPr>
                </a:tc>
                <a:tc>
                  <a:txBody>
                    <a:bodyPr/>
                    <a:lstStyle/>
                    <a:p>
                      <a:r>
                        <a:rPr sz="1100" b="0">
                          <a:solidFill>
                            <a:srgbClr val="1F2937"/>
                          </a:solidFill>
                          <a:latin typeface="Arial"/>
                        </a:rPr>
                        <a:t>Perfectivo</a:t>
                      </a:r>
                    </a:p>
                  </a:txBody>
                  <a:tcPr anchor="ctr">
                    <a:solidFill>
                      <a:srgbClr val="FFFFFF"/>
                    </a:solidFill>
                  </a:tcPr>
                </a:tc>
                <a:tc>
                  <a:txBody>
                    <a:bodyPr/>
                    <a:lstStyle/>
                    <a:p>
                      <a:r>
                        <a:rPr sz="1100" b="1">
                          <a:solidFill>
                            <a:srgbClr val="92400E"/>
                          </a:solidFill>
                          <a:latin typeface="Arial"/>
                        </a:rPr>
                        <a:t>Media</a:t>
                      </a:r>
                    </a:p>
                  </a:txBody>
                  <a:tcPr anchor="ctr">
                    <a:solidFill>
                      <a:srgbClr val="FFFFFF"/>
                    </a:solidFill>
                  </a:tcPr>
                </a:tc>
                <a:tc>
                  <a:txBody>
                    <a:bodyPr/>
                    <a:lstStyle/>
                    <a:p>
                      <a:r>
                        <a:rPr sz="1100" b="1">
                          <a:solidFill>
                            <a:srgbClr val="1E7A46"/>
                          </a:solidFill>
                          <a:latin typeface="Arial"/>
                        </a:rPr>
                        <a:t>Aprobado</a:t>
                      </a:r>
                    </a:p>
                  </a:txBody>
                  <a:tcPr anchor="ctr">
                    <a:solidFill>
                      <a:srgbClr val="E7F5EC"/>
                    </a:solidFill>
                  </a:tcPr>
                </a:tc>
                <a:extLst>
                  <a:ext uri="{0D108BD9-81ED-4DB2-BD59-A6C34878D82A}">
                    <a16:rowId xmlns:a16="http://schemas.microsoft.com/office/drawing/2014/main" val="10003"/>
                  </a:ext>
                </a:extLst>
              </a:tr>
              <a:tr h="548640">
                <a:tc>
                  <a:txBody>
                    <a:bodyPr/>
                    <a:lstStyle/>
                    <a:p>
                      <a:r>
                        <a:rPr sz="1100" b="1">
                          <a:solidFill>
                            <a:srgbClr val="1F2937"/>
                          </a:solidFill>
                          <a:latin typeface="Arial"/>
                        </a:rPr>
                        <a:t>SC-004</a:t>
                      </a:r>
                    </a:p>
                  </a:txBody>
                  <a:tcPr anchor="ctr">
                    <a:solidFill>
                      <a:srgbClr val="F3F4F6"/>
                    </a:solidFill>
                  </a:tcPr>
                </a:tc>
                <a:tc>
                  <a:txBody>
                    <a:bodyPr/>
                    <a:lstStyle/>
                    <a:p>
                      <a:r>
                        <a:rPr sz="1100" b="0">
                          <a:solidFill>
                            <a:srgbClr val="1F2937"/>
                          </a:solidFill>
                          <a:latin typeface="Arial"/>
                        </a:rPr>
                        <a:t>Cadena de conexión por variable de entorno</a:t>
                      </a:r>
                    </a:p>
                  </a:txBody>
                  <a:tcPr anchor="ctr">
                    <a:solidFill>
                      <a:srgbClr val="F3F4F6"/>
                    </a:solidFill>
                  </a:tcPr>
                </a:tc>
                <a:tc>
                  <a:txBody>
                    <a:bodyPr/>
                    <a:lstStyle/>
                    <a:p>
                      <a:r>
                        <a:rPr sz="1100" b="0">
                          <a:solidFill>
                            <a:srgbClr val="1F2937"/>
                          </a:solidFill>
                          <a:latin typeface="Arial"/>
                        </a:rPr>
                        <a:t>Configuración</a:t>
                      </a:r>
                    </a:p>
                  </a:txBody>
                  <a:tcPr anchor="ctr">
                    <a:solidFill>
                      <a:srgbClr val="F3F4F6"/>
                    </a:solidFill>
                  </a:tcPr>
                </a:tc>
                <a:tc>
                  <a:txBody>
                    <a:bodyPr/>
                    <a:lstStyle/>
                    <a:p>
                      <a:r>
                        <a:rPr sz="1100" b="0">
                          <a:solidFill>
                            <a:srgbClr val="1F2937"/>
                          </a:solidFill>
                          <a:latin typeface="Arial"/>
                        </a:rPr>
                        <a:t>Adaptativo</a:t>
                      </a:r>
                    </a:p>
                  </a:txBody>
                  <a:tcPr anchor="ctr">
                    <a:solidFill>
                      <a:srgbClr val="F3F4F6"/>
                    </a:solidFill>
                  </a:tcPr>
                </a:tc>
                <a:tc>
                  <a:txBody>
                    <a:bodyPr/>
                    <a:lstStyle/>
                    <a:p>
                      <a:r>
                        <a:rPr sz="1100" b="1">
                          <a:solidFill>
                            <a:srgbClr val="92400E"/>
                          </a:solidFill>
                          <a:latin typeface="Arial"/>
                        </a:rPr>
                        <a:t>Media</a:t>
                      </a:r>
                    </a:p>
                  </a:txBody>
                  <a:tcPr anchor="ctr">
                    <a:solidFill>
                      <a:srgbClr val="F3F4F6"/>
                    </a:solidFill>
                  </a:tcPr>
                </a:tc>
                <a:tc>
                  <a:txBody>
                    <a:bodyPr/>
                    <a:lstStyle/>
                    <a:p>
                      <a:r>
                        <a:rPr sz="1100" b="1">
                          <a:solidFill>
                            <a:srgbClr val="3730A3"/>
                          </a:solidFill>
                          <a:latin typeface="Arial"/>
                        </a:rPr>
                        <a:t>Diferido</a:t>
                      </a:r>
                    </a:p>
                  </a:txBody>
                  <a:tcPr anchor="ctr">
                    <a:solidFill>
                      <a:srgbClr val="E0E7FF"/>
                    </a:solidFill>
                  </a:tcPr>
                </a:tc>
                <a:extLst>
                  <a:ext uri="{0D108BD9-81ED-4DB2-BD59-A6C34878D82A}">
                    <a16:rowId xmlns:a16="http://schemas.microsoft.com/office/drawing/2014/main" val="10004"/>
                  </a:ext>
                </a:extLst>
              </a:tr>
              <a:tr h="548640">
                <a:tc>
                  <a:txBody>
                    <a:bodyPr/>
                    <a:lstStyle/>
                    <a:p>
                      <a:r>
                        <a:rPr sz="1100" b="1">
                          <a:solidFill>
                            <a:srgbClr val="1F2937"/>
                          </a:solidFill>
                          <a:latin typeface="Arial"/>
                        </a:rPr>
                        <a:t>SC-005</a:t>
                      </a:r>
                    </a:p>
                  </a:txBody>
                  <a:tcPr anchor="ctr">
                    <a:solidFill>
                      <a:srgbClr val="FFFFFF"/>
                    </a:solidFill>
                  </a:tcPr>
                </a:tc>
                <a:tc>
                  <a:txBody>
                    <a:bodyPr/>
                    <a:lstStyle/>
                    <a:p>
                      <a:r>
                        <a:rPr sz="1100" b="0">
                          <a:solidFill>
                            <a:srgbClr val="1F2937"/>
                          </a:solidFill>
                          <a:latin typeface="Arial"/>
                        </a:rPr>
                        <a:t>Filtrar y paginar permisos en la BD</a:t>
                      </a:r>
                    </a:p>
                  </a:txBody>
                  <a:tcPr anchor="ctr">
                    <a:solidFill>
                      <a:srgbClr val="FFFFFF"/>
                    </a:solidFill>
                  </a:tcPr>
                </a:tc>
                <a:tc>
                  <a:txBody>
                    <a:bodyPr/>
                    <a:lstStyle/>
                    <a:p>
                      <a:r>
                        <a:rPr sz="1100" b="0">
                          <a:solidFill>
                            <a:srgbClr val="1F2937"/>
                          </a:solidFill>
                          <a:latin typeface="Arial"/>
                        </a:rPr>
                        <a:t>Permisos</a:t>
                      </a:r>
                    </a:p>
                  </a:txBody>
                  <a:tcPr anchor="ctr">
                    <a:solidFill>
                      <a:srgbClr val="FFFFFF"/>
                    </a:solidFill>
                  </a:tcPr>
                </a:tc>
                <a:tc>
                  <a:txBody>
                    <a:bodyPr/>
                    <a:lstStyle/>
                    <a:p>
                      <a:r>
                        <a:rPr sz="1100" b="0">
                          <a:solidFill>
                            <a:srgbClr val="1F2937"/>
                          </a:solidFill>
                          <a:latin typeface="Arial"/>
                        </a:rPr>
                        <a:t>Perfectivo</a:t>
                      </a:r>
                    </a:p>
                  </a:txBody>
                  <a:tcPr anchor="ctr">
                    <a:solidFill>
                      <a:srgbClr val="FFFFFF"/>
                    </a:solidFill>
                  </a:tcPr>
                </a:tc>
                <a:tc>
                  <a:txBody>
                    <a:bodyPr/>
                    <a:lstStyle/>
                    <a:p>
                      <a:r>
                        <a:rPr sz="1100" b="1">
                          <a:solidFill>
                            <a:srgbClr val="1E7A46"/>
                          </a:solidFill>
                          <a:latin typeface="Arial"/>
                        </a:rPr>
                        <a:t>Baja</a:t>
                      </a:r>
                    </a:p>
                  </a:txBody>
                  <a:tcPr anchor="ctr">
                    <a:solidFill>
                      <a:srgbClr val="FFFFFF"/>
                    </a:solidFill>
                  </a:tcPr>
                </a:tc>
                <a:tc>
                  <a:txBody>
                    <a:bodyPr/>
                    <a:lstStyle/>
                    <a:p>
                      <a:r>
                        <a:rPr sz="1100" b="1">
                          <a:solidFill>
                            <a:srgbClr val="92400E"/>
                          </a:solidFill>
                          <a:latin typeface="Arial"/>
                        </a:rPr>
                        <a:t>En evaluación</a:t>
                      </a:r>
                    </a:p>
                  </a:txBody>
                  <a:tcPr anchor="ctr">
                    <a:solidFill>
                      <a:srgbClr val="FEF3C7"/>
                    </a:solidFill>
                  </a:tcPr>
                </a:tc>
                <a:extLst>
                  <a:ext uri="{0D108BD9-81ED-4DB2-BD59-A6C34878D82A}">
                    <a16:rowId xmlns:a16="http://schemas.microsoft.com/office/drawing/2014/main" val="10005"/>
                  </a:ext>
                </a:extLst>
              </a:tr>
              <a:tr h="548640">
                <a:tc>
                  <a:txBody>
                    <a:bodyPr/>
                    <a:lstStyle/>
                    <a:p>
                      <a:r>
                        <a:rPr sz="1100" b="1">
                          <a:solidFill>
                            <a:srgbClr val="1F2937"/>
                          </a:solidFill>
                          <a:latin typeface="Arial"/>
                        </a:rPr>
                        <a:t>SC-006</a:t>
                      </a:r>
                    </a:p>
                  </a:txBody>
                  <a:tcPr anchor="ctr">
                    <a:solidFill>
                      <a:srgbClr val="F3F4F6"/>
                    </a:solidFill>
                  </a:tcPr>
                </a:tc>
                <a:tc>
                  <a:txBody>
                    <a:bodyPr/>
                    <a:lstStyle/>
                    <a:p>
                      <a:r>
                        <a:rPr sz="1100" b="0">
                          <a:solidFill>
                            <a:srgbClr val="1F2937"/>
                          </a:solidFill>
                          <a:latin typeface="Arial"/>
                        </a:rPr>
                        <a:t>Arquitectura en capas: cambiar BD = cambiar solo Capa Datos</a:t>
                      </a:r>
                    </a:p>
                  </a:txBody>
                  <a:tcPr anchor="ctr">
                    <a:solidFill>
                      <a:srgbClr val="F3F4F6"/>
                    </a:solidFill>
                  </a:tcPr>
                </a:tc>
                <a:tc>
                  <a:txBody>
                    <a:bodyPr/>
                    <a:lstStyle/>
                    <a:p>
                      <a:r>
                        <a:rPr sz="1100" b="0">
                          <a:solidFill>
                            <a:srgbClr val="1F2937"/>
                          </a:solidFill>
                          <a:latin typeface="Arial"/>
                        </a:rPr>
                        <a:t>Todas las capas</a:t>
                      </a:r>
                    </a:p>
                  </a:txBody>
                  <a:tcPr anchor="ctr">
                    <a:solidFill>
                      <a:srgbClr val="F3F4F6"/>
                    </a:solidFill>
                  </a:tcPr>
                </a:tc>
                <a:tc>
                  <a:txBody>
                    <a:bodyPr/>
                    <a:lstStyle/>
                    <a:p>
                      <a:r>
                        <a:rPr sz="1100" b="0">
                          <a:solidFill>
                            <a:srgbClr val="1F2937"/>
                          </a:solidFill>
                          <a:latin typeface="Arial"/>
                        </a:rPr>
                        <a:t>Perfectivo</a:t>
                      </a:r>
                    </a:p>
                  </a:txBody>
                  <a:tcPr anchor="ctr">
                    <a:solidFill>
                      <a:srgbClr val="F3F4F6"/>
                    </a:solidFill>
                  </a:tcPr>
                </a:tc>
                <a:tc>
                  <a:txBody>
                    <a:bodyPr/>
                    <a:lstStyle/>
                    <a:p>
                      <a:r>
                        <a:rPr sz="1100" b="1">
                          <a:solidFill>
                            <a:srgbClr val="92400E"/>
                          </a:solidFill>
                          <a:latin typeface="Arial"/>
                        </a:rPr>
                        <a:t>Media</a:t>
                      </a:r>
                    </a:p>
                  </a:txBody>
                  <a:tcPr anchor="ctr">
                    <a:solidFill>
                      <a:srgbClr val="F3F4F6"/>
                    </a:solidFill>
                  </a:tcPr>
                </a:tc>
                <a:tc>
                  <a:txBody>
                    <a:bodyPr/>
                    <a:lstStyle/>
                    <a:p>
                      <a:r>
                        <a:rPr sz="1100" b="1">
                          <a:solidFill>
                            <a:srgbClr val="1E7A46"/>
                          </a:solidFill>
                          <a:latin typeface="Arial"/>
                        </a:rPr>
                        <a:t>Implementado</a:t>
                      </a:r>
                    </a:p>
                  </a:txBody>
                  <a:tcPr anchor="ctr">
                    <a:solidFill>
                      <a:srgbClr val="E7F5EC"/>
                    </a:solidFill>
                  </a:tcPr>
                </a:tc>
                <a:extLst>
                  <a:ext uri="{0D108BD9-81ED-4DB2-BD59-A6C34878D82A}">
                    <a16:rowId xmlns:a16="http://schemas.microsoft.com/office/drawing/2014/main" val="10006"/>
                  </a:ext>
                </a:extLst>
              </a:tr>
              <a:tr h="548640">
                <a:tc>
                  <a:txBody>
                    <a:bodyPr/>
                    <a:lstStyle/>
                    <a:p>
                      <a:r>
                        <a:rPr sz="1100" b="1">
                          <a:solidFill>
                            <a:srgbClr val="1F2937"/>
                          </a:solidFill>
                          <a:latin typeface="Arial"/>
                        </a:rPr>
                        <a:t>SC-007</a:t>
                      </a:r>
                    </a:p>
                  </a:txBody>
                  <a:tcPr anchor="ctr">
                    <a:solidFill>
                      <a:srgbClr val="FFFFFF"/>
                    </a:solidFill>
                  </a:tcPr>
                </a:tc>
                <a:tc>
                  <a:txBody>
                    <a:bodyPr/>
                    <a:lstStyle/>
                    <a:p>
                      <a:r>
                        <a:rPr sz="1100" b="0">
                          <a:solidFill>
                            <a:srgbClr val="1F2937"/>
                          </a:solidFill>
                          <a:latin typeface="Arial"/>
                        </a:rPr>
                        <a:t>Rediseño de la interfaz con Tailwind CSS</a:t>
                      </a:r>
                    </a:p>
                  </a:txBody>
                  <a:tcPr anchor="ctr">
                    <a:solidFill>
                      <a:srgbClr val="FFFFFF"/>
                    </a:solidFill>
                  </a:tcPr>
                </a:tc>
                <a:tc>
                  <a:txBody>
                    <a:bodyPr/>
                    <a:lstStyle/>
                    <a:p>
                      <a:r>
                        <a:rPr sz="1100" b="0">
                          <a:solidFill>
                            <a:srgbClr val="1F2937"/>
                          </a:solidFill>
                          <a:latin typeface="Arial"/>
                        </a:rPr>
                        <a:t>Vistas (interfaz)</a:t>
                      </a:r>
                    </a:p>
                  </a:txBody>
                  <a:tcPr anchor="ctr">
                    <a:solidFill>
                      <a:srgbClr val="FFFFFF"/>
                    </a:solidFill>
                  </a:tcPr>
                </a:tc>
                <a:tc>
                  <a:txBody>
                    <a:bodyPr/>
                    <a:lstStyle/>
                    <a:p>
                      <a:r>
                        <a:rPr sz="1100" b="0">
                          <a:solidFill>
                            <a:srgbClr val="1F2937"/>
                          </a:solidFill>
                          <a:latin typeface="Arial"/>
                        </a:rPr>
                        <a:t>Perfectivo</a:t>
                      </a:r>
                    </a:p>
                  </a:txBody>
                  <a:tcPr anchor="ctr">
                    <a:solidFill>
                      <a:srgbClr val="FFFFFF"/>
                    </a:solidFill>
                  </a:tcPr>
                </a:tc>
                <a:tc>
                  <a:txBody>
                    <a:bodyPr/>
                    <a:lstStyle/>
                    <a:p>
                      <a:r>
                        <a:rPr sz="1100" b="1">
                          <a:solidFill>
                            <a:srgbClr val="92400E"/>
                          </a:solidFill>
                          <a:latin typeface="Arial"/>
                        </a:rPr>
                        <a:t>Media</a:t>
                      </a:r>
                    </a:p>
                  </a:txBody>
                  <a:tcPr anchor="ctr">
                    <a:solidFill>
                      <a:srgbClr val="FFFFFF"/>
                    </a:solidFill>
                  </a:tcPr>
                </a:tc>
                <a:tc>
                  <a:txBody>
                    <a:bodyPr/>
                    <a:lstStyle/>
                    <a:p>
                      <a:r>
                        <a:rPr sz="1100" b="1">
                          <a:solidFill>
                            <a:srgbClr val="1E7A46"/>
                          </a:solidFill>
                          <a:latin typeface="Arial"/>
                        </a:rPr>
                        <a:t>Implementado</a:t>
                      </a:r>
                    </a:p>
                  </a:txBody>
                  <a:tcPr anchor="ctr">
                    <a:solidFill>
                      <a:srgbClr val="E7F5EC"/>
                    </a:solidFill>
                  </a:tcPr>
                </a:tc>
                <a:extLst>
                  <a:ext uri="{0D108BD9-81ED-4DB2-BD59-A6C34878D82A}">
                    <a16:rowId xmlns:a16="http://schemas.microsoft.com/office/drawing/2014/main" val="10007"/>
                  </a:ext>
                </a:extLst>
              </a:tr>
            </a:tbl>
          </a:graphicData>
        </a:graphic>
      </p:graphicFrame>
      <p:sp>
        <p:nvSpPr>
          <p:cNvPr id="7" name="Rounded Rectangle 6"/>
          <p:cNvSpPr/>
          <p:nvPr/>
        </p:nvSpPr>
        <p:spPr>
          <a:xfrm>
            <a:off x="8961120" y="1554480"/>
            <a:ext cx="2697480" cy="1024128"/>
          </a:xfrm>
          <a:prstGeom prst="roundRect">
            <a:avLst>
              <a:gd name="adj" fmla="val 6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89720" y="1627632"/>
            <a:ext cx="2377440" cy="548640"/>
          </a:xfrm>
          <a:prstGeom prst="rect">
            <a:avLst/>
          </a:prstGeom>
          <a:noFill/>
        </p:spPr>
        <p:txBody>
          <a:bodyPr wrap="square" lIns="0" tIns="0" rIns="0" bIns="0" anchor="t"/>
          <a:lstStyle/>
          <a:p>
            <a:pPr algn="l">
              <a:spcAft>
                <a:spcPts val="400"/>
              </a:spcAft>
            </a:pPr>
            <a:r>
              <a:rPr sz="2800" b="1" i="0">
                <a:solidFill>
                  <a:srgbClr val="F2A900"/>
                </a:solidFill>
                <a:latin typeface="Arial"/>
              </a:rPr>
              <a:t>7</a:t>
            </a:r>
          </a:p>
        </p:txBody>
      </p:sp>
      <p:sp>
        <p:nvSpPr>
          <p:cNvPr id="9" name="TextBox 8"/>
          <p:cNvSpPr txBox="1"/>
          <p:nvPr/>
        </p:nvSpPr>
        <p:spPr>
          <a:xfrm>
            <a:off x="9189720" y="2157984"/>
            <a:ext cx="2377440" cy="365760"/>
          </a:xfrm>
          <a:prstGeom prst="rect">
            <a:avLst/>
          </a:prstGeom>
          <a:noFill/>
        </p:spPr>
        <p:txBody>
          <a:bodyPr wrap="square" lIns="0" tIns="0" rIns="0" bIns="0" anchor="t"/>
          <a:lstStyle/>
          <a:p>
            <a:pPr algn="l">
              <a:spcAft>
                <a:spcPts val="400"/>
              </a:spcAft>
            </a:pPr>
            <a:r>
              <a:rPr sz="1300" b="0" i="0">
                <a:solidFill>
                  <a:srgbClr val="FFFFFF"/>
                </a:solidFill>
                <a:latin typeface="Arial"/>
              </a:rPr>
              <a:t>solicitudes registradas</a:t>
            </a:r>
          </a:p>
        </p:txBody>
      </p:sp>
      <p:sp>
        <p:nvSpPr>
          <p:cNvPr id="10" name="Rounded Rectangle 9"/>
          <p:cNvSpPr/>
          <p:nvPr/>
        </p:nvSpPr>
        <p:spPr>
          <a:xfrm>
            <a:off x="8961120" y="2743200"/>
            <a:ext cx="2697480" cy="1024128"/>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89720" y="2816352"/>
            <a:ext cx="2377440" cy="548640"/>
          </a:xfrm>
          <a:prstGeom prst="rect">
            <a:avLst/>
          </a:prstGeom>
          <a:noFill/>
        </p:spPr>
        <p:txBody>
          <a:bodyPr wrap="square" lIns="0" tIns="0" rIns="0" bIns="0" anchor="t"/>
          <a:lstStyle/>
          <a:p>
            <a:pPr algn="l">
              <a:spcAft>
                <a:spcPts val="400"/>
              </a:spcAft>
            </a:pPr>
            <a:r>
              <a:rPr sz="2800" b="1" i="0">
                <a:solidFill>
                  <a:srgbClr val="1E2433"/>
                </a:solidFill>
                <a:latin typeface="Arial"/>
              </a:rPr>
              <a:t>3</a:t>
            </a:r>
          </a:p>
        </p:txBody>
      </p:sp>
      <p:sp>
        <p:nvSpPr>
          <p:cNvPr id="12" name="TextBox 11"/>
          <p:cNvSpPr txBox="1"/>
          <p:nvPr/>
        </p:nvSpPr>
        <p:spPr>
          <a:xfrm>
            <a:off x="9189720" y="3346704"/>
            <a:ext cx="2377440" cy="365760"/>
          </a:xfrm>
          <a:prstGeom prst="rect">
            <a:avLst/>
          </a:prstGeom>
          <a:noFill/>
        </p:spPr>
        <p:txBody>
          <a:bodyPr wrap="square" lIns="0" tIns="0" rIns="0" bIns="0" anchor="t"/>
          <a:lstStyle/>
          <a:p>
            <a:pPr algn="l">
              <a:spcAft>
                <a:spcPts val="400"/>
              </a:spcAft>
            </a:pPr>
            <a:r>
              <a:rPr sz="1300" b="0" i="0">
                <a:solidFill>
                  <a:srgbClr val="1F2937"/>
                </a:solidFill>
                <a:latin typeface="Arial"/>
              </a:rPr>
              <a:t>aprobadas para la v1.3</a:t>
            </a:r>
          </a:p>
        </p:txBody>
      </p:sp>
      <p:sp>
        <p:nvSpPr>
          <p:cNvPr id="13" name="Rounded Rectangle 12"/>
          <p:cNvSpPr/>
          <p:nvPr/>
        </p:nvSpPr>
        <p:spPr>
          <a:xfrm>
            <a:off x="8961120" y="3931920"/>
            <a:ext cx="2697480" cy="1024128"/>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89720" y="4005072"/>
            <a:ext cx="2377440" cy="548640"/>
          </a:xfrm>
          <a:prstGeom prst="rect">
            <a:avLst/>
          </a:prstGeom>
          <a:noFill/>
        </p:spPr>
        <p:txBody>
          <a:bodyPr wrap="square" lIns="0" tIns="0" rIns="0" bIns="0" anchor="t"/>
          <a:lstStyle/>
          <a:p>
            <a:pPr algn="l">
              <a:spcAft>
                <a:spcPts val="400"/>
              </a:spcAft>
            </a:pPr>
            <a:r>
              <a:rPr sz="2800" b="1" i="0">
                <a:solidFill>
                  <a:srgbClr val="1E2433"/>
                </a:solidFill>
                <a:latin typeface="Arial"/>
              </a:rPr>
              <a:t>2</a:t>
            </a:r>
          </a:p>
        </p:txBody>
      </p:sp>
      <p:sp>
        <p:nvSpPr>
          <p:cNvPr id="15" name="TextBox 14"/>
          <p:cNvSpPr txBox="1"/>
          <p:nvPr/>
        </p:nvSpPr>
        <p:spPr>
          <a:xfrm>
            <a:off x="9189720" y="4535424"/>
            <a:ext cx="2377440" cy="365760"/>
          </a:xfrm>
          <a:prstGeom prst="rect">
            <a:avLst/>
          </a:prstGeom>
          <a:noFill/>
        </p:spPr>
        <p:txBody>
          <a:bodyPr wrap="square" lIns="0" tIns="0" rIns="0" bIns="0" anchor="t"/>
          <a:lstStyle/>
          <a:p>
            <a:pPr algn="l">
              <a:spcAft>
                <a:spcPts val="400"/>
              </a:spcAft>
            </a:pPr>
            <a:r>
              <a:rPr sz="1300" b="0" i="0">
                <a:solidFill>
                  <a:srgbClr val="1F2937"/>
                </a:solidFill>
                <a:latin typeface="Arial"/>
              </a:rPr>
              <a:t>ya implementadas</a:t>
            </a:r>
          </a:p>
        </p:txBody>
      </p:sp>
      <p:sp>
        <p:nvSpPr>
          <p:cNvPr id="16" name="Rounded Rectangle 15"/>
          <p:cNvSpPr/>
          <p:nvPr/>
        </p:nvSpPr>
        <p:spPr>
          <a:xfrm>
            <a:off x="8961120" y="5120640"/>
            <a:ext cx="2697480" cy="1024128"/>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89720" y="5193792"/>
            <a:ext cx="2377440" cy="548640"/>
          </a:xfrm>
          <a:prstGeom prst="rect">
            <a:avLst/>
          </a:prstGeom>
          <a:noFill/>
        </p:spPr>
        <p:txBody>
          <a:bodyPr wrap="square" lIns="0" tIns="0" rIns="0" bIns="0" anchor="t"/>
          <a:lstStyle/>
          <a:p>
            <a:pPr algn="l">
              <a:spcAft>
                <a:spcPts val="400"/>
              </a:spcAft>
            </a:pPr>
            <a:r>
              <a:rPr sz="2800" b="1" i="0">
                <a:solidFill>
                  <a:srgbClr val="1E2433"/>
                </a:solidFill>
                <a:latin typeface="Arial"/>
              </a:rPr>
              <a:t>1 / 1</a:t>
            </a:r>
          </a:p>
        </p:txBody>
      </p:sp>
      <p:sp>
        <p:nvSpPr>
          <p:cNvPr id="18" name="TextBox 17"/>
          <p:cNvSpPr txBox="1"/>
          <p:nvPr/>
        </p:nvSpPr>
        <p:spPr>
          <a:xfrm>
            <a:off x="9189720" y="5724144"/>
            <a:ext cx="2377440" cy="365760"/>
          </a:xfrm>
          <a:prstGeom prst="rect">
            <a:avLst/>
          </a:prstGeom>
          <a:noFill/>
        </p:spPr>
        <p:txBody>
          <a:bodyPr wrap="square" lIns="0" tIns="0" rIns="0" bIns="0" anchor="t"/>
          <a:lstStyle/>
          <a:p>
            <a:pPr algn="l">
              <a:spcAft>
                <a:spcPts val="400"/>
              </a:spcAft>
            </a:pPr>
            <a:r>
              <a:rPr sz="1300" b="0" i="0">
                <a:solidFill>
                  <a:srgbClr val="1F2937"/>
                </a:solidFill>
                <a:latin typeface="Arial"/>
              </a:rPr>
              <a:t>diferida / en evaluación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64240" cy="640080"/>
          </a:xfrm>
          <a:prstGeom prst="rect">
            <a:avLst/>
          </a:prstGeom>
          <a:noFill/>
        </p:spPr>
        <p:txBody>
          <a:bodyPr wrap="square" lIns="0" tIns="0" rIns="0" bIns="0" anchor="t"/>
          <a:lstStyle/>
          <a:p>
            <a:pPr algn="l">
              <a:spcAft>
                <a:spcPts val="400"/>
              </a:spcAft>
            </a:pPr>
            <a:r>
              <a:rPr sz="3200" b="1" i="0">
                <a:solidFill>
                  <a:srgbClr val="1E2433"/>
                </a:solidFill>
                <a:latin typeface="Arial"/>
              </a:rPr>
              <a:t>Análisis de impacto</a:t>
            </a:r>
          </a:p>
        </p:txBody>
      </p:sp>
      <p:sp>
        <p:nvSpPr>
          <p:cNvPr id="3" name="TextBox 2"/>
          <p:cNvSpPr txBox="1"/>
          <p:nvPr/>
        </p:nvSpPr>
        <p:spPr>
          <a:xfrm>
            <a:off x="548640" y="1024128"/>
            <a:ext cx="11064240" cy="411480"/>
          </a:xfrm>
          <a:prstGeom prst="rect">
            <a:avLst/>
          </a:prstGeom>
          <a:noFill/>
        </p:spPr>
        <p:txBody>
          <a:bodyPr wrap="square" lIns="0" tIns="0" rIns="0" bIns="0" anchor="t"/>
          <a:lstStyle/>
          <a:p>
            <a:pPr algn="l">
              <a:spcAft>
                <a:spcPts val="400"/>
              </a:spcAft>
            </a:pPr>
            <a:r>
              <a:rPr sz="1600" b="0" i="0">
                <a:solidFill>
                  <a:srgbClr val="6B7280"/>
                </a:solidFill>
                <a:latin typeface="Arial"/>
              </a:rPr>
              <a:t>Qué capas del sistema toca cada cambio (detalle completo en la hoja 'Análisis de impacto' de la matriz).</a:t>
            </a:r>
          </a:p>
        </p:txBody>
      </p:sp>
      <p:sp>
        <p:nvSpPr>
          <p:cNvPr id="4" name="TextBox 3"/>
          <p:cNvSpPr txBox="1"/>
          <p:nvPr/>
        </p:nvSpPr>
        <p:spPr>
          <a:xfrm>
            <a:off x="10728655" y="6400800"/>
            <a:ext cx="914400" cy="274320"/>
          </a:xfrm>
          <a:prstGeom prst="rect">
            <a:avLst/>
          </a:prstGeom>
          <a:noFill/>
        </p:spPr>
        <p:txBody>
          <a:bodyPr wrap="square" lIns="0" tIns="0" rIns="0" bIns="0" anchor="t"/>
          <a:lstStyle/>
          <a:p>
            <a:pPr algn="r">
              <a:spcAft>
                <a:spcPts val="400"/>
              </a:spcAft>
            </a:pPr>
            <a:r>
              <a:rPr sz="1000" b="0" i="0">
                <a:solidFill>
                  <a:srgbClr val="6B7280"/>
                </a:solidFill>
                <a:latin typeface="Arial"/>
              </a:rPr>
              <a:t>17</a:t>
            </a:r>
          </a:p>
        </p:txBody>
      </p:sp>
      <p:sp>
        <p:nvSpPr>
          <p:cNvPr id="5" name="TextBox 4"/>
          <p:cNvSpPr txBox="1"/>
          <p:nvPr/>
        </p:nvSpPr>
        <p:spPr>
          <a:xfrm>
            <a:off x="548640" y="6400800"/>
            <a:ext cx="7315200" cy="274320"/>
          </a:xfrm>
          <a:prstGeom prst="rect">
            <a:avLst/>
          </a:prstGeom>
          <a:noFill/>
        </p:spPr>
        <p:txBody>
          <a:bodyPr wrap="square" lIns="0" tIns="0" rIns="0" bIns="0" anchor="t"/>
          <a:lstStyle/>
          <a:p>
            <a:pPr algn="l">
              <a:spcAft>
                <a:spcPts val="400"/>
              </a:spcAft>
            </a:pPr>
            <a:r>
              <a:rPr sz="1000" b="0" i="0">
                <a:solidFill>
                  <a:srgbClr val="6B7280"/>
                </a:solidFill>
                <a:latin typeface="Arial"/>
              </a:rPr>
              <a:t>Grupo 5 · Gestión del Cambio · Evo-RRLL</a:t>
            </a:r>
          </a:p>
        </p:txBody>
      </p:sp>
      <p:graphicFrame>
        <p:nvGraphicFramePr>
          <p:cNvPr id="6" name="Table 5"/>
          <p:cNvGraphicFramePr>
            <a:graphicFrameLocks noGrp="1"/>
          </p:cNvGraphicFramePr>
          <p:nvPr/>
        </p:nvGraphicFramePr>
        <p:xfrm>
          <a:off x="548640" y="1645920"/>
          <a:ext cx="7589520" cy="3364992"/>
        </p:xfrm>
        <a:graphic>
          <a:graphicData uri="http://schemas.openxmlformats.org/drawingml/2006/table">
            <a:tbl>
              <a:tblPr firstRow="1" bandRow="1">
                <a:tableStyleId>{5C22544A-7EE6-4342-B048-85BDC9FD1C3A}</a:tableStyleId>
              </a:tblPr>
              <a:tblGrid>
                <a:gridCol w="82296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gridCol w="731520">
                  <a:extLst>
                    <a:ext uri="{9D8B030D-6E8A-4147-A177-3AD203B41FA5}">
                      <a16:colId xmlns:a16="http://schemas.microsoft.com/office/drawing/2014/main" val="20005"/>
                    </a:ext>
                  </a:extLst>
                </a:gridCol>
                <a:gridCol w="731520">
                  <a:extLst>
                    <a:ext uri="{9D8B030D-6E8A-4147-A177-3AD203B41FA5}">
                      <a16:colId xmlns:a16="http://schemas.microsoft.com/office/drawing/2014/main" val="20006"/>
                    </a:ext>
                  </a:extLst>
                </a:gridCol>
                <a:gridCol w="731520">
                  <a:extLst>
                    <a:ext uri="{9D8B030D-6E8A-4147-A177-3AD203B41FA5}">
                      <a16:colId xmlns:a16="http://schemas.microsoft.com/office/drawing/2014/main" val="20007"/>
                    </a:ext>
                  </a:extLst>
                </a:gridCol>
                <a:gridCol w="822960">
                  <a:extLst>
                    <a:ext uri="{9D8B030D-6E8A-4147-A177-3AD203B41FA5}">
                      <a16:colId xmlns:a16="http://schemas.microsoft.com/office/drawing/2014/main" val="20008"/>
                    </a:ext>
                  </a:extLst>
                </a:gridCol>
                <a:gridCol w="822960">
                  <a:extLst>
                    <a:ext uri="{9D8B030D-6E8A-4147-A177-3AD203B41FA5}">
                      <a16:colId xmlns:a16="http://schemas.microsoft.com/office/drawing/2014/main" val="20009"/>
                    </a:ext>
                  </a:extLst>
                </a:gridCol>
              </a:tblGrid>
              <a:tr h="420624">
                <a:tc>
                  <a:txBody>
                    <a:bodyPr/>
                    <a:lstStyle/>
                    <a:p>
                      <a:pPr algn="ctr"/>
                      <a:r>
                        <a:rPr sz="1050" b="1">
                          <a:solidFill>
                            <a:srgbClr val="FFFFFF"/>
                          </a:solidFill>
                          <a:latin typeface="Arial"/>
                        </a:rPr>
                        <a:t>SC</a:t>
                      </a:r>
                    </a:p>
                  </a:txBody>
                  <a:tcPr marL="36576" marR="36576" anchor="ctr">
                    <a:solidFill>
                      <a:srgbClr val="1E2433"/>
                    </a:solidFill>
                  </a:tcPr>
                </a:tc>
                <a:tc>
                  <a:txBody>
                    <a:bodyPr/>
                    <a:lstStyle/>
                    <a:p>
                      <a:pPr algn="ctr"/>
                      <a:r>
                        <a:rPr sz="1050" b="1">
                          <a:solidFill>
                            <a:srgbClr val="FFFFFF"/>
                          </a:solidFill>
                          <a:latin typeface="Arial"/>
                        </a:rPr>
                        <a:t>Entidades</a:t>
                      </a:r>
                    </a:p>
                  </a:txBody>
                  <a:tcPr marL="36576" marR="36576" anchor="ctr">
                    <a:solidFill>
                      <a:srgbClr val="1E2433"/>
                    </a:solidFill>
                  </a:tcPr>
                </a:tc>
                <a:tc>
                  <a:txBody>
                    <a:bodyPr/>
                    <a:lstStyle/>
                    <a:p>
                      <a:pPr algn="ctr"/>
                      <a:r>
                        <a:rPr sz="1050" b="1">
                          <a:solidFill>
                            <a:srgbClr val="FFFFFF"/>
                          </a:solidFill>
                          <a:latin typeface="Arial"/>
                        </a:rPr>
                        <a:t>Datos</a:t>
                      </a:r>
                    </a:p>
                  </a:txBody>
                  <a:tcPr marL="36576" marR="36576" anchor="ctr">
                    <a:solidFill>
                      <a:srgbClr val="1E2433"/>
                    </a:solidFill>
                  </a:tcPr>
                </a:tc>
                <a:tc>
                  <a:txBody>
                    <a:bodyPr/>
                    <a:lstStyle/>
                    <a:p>
                      <a:pPr algn="ctr"/>
                      <a:r>
                        <a:rPr sz="1050" b="1">
                          <a:solidFill>
                            <a:srgbClr val="FFFFFF"/>
                          </a:solidFill>
                          <a:latin typeface="Arial"/>
                        </a:rPr>
                        <a:t>Lógica</a:t>
                      </a:r>
                    </a:p>
                  </a:txBody>
                  <a:tcPr marL="36576" marR="36576" anchor="ctr">
                    <a:solidFill>
                      <a:srgbClr val="1E2433"/>
                    </a:solidFill>
                  </a:tcPr>
                </a:tc>
                <a:tc>
                  <a:txBody>
                    <a:bodyPr/>
                    <a:lstStyle/>
                    <a:p>
                      <a:pPr algn="ctr"/>
                      <a:r>
                        <a:rPr sz="1050" b="1">
                          <a:solidFill>
                            <a:srgbClr val="FFFFFF"/>
                          </a:solidFill>
                          <a:latin typeface="Arial"/>
                        </a:rPr>
                        <a:t>Contro-
ladores</a:t>
                      </a:r>
                    </a:p>
                  </a:txBody>
                  <a:tcPr marL="36576" marR="36576" anchor="ctr">
                    <a:solidFill>
                      <a:srgbClr val="1E2433"/>
                    </a:solidFill>
                  </a:tcPr>
                </a:tc>
                <a:tc>
                  <a:txBody>
                    <a:bodyPr/>
                    <a:lstStyle/>
                    <a:p>
                      <a:pPr algn="ctr"/>
                      <a:r>
                        <a:rPr sz="1050" b="1">
                          <a:solidFill>
                            <a:srgbClr val="FFFFFF"/>
                          </a:solidFill>
                          <a:latin typeface="Arial"/>
                        </a:rPr>
                        <a:t>Vistas</a:t>
                      </a:r>
                    </a:p>
                  </a:txBody>
                  <a:tcPr marL="36576" marR="36576" anchor="ctr">
                    <a:solidFill>
                      <a:srgbClr val="1E2433"/>
                    </a:solidFill>
                  </a:tcPr>
                </a:tc>
                <a:tc>
                  <a:txBody>
                    <a:bodyPr/>
                    <a:lstStyle/>
                    <a:p>
                      <a:pPr algn="ctr"/>
                      <a:r>
                        <a:rPr sz="1050" b="1">
                          <a:solidFill>
                            <a:srgbClr val="FFFFFF"/>
                          </a:solidFill>
                          <a:latin typeface="Arial"/>
                        </a:rPr>
                        <a:t>BD</a:t>
                      </a:r>
                    </a:p>
                  </a:txBody>
                  <a:tcPr marL="36576" marR="36576" anchor="ctr">
                    <a:solidFill>
                      <a:srgbClr val="1E2433"/>
                    </a:solidFill>
                  </a:tcPr>
                </a:tc>
                <a:tc>
                  <a:txBody>
                    <a:bodyPr/>
                    <a:lstStyle/>
                    <a:p>
                      <a:pPr algn="ctr"/>
                      <a:r>
                        <a:rPr sz="1050" b="1">
                          <a:solidFill>
                            <a:srgbClr val="FFFFFF"/>
                          </a:solidFill>
                          <a:latin typeface="Arial"/>
                        </a:rPr>
                        <a:t>Config.</a:t>
                      </a:r>
                    </a:p>
                  </a:txBody>
                  <a:tcPr marL="36576" marR="36576" anchor="ctr">
                    <a:solidFill>
                      <a:srgbClr val="1E2433"/>
                    </a:solidFill>
                  </a:tcPr>
                </a:tc>
                <a:tc>
                  <a:txBody>
                    <a:bodyPr/>
                    <a:lstStyle/>
                    <a:p>
                      <a:pPr algn="ctr"/>
                      <a:r>
                        <a:rPr sz="1050" b="1">
                          <a:solidFill>
                            <a:srgbClr val="FFFFFF"/>
                          </a:solidFill>
                          <a:latin typeface="Arial"/>
                        </a:rPr>
                        <a:t>Impacto</a:t>
                      </a:r>
                    </a:p>
                  </a:txBody>
                  <a:tcPr marL="36576" marR="36576" anchor="ctr">
                    <a:solidFill>
                      <a:srgbClr val="1E2433"/>
                    </a:solidFill>
                  </a:tcPr>
                </a:tc>
                <a:tc>
                  <a:txBody>
                    <a:bodyPr/>
                    <a:lstStyle/>
                    <a:p>
                      <a:pPr algn="ctr"/>
                      <a:r>
                        <a:rPr sz="1050" b="1">
                          <a:solidFill>
                            <a:srgbClr val="FFFFFF"/>
                          </a:solidFill>
                          <a:latin typeface="Arial"/>
                        </a:rPr>
                        <a:t>Riesgo</a:t>
                      </a:r>
                    </a:p>
                  </a:txBody>
                  <a:tcPr marL="36576" marR="36576" anchor="ctr">
                    <a:solidFill>
                      <a:srgbClr val="1E2433"/>
                    </a:solidFill>
                  </a:tcPr>
                </a:tc>
                <a:extLst>
                  <a:ext uri="{0D108BD9-81ED-4DB2-BD59-A6C34878D82A}">
                    <a16:rowId xmlns:a16="http://schemas.microsoft.com/office/drawing/2014/main" val="10000"/>
                  </a:ext>
                </a:extLst>
              </a:tr>
              <a:tr h="420624">
                <a:tc>
                  <a:txBody>
                    <a:bodyPr/>
                    <a:lstStyle/>
                    <a:p>
                      <a:pPr algn="ctr"/>
                      <a:r>
                        <a:rPr sz="1300" b="1">
                          <a:solidFill>
                            <a:srgbClr val="1F2937"/>
                          </a:solidFill>
                          <a:latin typeface="Arial"/>
                        </a:rPr>
                        <a:t>SC-001</a:t>
                      </a:r>
                    </a:p>
                  </a:txBody>
                  <a:tcPr marL="36576" marR="36576" anchor="ctr">
                    <a:solidFill>
                      <a:srgbClr val="FFFFFF"/>
                    </a:solidFill>
                  </a:tcPr>
                </a:tc>
                <a:tc>
                  <a:txBody>
                    <a:bodyPr/>
                    <a:lstStyle/>
                    <a:p>
                      <a:pPr algn="ctr"/>
                      <a:endParaRPr/>
                    </a:p>
                  </a:txBody>
                  <a:tcPr marL="36576" marR="36576" anchor="ctr">
                    <a:solidFill>
                      <a:srgbClr val="FFFFFF"/>
                    </a:solidFill>
                  </a:tcPr>
                </a:tc>
                <a:tc>
                  <a:txBody>
                    <a:bodyPr/>
                    <a:lstStyle/>
                    <a:p>
                      <a:pPr algn="ctr"/>
                      <a:endParaRPr/>
                    </a:p>
                  </a:txBody>
                  <a:tcPr marL="36576" marR="36576" anchor="ctr">
                    <a:solidFill>
                      <a:srgbClr val="FFFFFF"/>
                    </a:solidFill>
                  </a:tcPr>
                </a:tc>
                <a:tc>
                  <a:txBody>
                    <a:bodyPr/>
                    <a:lstStyle/>
                    <a:p>
                      <a:pPr algn="ctr"/>
                      <a:r>
                        <a:rPr sz="1300">
                          <a:solidFill>
                            <a:srgbClr val="1E2433"/>
                          </a:solidFill>
                          <a:latin typeface="Arial"/>
                        </a:rPr>
                        <a:t>●</a:t>
                      </a:r>
                    </a:p>
                  </a:txBody>
                  <a:tcPr marL="36576" marR="36576" anchor="ctr">
                    <a:solidFill>
                      <a:srgbClr val="F2A900"/>
                    </a:solidFill>
                  </a:tcPr>
                </a:tc>
                <a:tc>
                  <a:txBody>
                    <a:bodyPr/>
                    <a:lstStyle/>
                    <a:p>
                      <a:pPr algn="ctr"/>
                      <a:r>
                        <a:rPr sz="1300">
                          <a:solidFill>
                            <a:srgbClr val="1E2433"/>
                          </a:solidFill>
                          <a:latin typeface="Arial"/>
                        </a:rPr>
                        <a:t>●</a:t>
                      </a:r>
                    </a:p>
                  </a:txBody>
                  <a:tcPr marL="36576" marR="36576" anchor="ctr">
                    <a:solidFill>
                      <a:srgbClr val="F2A900"/>
                    </a:solidFill>
                  </a:tcPr>
                </a:tc>
                <a:tc>
                  <a:txBody>
                    <a:bodyPr/>
                    <a:lstStyle/>
                    <a:p>
                      <a:pPr algn="ctr"/>
                      <a:r>
                        <a:rPr sz="1300">
                          <a:solidFill>
                            <a:srgbClr val="1E2433"/>
                          </a:solidFill>
                          <a:latin typeface="Arial"/>
                        </a:rPr>
                        <a:t>●</a:t>
                      </a:r>
                    </a:p>
                  </a:txBody>
                  <a:tcPr marL="36576" marR="36576" anchor="ctr">
                    <a:solidFill>
                      <a:srgbClr val="F2A900"/>
                    </a:solidFill>
                  </a:tcPr>
                </a:tc>
                <a:tc>
                  <a:txBody>
                    <a:bodyPr/>
                    <a:lstStyle/>
                    <a:p>
                      <a:pPr algn="ctr"/>
                      <a:endParaRPr/>
                    </a:p>
                  </a:txBody>
                  <a:tcPr marL="36576" marR="36576" anchor="ctr">
                    <a:solidFill>
                      <a:srgbClr val="FFFFFF"/>
                    </a:solidFill>
                  </a:tcPr>
                </a:tc>
                <a:tc>
                  <a:txBody>
                    <a:bodyPr/>
                    <a:lstStyle/>
                    <a:p>
                      <a:pPr algn="ctr"/>
                      <a:endParaRPr/>
                    </a:p>
                  </a:txBody>
                  <a:tcPr marL="36576" marR="36576" anchor="ctr">
                    <a:solidFill>
                      <a:srgbClr val="FFFFFF"/>
                    </a:solidFill>
                  </a:tcPr>
                </a:tc>
                <a:tc>
                  <a:txBody>
                    <a:bodyPr/>
                    <a:lstStyle/>
                    <a:p>
                      <a:pPr algn="ctr"/>
                      <a:r>
                        <a:rPr sz="1300" b="1">
                          <a:solidFill>
                            <a:srgbClr val="92400E"/>
                          </a:solidFill>
                          <a:latin typeface="Arial"/>
                        </a:rPr>
                        <a:t>Medio</a:t>
                      </a:r>
                    </a:p>
                  </a:txBody>
                  <a:tcPr marL="36576" marR="36576" anchor="ctr">
                    <a:solidFill>
                      <a:srgbClr val="FEF3C7"/>
                    </a:solidFill>
                  </a:tcPr>
                </a:tc>
                <a:tc>
                  <a:txBody>
                    <a:bodyPr/>
                    <a:lstStyle/>
                    <a:p>
                      <a:pPr algn="ctr"/>
                      <a:r>
                        <a:rPr sz="1300" b="1">
                          <a:solidFill>
                            <a:srgbClr val="1E7A46"/>
                          </a:solidFill>
                          <a:latin typeface="Arial"/>
                        </a:rPr>
                        <a:t>Bajo</a:t>
                      </a:r>
                    </a:p>
                  </a:txBody>
                  <a:tcPr marL="36576" marR="36576" anchor="ctr">
                    <a:solidFill>
                      <a:srgbClr val="E7F5EC"/>
                    </a:solidFill>
                  </a:tcPr>
                </a:tc>
                <a:extLst>
                  <a:ext uri="{0D108BD9-81ED-4DB2-BD59-A6C34878D82A}">
                    <a16:rowId xmlns:a16="http://schemas.microsoft.com/office/drawing/2014/main" val="10001"/>
                  </a:ext>
                </a:extLst>
              </a:tr>
              <a:tr h="420624">
                <a:tc>
                  <a:txBody>
                    <a:bodyPr/>
                    <a:lstStyle/>
                    <a:p>
                      <a:pPr algn="ctr"/>
                      <a:r>
                        <a:rPr sz="1300" b="1">
                          <a:solidFill>
                            <a:srgbClr val="1F2937"/>
                          </a:solidFill>
                          <a:latin typeface="Arial"/>
                        </a:rPr>
                        <a:t>SC-002</a:t>
                      </a:r>
                    </a:p>
                  </a:txBody>
                  <a:tcPr marL="36576" marR="36576" anchor="ctr">
                    <a:solidFill>
                      <a:srgbClr val="FFFFFF"/>
                    </a:solidFill>
                  </a:tcPr>
                </a:tc>
                <a:tc>
                  <a:txBody>
                    <a:bodyPr/>
                    <a:lstStyle/>
                    <a:p>
                      <a:pPr algn="ctr"/>
                      <a:r>
                        <a:rPr sz="1300">
                          <a:solidFill>
                            <a:srgbClr val="1E2433"/>
                          </a:solidFill>
                          <a:latin typeface="Arial"/>
                        </a:rPr>
                        <a:t>●</a:t>
                      </a:r>
                    </a:p>
                  </a:txBody>
                  <a:tcPr marL="36576" marR="36576" anchor="ctr">
                    <a:solidFill>
                      <a:srgbClr val="F2A900"/>
                    </a:solidFill>
                  </a:tcPr>
                </a:tc>
                <a:tc>
                  <a:txBody>
                    <a:bodyPr/>
                    <a:lstStyle/>
                    <a:p>
                      <a:pPr algn="ctr"/>
                      <a:r>
                        <a:rPr sz="1300">
                          <a:solidFill>
                            <a:srgbClr val="1E2433"/>
                          </a:solidFill>
                          <a:latin typeface="Arial"/>
                        </a:rPr>
                        <a:t>●</a:t>
                      </a:r>
                    </a:p>
                  </a:txBody>
                  <a:tcPr marL="36576" marR="36576" anchor="ctr">
                    <a:solidFill>
                      <a:srgbClr val="F2A900"/>
                    </a:solidFill>
                  </a:tcPr>
                </a:tc>
                <a:tc>
                  <a:txBody>
                    <a:bodyPr/>
                    <a:lstStyle/>
                    <a:p>
                      <a:pPr algn="ctr"/>
                      <a:r>
                        <a:rPr sz="1300">
                          <a:solidFill>
                            <a:srgbClr val="1E2433"/>
                          </a:solidFill>
                          <a:latin typeface="Arial"/>
                        </a:rPr>
                        <a:t>●</a:t>
                      </a:r>
                    </a:p>
                  </a:txBody>
                  <a:tcPr marL="36576" marR="36576" anchor="ctr">
                    <a:solidFill>
                      <a:srgbClr val="F2A900"/>
                    </a:solidFill>
                  </a:tcPr>
                </a:tc>
                <a:tc>
                  <a:txBody>
                    <a:bodyPr/>
                    <a:lstStyle/>
                    <a:p>
                      <a:pPr algn="ctr"/>
                      <a:r>
                        <a:rPr sz="1300">
                          <a:solidFill>
                            <a:srgbClr val="1E2433"/>
                          </a:solidFill>
                          <a:latin typeface="Arial"/>
                        </a:rPr>
                        <a:t>●</a:t>
                      </a:r>
                    </a:p>
                  </a:txBody>
                  <a:tcPr marL="36576" marR="36576" anchor="ctr">
                    <a:solidFill>
                      <a:srgbClr val="F2A900"/>
                    </a:solidFill>
                  </a:tcPr>
                </a:tc>
                <a:tc>
                  <a:txBody>
                    <a:bodyPr/>
                    <a:lstStyle/>
                    <a:p>
                      <a:pPr algn="ctr"/>
                      <a:r>
                        <a:rPr sz="1300">
                          <a:solidFill>
                            <a:srgbClr val="1E2433"/>
                          </a:solidFill>
                          <a:latin typeface="Arial"/>
                        </a:rPr>
                        <a:t>●</a:t>
                      </a:r>
                    </a:p>
                  </a:txBody>
                  <a:tcPr marL="36576" marR="36576" anchor="ctr">
                    <a:solidFill>
                      <a:srgbClr val="F2A900"/>
                    </a:solidFill>
                  </a:tcPr>
                </a:tc>
                <a:tc>
                  <a:txBody>
                    <a:bodyPr/>
                    <a:lstStyle/>
                    <a:p>
                      <a:pPr algn="ctr"/>
                      <a:r>
                        <a:rPr sz="1300">
                          <a:solidFill>
                            <a:srgbClr val="1E2433"/>
                          </a:solidFill>
                          <a:latin typeface="Arial"/>
                        </a:rPr>
                        <a:t>●</a:t>
                      </a:r>
                    </a:p>
                  </a:txBody>
                  <a:tcPr marL="36576" marR="36576" anchor="ctr">
                    <a:solidFill>
                      <a:srgbClr val="F2A900"/>
                    </a:solidFill>
                  </a:tcPr>
                </a:tc>
                <a:tc>
                  <a:txBody>
                    <a:bodyPr/>
                    <a:lstStyle/>
                    <a:p>
                      <a:pPr algn="ctr"/>
                      <a:endParaRPr/>
                    </a:p>
                  </a:txBody>
                  <a:tcPr marL="36576" marR="36576" anchor="ctr">
                    <a:solidFill>
                      <a:srgbClr val="FFFFFF"/>
                    </a:solidFill>
                  </a:tcPr>
                </a:tc>
                <a:tc>
                  <a:txBody>
                    <a:bodyPr/>
                    <a:lstStyle/>
                    <a:p>
                      <a:pPr algn="ctr"/>
                      <a:r>
                        <a:rPr sz="1300" b="1">
                          <a:solidFill>
                            <a:srgbClr val="B42318"/>
                          </a:solidFill>
                          <a:latin typeface="Arial"/>
                        </a:rPr>
                        <a:t>Alto</a:t>
                      </a:r>
                    </a:p>
                  </a:txBody>
                  <a:tcPr marL="36576" marR="36576" anchor="ctr">
                    <a:solidFill>
                      <a:srgbClr val="FBE7E6"/>
                    </a:solidFill>
                  </a:tcPr>
                </a:tc>
                <a:tc>
                  <a:txBody>
                    <a:bodyPr/>
                    <a:lstStyle/>
                    <a:p>
                      <a:pPr algn="ctr"/>
                      <a:r>
                        <a:rPr sz="1300" b="1">
                          <a:solidFill>
                            <a:srgbClr val="B42318"/>
                          </a:solidFill>
                          <a:latin typeface="Arial"/>
                        </a:rPr>
                        <a:t>Alto</a:t>
                      </a:r>
                    </a:p>
                  </a:txBody>
                  <a:tcPr marL="36576" marR="36576" anchor="ctr">
                    <a:solidFill>
                      <a:srgbClr val="FBE7E6"/>
                    </a:solidFill>
                  </a:tcPr>
                </a:tc>
                <a:extLst>
                  <a:ext uri="{0D108BD9-81ED-4DB2-BD59-A6C34878D82A}">
                    <a16:rowId xmlns:a16="http://schemas.microsoft.com/office/drawing/2014/main" val="10002"/>
                  </a:ext>
                </a:extLst>
              </a:tr>
              <a:tr h="420624">
                <a:tc>
                  <a:txBody>
                    <a:bodyPr/>
                    <a:lstStyle/>
                    <a:p>
                      <a:pPr algn="ctr"/>
                      <a:r>
                        <a:rPr sz="1300" b="1">
                          <a:solidFill>
                            <a:srgbClr val="1F2937"/>
                          </a:solidFill>
                          <a:latin typeface="Arial"/>
                        </a:rPr>
                        <a:t>SC-003</a:t>
                      </a:r>
                    </a:p>
                  </a:txBody>
                  <a:tcPr marL="36576" marR="36576" anchor="ctr">
                    <a:solidFill>
                      <a:srgbClr val="FFFFFF"/>
                    </a:solidFill>
                  </a:tcPr>
                </a:tc>
                <a:tc>
                  <a:txBody>
                    <a:bodyPr/>
                    <a:lstStyle/>
                    <a:p>
                      <a:pPr algn="ctr"/>
                      <a:endParaRPr/>
                    </a:p>
                  </a:txBody>
                  <a:tcPr marL="36576" marR="36576" anchor="ctr">
                    <a:solidFill>
                      <a:srgbClr val="FFFFFF"/>
                    </a:solidFill>
                  </a:tcPr>
                </a:tc>
                <a:tc>
                  <a:txBody>
                    <a:bodyPr/>
                    <a:lstStyle/>
                    <a:p>
                      <a:pPr algn="ctr"/>
                      <a:endParaRPr/>
                    </a:p>
                  </a:txBody>
                  <a:tcPr marL="36576" marR="36576" anchor="ctr">
                    <a:solidFill>
                      <a:srgbClr val="FFFFFF"/>
                    </a:solidFill>
                  </a:tcPr>
                </a:tc>
                <a:tc>
                  <a:txBody>
                    <a:bodyPr/>
                    <a:lstStyle/>
                    <a:p>
                      <a:pPr algn="ctr"/>
                      <a:endParaRPr/>
                    </a:p>
                  </a:txBody>
                  <a:tcPr marL="36576" marR="36576" anchor="ctr">
                    <a:solidFill>
                      <a:srgbClr val="FFFFFF"/>
                    </a:solidFill>
                  </a:tcPr>
                </a:tc>
                <a:tc>
                  <a:txBody>
                    <a:bodyPr/>
                    <a:lstStyle/>
                    <a:p>
                      <a:pPr algn="ctr"/>
                      <a:r>
                        <a:rPr sz="1300">
                          <a:solidFill>
                            <a:srgbClr val="1E2433"/>
                          </a:solidFill>
                          <a:latin typeface="Arial"/>
                        </a:rPr>
                        <a:t>●</a:t>
                      </a:r>
                    </a:p>
                  </a:txBody>
                  <a:tcPr marL="36576" marR="36576" anchor="ctr">
                    <a:solidFill>
                      <a:srgbClr val="F2A900"/>
                    </a:solidFill>
                  </a:tcPr>
                </a:tc>
                <a:tc>
                  <a:txBody>
                    <a:bodyPr/>
                    <a:lstStyle/>
                    <a:p>
                      <a:pPr algn="ctr"/>
                      <a:r>
                        <a:rPr sz="1300">
                          <a:solidFill>
                            <a:srgbClr val="1E2433"/>
                          </a:solidFill>
                          <a:latin typeface="Arial"/>
                        </a:rPr>
                        <a:t>●</a:t>
                      </a:r>
                    </a:p>
                  </a:txBody>
                  <a:tcPr marL="36576" marR="36576" anchor="ctr">
                    <a:solidFill>
                      <a:srgbClr val="F2A900"/>
                    </a:solidFill>
                  </a:tcPr>
                </a:tc>
                <a:tc>
                  <a:txBody>
                    <a:bodyPr/>
                    <a:lstStyle/>
                    <a:p>
                      <a:pPr algn="ctr"/>
                      <a:endParaRPr/>
                    </a:p>
                  </a:txBody>
                  <a:tcPr marL="36576" marR="36576" anchor="ctr">
                    <a:solidFill>
                      <a:srgbClr val="FFFFFF"/>
                    </a:solidFill>
                  </a:tcPr>
                </a:tc>
                <a:tc>
                  <a:txBody>
                    <a:bodyPr/>
                    <a:lstStyle/>
                    <a:p>
                      <a:pPr algn="ctr"/>
                      <a:endParaRPr/>
                    </a:p>
                  </a:txBody>
                  <a:tcPr marL="36576" marR="36576" anchor="ctr">
                    <a:solidFill>
                      <a:srgbClr val="FFFFFF"/>
                    </a:solidFill>
                  </a:tcPr>
                </a:tc>
                <a:tc>
                  <a:txBody>
                    <a:bodyPr/>
                    <a:lstStyle/>
                    <a:p>
                      <a:pPr algn="ctr"/>
                      <a:r>
                        <a:rPr sz="1300" b="1">
                          <a:solidFill>
                            <a:srgbClr val="1E7A46"/>
                          </a:solidFill>
                          <a:latin typeface="Arial"/>
                        </a:rPr>
                        <a:t>Bajo</a:t>
                      </a:r>
                    </a:p>
                  </a:txBody>
                  <a:tcPr marL="36576" marR="36576" anchor="ctr">
                    <a:solidFill>
                      <a:srgbClr val="E7F5EC"/>
                    </a:solidFill>
                  </a:tcPr>
                </a:tc>
                <a:tc>
                  <a:txBody>
                    <a:bodyPr/>
                    <a:lstStyle/>
                    <a:p>
                      <a:pPr algn="ctr"/>
                      <a:r>
                        <a:rPr sz="1300" b="1">
                          <a:solidFill>
                            <a:srgbClr val="1E7A46"/>
                          </a:solidFill>
                          <a:latin typeface="Arial"/>
                        </a:rPr>
                        <a:t>Bajo</a:t>
                      </a:r>
                    </a:p>
                  </a:txBody>
                  <a:tcPr marL="36576" marR="36576" anchor="ctr">
                    <a:solidFill>
                      <a:srgbClr val="E7F5EC"/>
                    </a:solidFill>
                  </a:tcPr>
                </a:tc>
                <a:extLst>
                  <a:ext uri="{0D108BD9-81ED-4DB2-BD59-A6C34878D82A}">
                    <a16:rowId xmlns:a16="http://schemas.microsoft.com/office/drawing/2014/main" val="10003"/>
                  </a:ext>
                </a:extLst>
              </a:tr>
              <a:tr h="420624">
                <a:tc>
                  <a:txBody>
                    <a:bodyPr/>
                    <a:lstStyle/>
                    <a:p>
                      <a:pPr algn="ctr"/>
                      <a:r>
                        <a:rPr sz="1300" b="1">
                          <a:solidFill>
                            <a:srgbClr val="1F2937"/>
                          </a:solidFill>
                          <a:latin typeface="Arial"/>
                        </a:rPr>
                        <a:t>SC-004</a:t>
                      </a:r>
                    </a:p>
                  </a:txBody>
                  <a:tcPr marL="36576" marR="36576" anchor="ctr">
                    <a:solidFill>
                      <a:srgbClr val="FFFFFF"/>
                    </a:solidFill>
                  </a:tcPr>
                </a:tc>
                <a:tc>
                  <a:txBody>
                    <a:bodyPr/>
                    <a:lstStyle/>
                    <a:p>
                      <a:pPr algn="ctr"/>
                      <a:endParaRPr/>
                    </a:p>
                  </a:txBody>
                  <a:tcPr marL="36576" marR="36576" anchor="ctr">
                    <a:solidFill>
                      <a:srgbClr val="FFFFFF"/>
                    </a:solidFill>
                  </a:tcPr>
                </a:tc>
                <a:tc>
                  <a:txBody>
                    <a:bodyPr/>
                    <a:lstStyle/>
                    <a:p>
                      <a:pPr algn="ctr"/>
                      <a:endParaRPr/>
                    </a:p>
                  </a:txBody>
                  <a:tcPr marL="36576" marR="36576" anchor="ctr">
                    <a:solidFill>
                      <a:srgbClr val="FFFFFF"/>
                    </a:solidFill>
                  </a:tcPr>
                </a:tc>
                <a:tc>
                  <a:txBody>
                    <a:bodyPr/>
                    <a:lstStyle/>
                    <a:p>
                      <a:pPr algn="ctr"/>
                      <a:endParaRPr/>
                    </a:p>
                  </a:txBody>
                  <a:tcPr marL="36576" marR="36576" anchor="ctr">
                    <a:solidFill>
                      <a:srgbClr val="FFFFFF"/>
                    </a:solidFill>
                  </a:tcPr>
                </a:tc>
                <a:tc>
                  <a:txBody>
                    <a:bodyPr/>
                    <a:lstStyle/>
                    <a:p>
                      <a:pPr algn="ctr"/>
                      <a:endParaRPr/>
                    </a:p>
                  </a:txBody>
                  <a:tcPr marL="36576" marR="36576" anchor="ctr">
                    <a:solidFill>
                      <a:srgbClr val="FFFFFF"/>
                    </a:solidFill>
                  </a:tcPr>
                </a:tc>
                <a:tc>
                  <a:txBody>
                    <a:bodyPr/>
                    <a:lstStyle/>
                    <a:p>
                      <a:pPr algn="ctr"/>
                      <a:endParaRPr/>
                    </a:p>
                  </a:txBody>
                  <a:tcPr marL="36576" marR="36576" anchor="ctr">
                    <a:solidFill>
                      <a:srgbClr val="FFFFFF"/>
                    </a:solidFill>
                  </a:tcPr>
                </a:tc>
                <a:tc>
                  <a:txBody>
                    <a:bodyPr/>
                    <a:lstStyle/>
                    <a:p>
                      <a:pPr algn="ctr"/>
                      <a:endParaRPr/>
                    </a:p>
                  </a:txBody>
                  <a:tcPr marL="36576" marR="36576" anchor="ctr">
                    <a:solidFill>
                      <a:srgbClr val="FFFFFF"/>
                    </a:solidFill>
                  </a:tcPr>
                </a:tc>
                <a:tc>
                  <a:txBody>
                    <a:bodyPr/>
                    <a:lstStyle/>
                    <a:p>
                      <a:pPr algn="ctr"/>
                      <a:r>
                        <a:rPr sz="1300">
                          <a:solidFill>
                            <a:srgbClr val="1E2433"/>
                          </a:solidFill>
                          <a:latin typeface="Arial"/>
                        </a:rPr>
                        <a:t>●</a:t>
                      </a:r>
                    </a:p>
                  </a:txBody>
                  <a:tcPr marL="36576" marR="36576" anchor="ctr">
                    <a:solidFill>
                      <a:srgbClr val="F2A900"/>
                    </a:solidFill>
                  </a:tcPr>
                </a:tc>
                <a:tc>
                  <a:txBody>
                    <a:bodyPr/>
                    <a:lstStyle/>
                    <a:p>
                      <a:pPr algn="ctr"/>
                      <a:r>
                        <a:rPr sz="1300" b="1">
                          <a:solidFill>
                            <a:srgbClr val="92400E"/>
                          </a:solidFill>
                          <a:latin typeface="Arial"/>
                        </a:rPr>
                        <a:t>Medio</a:t>
                      </a:r>
                    </a:p>
                  </a:txBody>
                  <a:tcPr marL="36576" marR="36576" anchor="ctr">
                    <a:solidFill>
                      <a:srgbClr val="FEF3C7"/>
                    </a:solidFill>
                  </a:tcPr>
                </a:tc>
                <a:tc>
                  <a:txBody>
                    <a:bodyPr/>
                    <a:lstStyle/>
                    <a:p>
                      <a:pPr algn="ctr"/>
                      <a:r>
                        <a:rPr sz="1300" b="1">
                          <a:solidFill>
                            <a:srgbClr val="92400E"/>
                          </a:solidFill>
                          <a:latin typeface="Arial"/>
                        </a:rPr>
                        <a:t>Medio</a:t>
                      </a:r>
                    </a:p>
                  </a:txBody>
                  <a:tcPr marL="36576" marR="36576" anchor="ctr">
                    <a:solidFill>
                      <a:srgbClr val="FEF3C7"/>
                    </a:solidFill>
                  </a:tcPr>
                </a:tc>
                <a:extLst>
                  <a:ext uri="{0D108BD9-81ED-4DB2-BD59-A6C34878D82A}">
                    <a16:rowId xmlns:a16="http://schemas.microsoft.com/office/drawing/2014/main" val="10004"/>
                  </a:ext>
                </a:extLst>
              </a:tr>
              <a:tr h="420624">
                <a:tc>
                  <a:txBody>
                    <a:bodyPr/>
                    <a:lstStyle/>
                    <a:p>
                      <a:pPr algn="ctr"/>
                      <a:r>
                        <a:rPr sz="1300" b="1">
                          <a:solidFill>
                            <a:srgbClr val="1F2937"/>
                          </a:solidFill>
                          <a:latin typeface="Arial"/>
                        </a:rPr>
                        <a:t>SC-005</a:t>
                      </a:r>
                    </a:p>
                  </a:txBody>
                  <a:tcPr marL="36576" marR="36576" anchor="ctr">
                    <a:solidFill>
                      <a:srgbClr val="FFFFFF"/>
                    </a:solidFill>
                  </a:tcPr>
                </a:tc>
                <a:tc>
                  <a:txBody>
                    <a:bodyPr/>
                    <a:lstStyle/>
                    <a:p>
                      <a:pPr algn="ctr"/>
                      <a:r>
                        <a:rPr sz="1300">
                          <a:solidFill>
                            <a:srgbClr val="1E2433"/>
                          </a:solidFill>
                          <a:latin typeface="Arial"/>
                        </a:rPr>
                        <a:t>●</a:t>
                      </a:r>
                    </a:p>
                  </a:txBody>
                  <a:tcPr marL="36576" marR="36576" anchor="ctr">
                    <a:solidFill>
                      <a:srgbClr val="F2A900"/>
                    </a:solidFill>
                  </a:tcPr>
                </a:tc>
                <a:tc>
                  <a:txBody>
                    <a:bodyPr/>
                    <a:lstStyle/>
                    <a:p>
                      <a:pPr algn="ctr"/>
                      <a:r>
                        <a:rPr sz="1300">
                          <a:solidFill>
                            <a:srgbClr val="1E2433"/>
                          </a:solidFill>
                          <a:latin typeface="Arial"/>
                        </a:rPr>
                        <a:t>●</a:t>
                      </a:r>
                    </a:p>
                  </a:txBody>
                  <a:tcPr marL="36576" marR="36576" anchor="ctr">
                    <a:solidFill>
                      <a:srgbClr val="F2A900"/>
                    </a:solidFill>
                  </a:tcPr>
                </a:tc>
                <a:tc>
                  <a:txBody>
                    <a:bodyPr/>
                    <a:lstStyle/>
                    <a:p>
                      <a:pPr algn="ctr"/>
                      <a:r>
                        <a:rPr sz="1300">
                          <a:solidFill>
                            <a:srgbClr val="1E2433"/>
                          </a:solidFill>
                          <a:latin typeface="Arial"/>
                        </a:rPr>
                        <a:t>●</a:t>
                      </a:r>
                    </a:p>
                  </a:txBody>
                  <a:tcPr marL="36576" marR="36576" anchor="ctr">
                    <a:solidFill>
                      <a:srgbClr val="F2A900"/>
                    </a:solidFill>
                  </a:tcPr>
                </a:tc>
                <a:tc>
                  <a:txBody>
                    <a:bodyPr/>
                    <a:lstStyle/>
                    <a:p>
                      <a:pPr algn="ctr"/>
                      <a:r>
                        <a:rPr sz="1300">
                          <a:solidFill>
                            <a:srgbClr val="1E2433"/>
                          </a:solidFill>
                          <a:latin typeface="Arial"/>
                        </a:rPr>
                        <a:t>●</a:t>
                      </a:r>
                    </a:p>
                  </a:txBody>
                  <a:tcPr marL="36576" marR="36576" anchor="ctr">
                    <a:solidFill>
                      <a:srgbClr val="F2A900"/>
                    </a:solidFill>
                  </a:tcPr>
                </a:tc>
                <a:tc>
                  <a:txBody>
                    <a:bodyPr/>
                    <a:lstStyle/>
                    <a:p>
                      <a:pPr algn="ctr"/>
                      <a:r>
                        <a:rPr sz="1300">
                          <a:solidFill>
                            <a:srgbClr val="1E2433"/>
                          </a:solidFill>
                          <a:latin typeface="Arial"/>
                        </a:rPr>
                        <a:t>●</a:t>
                      </a:r>
                    </a:p>
                  </a:txBody>
                  <a:tcPr marL="36576" marR="36576" anchor="ctr">
                    <a:solidFill>
                      <a:srgbClr val="F2A900"/>
                    </a:solidFill>
                  </a:tcPr>
                </a:tc>
                <a:tc>
                  <a:txBody>
                    <a:bodyPr/>
                    <a:lstStyle/>
                    <a:p>
                      <a:pPr algn="ctr"/>
                      <a:endParaRPr/>
                    </a:p>
                  </a:txBody>
                  <a:tcPr marL="36576" marR="36576" anchor="ctr">
                    <a:solidFill>
                      <a:srgbClr val="FFFFFF"/>
                    </a:solidFill>
                  </a:tcPr>
                </a:tc>
                <a:tc>
                  <a:txBody>
                    <a:bodyPr/>
                    <a:lstStyle/>
                    <a:p>
                      <a:pPr algn="ctr"/>
                      <a:endParaRPr/>
                    </a:p>
                  </a:txBody>
                  <a:tcPr marL="36576" marR="36576" anchor="ctr">
                    <a:solidFill>
                      <a:srgbClr val="FFFFFF"/>
                    </a:solidFill>
                  </a:tcPr>
                </a:tc>
                <a:tc>
                  <a:txBody>
                    <a:bodyPr/>
                    <a:lstStyle/>
                    <a:p>
                      <a:pPr algn="ctr"/>
                      <a:r>
                        <a:rPr sz="1300" b="1">
                          <a:solidFill>
                            <a:srgbClr val="92400E"/>
                          </a:solidFill>
                          <a:latin typeface="Arial"/>
                        </a:rPr>
                        <a:t>Medio</a:t>
                      </a:r>
                    </a:p>
                  </a:txBody>
                  <a:tcPr marL="36576" marR="36576" anchor="ctr">
                    <a:solidFill>
                      <a:srgbClr val="FEF3C7"/>
                    </a:solidFill>
                  </a:tcPr>
                </a:tc>
                <a:tc>
                  <a:txBody>
                    <a:bodyPr/>
                    <a:lstStyle/>
                    <a:p>
                      <a:pPr algn="ctr"/>
                      <a:r>
                        <a:rPr sz="1300" b="1">
                          <a:solidFill>
                            <a:srgbClr val="92400E"/>
                          </a:solidFill>
                          <a:latin typeface="Arial"/>
                        </a:rPr>
                        <a:t>Medio</a:t>
                      </a:r>
                    </a:p>
                  </a:txBody>
                  <a:tcPr marL="36576" marR="36576" anchor="ctr">
                    <a:solidFill>
                      <a:srgbClr val="FEF3C7"/>
                    </a:solidFill>
                  </a:tcPr>
                </a:tc>
                <a:extLst>
                  <a:ext uri="{0D108BD9-81ED-4DB2-BD59-A6C34878D82A}">
                    <a16:rowId xmlns:a16="http://schemas.microsoft.com/office/drawing/2014/main" val="10005"/>
                  </a:ext>
                </a:extLst>
              </a:tr>
              <a:tr h="420624">
                <a:tc>
                  <a:txBody>
                    <a:bodyPr/>
                    <a:lstStyle/>
                    <a:p>
                      <a:pPr algn="ctr"/>
                      <a:r>
                        <a:rPr sz="1300" b="1">
                          <a:solidFill>
                            <a:srgbClr val="1F2937"/>
                          </a:solidFill>
                          <a:latin typeface="Arial"/>
                        </a:rPr>
                        <a:t>SC-006</a:t>
                      </a:r>
                    </a:p>
                  </a:txBody>
                  <a:tcPr marL="36576" marR="36576" anchor="ctr">
                    <a:solidFill>
                      <a:srgbClr val="FFFFFF"/>
                    </a:solidFill>
                  </a:tcPr>
                </a:tc>
                <a:tc>
                  <a:txBody>
                    <a:bodyPr/>
                    <a:lstStyle/>
                    <a:p>
                      <a:pPr algn="ctr"/>
                      <a:r>
                        <a:rPr sz="1300">
                          <a:solidFill>
                            <a:srgbClr val="1E2433"/>
                          </a:solidFill>
                          <a:latin typeface="Arial"/>
                        </a:rPr>
                        <a:t>●</a:t>
                      </a:r>
                    </a:p>
                  </a:txBody>
                  <a:tcPr marL="36576" marR="36576" anchor="ctr">
                    <a:solidFill>
                      <a:srgbClr val="F2A900"/>
                    </a:solidFill>
                  </a:tcPr>
                </a:tc>
                <a:tc>
                  <a:txBody>
                    <a:bodyPr/>
                    <a:lstStyle/>
                    <a:p>
                      <a:pPr algn="ctr"/>
                      <a:r>
                        <a:rPr sz="1300">
                          <a:solidFill>
                            <a:srgbClr val="1E2433"/>
                          </a:solidFill>
                          <a:latin typeface="Arial"/>
                        </a:rPr>
                        <a:t>●</a:t>
                      </a:r>
                    </a:p>
                  </a:txBody>
                  <a:tcPr marL="36576" marR="36576" anchor="ctr">
                    <a:solidFill>
                      <a:srgbClr val="F2A900"/>
                    </a:solidFill>
                  </a:tcPr>
                </a:tc>
                <a:tc>
                  <a:txBody>
                    <a:bodyPr/>
                    <a:lstStyle/>
                    <a:p>
                      <a:pPr algn="ctr"/>
                      <a:r>
                        <a:rPr sz="1300">
                          <a:solidFill>
                            <a:srgbClr val="1E2433"/>
                          </a:solidFill>
                          <a:latin typeface="Arial"/>
                        </a:rPr>
                        <a:t>●</a:t>
                      </a:r>
                    </a:p>
                  </a:txBody>
                  <a:tcPr marL="36576" marR="36576" anchor="ctr">
                    <a:solidFill>
                      <a:srgbClr val="F2A900"/>
                    </a:solidFill>
                  </a:tcPr>
                </a:tc>
                <a:tc>
                  <a:txBody>
                    <a:bodyPr/>
                    <a:lstStyle/>
                    <a:p>
                      <a:pPr algn="ctr"/>
                      <a:r>
                        <a:rPr sz="1300">
                          <a:solidFill>
                            <a:srgbClr val="1E2433"/>
                          </a:solidFill>
                          <a:latin typeface="Arial"/>
                        </a:rPr>
                        <a:t>●</a:t>
                      </a:r>
                    </a:p>
                  </a:txBody>
                  <a:tcPr marL="36576" marR="36576" anchor="ctr">
                    <a:solidFill>
                      <a:srgbClr val="F2A900"/>
                    </a:solidFill>
                  </a:tcPr>
                </a:tc>
                <a:tc>
                  <a:txBody>
                    <a:bodyPr/>
                    <a:lstStyle/>
                    <a:p>
                      <a:pPr algn="ctr"/>
                      <a:endParaRPr/>
                    </a:p>
                  </a:txBody>
                  <a:tcPr marL="36576" marR="36576" anchor="ctr">
                    <a:solidFill>
                      <a:srgbClr val="FFFFFF"/>
                    </a:solidFill>
                  </a:tcPr>
                </a:tc>
                <a:tc>
                  <a:txBody>
                    <a:bodyPr/>
                    <a:lstStyle/>
                    <a:p>
                      <a:pPr algn="ctr"/>
                      <a:endParaRPr/>
                    </a:p>
                  </a:txBody>
                  <a:tcPr marL="36576" marR="36576" anchor="ctr">
                    <a:solidFill>
                      <a:srgbClr val="FFFFFF"/>
                    </a:solidFill>
                  </a:tcPr>
                </a:tc>
                <a:tc>
                  <a:txBody>
                    <a:bodyPr/>
                    <a:lstStyle/>
                    <a:p>
                      <a:pPr algn="ctr"/>
                      <a:r>
                        <a:rPr sz="1300">
                          <a:solidFill>
                            <a:srgbClr val="1E2433"/>
                          </a:solidFill>
                          <a:latin typeface="Arial"/>
                        </a:rPr>
                        <a:t>●</a:t>
                      </a:r>
                    </a:p>
                  </a:txBody>
                  <a:tcPr marL="36576" marR="36576" anchor="ctr">
                    <a:solidFill>
                      <a:srgbClr val="F2A900"/>
                    </a:solidFill>
                  </a:tcPr>
                </a:tc>
                <a:tc>
                  <a:txBody>
                    <a:bodyPr/>
                    <a:lstStyle/>
                    <a:p>
                      <a:pPr algn="ctr"/>
                      <a:r>
                        <a:rPr sz="1300" b="1">
                          <a:solidFill>
                            <a:srgbClr val="B42318"/>
                          </a:solidFill>
                          <a:latin typeface="Arial"/>
                        </a:rPr>
                        <a:t>Alto</a:t>
                      </a:r>
                    </a:p>
                  </a:txBody>
                  <a:tcPr marL="36576" marR="36576" anchor="ctr">
                    <a:solidFill>
                      <a:srgbClr val="FBE7E6"/>
                    </a:solidFill>
                  </a:tcPr>
                </a:tc>
                <a:tc>
                  <a:txBody>
                    <a:bodyPr/>
                    <a:lstStyle/>
                    <a:p>
                      <a:pPr algn="ctr"/>
                      <a:r>
                        <a:rPr sz="1300" b="1">
                          <a:solidFill>
                            <a:srgbClr val="92400E"/>
                          </a:solidFill>
                          <a:latin typeface="Arial"/>
                        </a:rPr>
                        <a:t>Medio</a:t>
                      </a:r>
                    </a:p>
                  </a:txBody>
                  <a:tcPr marL="36576" marR="36576" anchor="ctr">
                    <a:solidFill>
                      <a:srgbClr val="FEF3C7"/>
                    </a:solidFill>
                  </a:tcPr>
                </a:tc>
                <a:extLst>
                  <a:ext uri="{0D108BD9-81ED-4DB2-BD59-A6C34878D82A}">
                    <a16:rowId xmlns:a16="http://schemas.microsoft.com/office/drawing/2014/main" val="10006"/>
                  </a:ext>
                </a:extLst>
              </a:tr>
              <a:tr h="420624">
                <a:tc>
                  <a:txBody>
                    <a:bodyPr/>
                    <a:lstStyle/>
                    <a:p>
                      <a:pPr algn="ctr"/>
                      <a:r>
                        <a:rPr sz="1300" b="1">
                          <a:solidFill>
                            <a:srgbClr val="1F2937"/>
                          </a:solidFill>
                          <a:latin typeface="Arial"/>
                        </a:rPr>
                        <a:t>SC-007</a:t>
                      </a:r>
                    </a:p>
                  </a:txBody>
                  <a:tcPr marL="36576" marR="36576" anchor="ctr">
                    <a:solidFill>
                      <a:srgbClr val="FFFFFF"/>
                    </a:solidFill>
                  </a:tcPr>
                </a:tc>
                <a:tc>
                  <a:txBody>
                    <a:bodyPr/>
                    <a:lstStyle/>
                    <a:p>
                      <a:pPr algn="ctr"/>
                      <a:endParaRPr/>
                    </a:p>
                  </a:txBody>
                  <a:tcPr marL="36576" marR="36576" anchor="ctr">
                    <a:solidFill>
                      <a:srgbClr val="FFFFFF"/>
                    </a:solidFill>
                  </a:tcPr>
                </a:tc>
                <a:tc>
                  <a:txBody>
                    <a:bodyPr/>
                    <a:lstStyle/>
                    <a:p>
                      <a:pPr algn="ctr"/>
                      <a:endParaRPr/>
                    </a:p>
                  </a:txBody>
                  <a:tcPr marL="36576" marR="36576" anchor="ctr">
                    <a:solidFill>
                      <a:srgbClr val="FFFFFF"/>
                    </a:solidFill>
                  </a:tcPr>
                </a:tc>
                <a:tc>
                  <a:txBody>
                    <a:bodyPr/>
                    <a:lstStyle/>
                    <a:p>
                      <a:pPr algn="ctr"/>
                      <a:endParaRPr/>
                    </a:p>
                  </a:txBody>
                  <a:tcPr marL="36576" marR="36576" anchor="ctr">
                    <a:solidFill>
                      <a:srgbClr val="FFFFFF"/>
                    </a:solidFill>
                  </a:tcPr>
                </a:tc>
                <a:tc>
                  <a:txBody>
                    <a:bodyPr/>
                    <a:lstStyle/>
                    <a:p>
                      <a:pPr algn="ctr"/>
                      <a:endParaRPr/>
                    </a:p>
                  </a:txBody>
                  <a:tcPr marL="36576" marR="36576" anchor="ctr">
                    <a:solidFill>
                      <a:srgbClr val="FFFFFF"/>
                    </a:solidFill>
                  </a:tcPr>
                </a:tc>
                <a:tc>
                  <a:txBody>
                    <a:bodyPr/>
                    <a:lstStyle/>
                    <a:p>
                      <a:pPr algn="ctr"/>
                      <a:r>
                        <a:rPr sz="1300">
                          <a:solidFill>
                            <a:srgbClr val="1E2433"/>
                          </a:solidFill>
                          <a:latin typeface="Arial"/>
                        </a:rPr>
                        <a:t>●</a:t>
                      </a:r>
                    </a:p>
                  </a:txBody>
                  <a:tcPr marL="36576" marR="36576" anchor="ctr">
                    <a:solidFill>
                      <a:srgbClr val="F2A900"/>
                    </a:solidFill>
                  </a:tcPr>
                </a:tc>
                <a:tc>
                  <a:txBody>
                    <a:bodyPr/>
                    <a:lstStyle/>
                    <a:p>
                      <a:pPr algn="ctr"/>
                      <a:endParaRPr/>
                    </a:p>
                  </a:txBody>
                  <a:tcPr marL="36576" marR="36576" anchor="ctr">
                    <a:solidFill>
                      <a:srgbClr val="FFFFFF"/>
                    </a:solidFill>
                  </a:tcPr>
                </a:tc>
                <a:tc>
                  <a:txBody>
                    <a:bodyPr/>
                    <a:lstStyle/>
                    <a:p>
                      <a:pPr algn="ctr"/>
                      <a:r>
                        <a:rPr sz="1300">
                          <a:solidFill>
                            <a:srgbClr val="1E2433"/>
                          </a:solidFill>
                          <a:latin typeface="Arial"/>
                        </a:rPr>
                        <a:t>●</a:t>
                      </a:r>
                    </a:p>
                  </a:txBody>
                  <a:tcPr marL="36576" marR="36576" anchor="ctr">
                    <a:solidFill>
                      <a:srgbClr val="F2A900"/>
                    </a:solidFill>
                  </a:tcPr>
                </a:tc>
                <a:tc>
                  <a:txBody>
                    <a:bodyPr/>
                    <a:lstStyle/>
                    <a:p>
                      <a:pPr algn="ctr"/>
                      <a:r>
                        <a:rPr sz="1300" b="1">
                          <a:solidFill>
                            <a:srgbClr val="92400E"/>
                          </a:solidFill>
                          <a:latin typeface="Arial"/>
                        </a:rPr>
                        <a:t>Medio</a:t>
                      </a:r>
                    </a:p>
                  </a:txBody>
                  <a:tcPr marL="36576" marR="36576" anchor="ctr">
                    <a:solidFill>
                      <a:srgbClr val="FEF3C7"/>
                    </a:solidFill>
                  </a:tcPr>
                </a:tc>
                <a:tc>
                  <a:txBody>
                    <a:bodyPr/>
                    <a:lstStyle/>
                    <a:p>
                      <a:pPr algn="ctr"/>
                      <a:r>
                        <a:rPr sz="1300" b="1">
                          <a:solidFill>
                            <a:srgbClr val="1E7A46"/>
                          </a:solidFill>
                          <a:latin typeface="Arial"/>
                        </a:rPr>
                        <a:t>Bajo</a:t>
                      </a:r>
                    </a:p>
                  </a:txBody>
                  <a:tcPr marL="36576" marR="36576" anchor="ctr">
                    <a:solidFill>
                      <a:srgbClr val="E7F5EC"/>
                    </a:solidFill>
                  </a:tcPr>
                </a:tc>
                <a:extLst>
                  <a:ext uri="{0D108BD9-81ED-4DB2-BD59-A6C34878D82A}">
                    <a16:rowId xmlns:a16="http://schemas.microsoft.com/office/drawing/2014/main" val="10007"/>
                  </a:ext>
                </a:extLst>
              </a:tr>
            </a:tbl>
          </a:graphicData>
        </a:graphic>
      </p:graphicFrame>
      <p:sp>
        <p:nvSpPr>
          <p:cNvPr id="7" name="Rounded Rectangle 6"/>
          <p:cNvSpPr/>
          <p:nvPr/>
        </p:nvSpPr>
        <p:spPr>
          <a:xfrm>
            <a:off x="8412480" y="1645920"/>
            <a:ext cx="3246120" cy="1298448"/>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95360" y="1755648"/>
            <a:ext cx="2926080" cy="365760"/>
          </a:xfrm>
          <a:prstGeom prst="rect">
            <a:avLst/>
          </a:prstGeom>
          <a:noFill/>
        </p:spPr>
        <p:txBody>
          <a:bodyPr wrap="square" lIns="0" tIns="0" rIns="0" bIns="0" anchor="t"/>
          <a:lstStyle/>
          <a:p>
            <a:pPr algn="l">
              <a:spcAft>
                <a:spcPts val="400"/>
              </a:spcAft>
            </a:pPr>
            <a:r>
              <a:rPr sz="1500" b="1" i="0">
                <a:solidFill>
                  <a:srgbClr val="1E2433"/>
                </a:solidFill>
                <a:latin typeface="Arial"/>
              </a:rPr>
              <a:t>SC-002 es el más crítico</a:t>
            </a:r>
          </a:p>
        </p:txBody>
      </p:sp>
      <p:sp>
        <p:nvSpPr>
          <p:cNvPr id="9" name="TextBox 8"/>
          <p:cNvSpPr txBox="1"/>
          <p:nvPr/>
        </p:nvSpPr>
        <p:spPr>
          <a:xfrm>
            <a:off x="8595360" y="2121408"/>
            <a:ext cx="2926080" cy="822960"/>
          </a:xfrm>
          <a:prstGeom prst="rect">
            <a:avLst/>
          </a:prstGeom>
          <a:noFill/>
        </p:spPr>
        <p:txBody>
          <a:bodyPr wrap="square" lIns="0" tIns="0" rIns="0" bIns="0" anchor="t"/>
          <a:lstStyle/>
          <a:p>
            <a:pPr algn="l">
              <a:spcAft>
                <a:spcPts val="400"/>
              </a:spcAft>
            </a:pPr>
            <a:r>
              <a:rPr sz="1200" b="0" i="0">
                <a:solidFill>
                  <a:srgbClr val="1F2937"/>
                </a:solidFill>
                <a:latin typeface="Arial"/>
              </a:rPr>
              <a:t>Toca 6 capas, incluida la tabla Usuario: el script SQL debe desplegarse antes que el código.</a:t>
            </a:r>
          </a:p>
        </p:txBody>
      </p:sp>
      <p:sp>
        <p:nvSpPr>
          <p:cNvPr id="10" name="Rounded Rectangle 9"/>
          <p:cNvSpPr/>
          <p:nvPr/>
        </p:nvSpPr>
        <p:spPr>
          <a:xfrm>
            <a:off x="8412480" y="3108960"/>
            <a:ext cx="3246120" cy="1298448"/>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95360" y="3218688"/>
            <a:ext cx="2926080" cy="365760"/>
          </a:xfrm>
          <a:prstGeom prst="rect">
            <a:avLst/>
          </a:prstGeom>
          <a:noFill/>
        </p:spPr>
        <p:txBody>
          <a:bodyPr wrap="square" lIns="0" tIns="0" rIns="0" bIns="0" anchor="t"/>
          <a:lstStyle/>
          <a:p>
            <a:pPr algn="l">
              <a:spcAft>
                <a:spcPts val="400"/>
              </a:spcAft>
            </a:pPr>
            <a:r>
              <a:rPr sz="1500" b="1" i="0">
                <a:solidFill>
                  <a:srgbClr val="1E2433"/>
                </a:solidFill>
                <a:latin typeface="Arial"/>
              </a:rPr>
              <a:t>SC-001 y SC-005 chocan</a:t>
            </a:r>
          </a:p>
        </p:txBody>
      </p:sp>
      <p:sp>
        <p:nvSpPr>
          <p:cNvPr id="12" name="TextBox 11"/>
          <p:cNvSpPr txBox="1"/>
          <p:nvPr/>
        </p:nvSpPr>
        <p:spPr>
          <a:xfrm>
            <a:off x="8595360" y="3584448"/>
            <a:ext cx="2926080" cy="822960"/>
          </a:xfrm>
          <a:prstGeom prst="rect">
            <a:avLst/>
          </a:prstGeom>
          <a:noFill/>
        </p:spPr>
        <p:txBody>
          <a:bodyPr wrap="square" lIns="0" tIns="0" rIns="0" bIns="0" anchor="t"/>
          <a:lstStyle/>
          <a:p>
            <a:pPr algn="l">
              <a:spcAft>
                <a:spcPts val="400"/>
              </a:spcAft>
            </a:pPr>
            <a:r>
              <a:rPr sz="1200" b="0" i="0">
                <a:solidFill>
                  <a:srgbClr val="1F2937"/>
                </a:solidFill>
                <a:latin typeface="Arial"/>
              </a:rPr>
              <a:t>Modifican el mismo PermisoController: se planifican juntos para evitar conflictos de merge.</a:t>
            </a:r>
          </a:p>
        </p:txBody>
      </p:sp>
      <p:sp>
        <p:nvSpPr>
          <p:cNvPr id="13" name="Rounded Rectangle 12"/>
          <p:cNvSpPr/>
          <p:nvPr/>
        </p:nvSpPr>
        <p:spPr>
          <a:xfrm>
            <a:off x="8412480" y="4572000"/>
            <a:ext cx="3246120" cy="1298448"/>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95360" y="4681728"/>
            <a:ext cx="2926080" cy="365760"/>
          </a:xfrm>
          <a:prstGeom prst="rect">
            <a:avLst/>
          </a:prstGeom>
          <a:noFill/>
        </p:spPr>
        <p:txBody>
          <a:bodyPr wrap="square" lIns="0" tIns="0" rIns="0" bIns="0" anchor="t"/>
          <a:lstStyle/>
          <a:p>
            <a:pPr algn="l">
              <a:spcAft>
                <a:spcPts val="400"/>
              </a:spcAft>
            </a:pPr>
            <a:r>
              <a:rPr sz="1500" b="1" i="0">
                <a:solidFill>
                  <a:srgbClr val="1E2433"/>
                </a:solidFill>
                <a:latin typeface="Arial"/>
              </a:rPr>
              <a:t>SC-003 es de bajo riesgo</a:t>
            </a:r>
          </a:p>
        </p:txBody>
      </p:sp>
      <p:sp>
        <p:nvSpPr>
          <p:cNvPr id="15" name="TextBox 14"/>
          <p:cNvSpPr txBox="1"/>
          <p:nvPr/>
        </p:nvSpPr>
        <p:spPr>
          <a:xfrm>
            <a:off x="8595360" y="5047488"/>
            <a:ext cx="2926080" cy="822960"/>
          </a:xfrm>
          <a:prstGeom prst="rect">
            <a:avLst/>
          </a:prstGeom>
          <a:noFill/>
        </p:spPr>
        <p:txBody>
          <a:bodyPr wrap="square" lIns="0" tIns="0" rIns="0" bIns="0" anchor="t"/>
          <a:lstStyle/>
          <a:p>
            <a:pPr algn="l">
              <a:spcAft>
                <a:spcPts val="400"/>
              </a:spcAft>
            </a:pPr>
            <a:r>
              <a:rPr sz="1200" b="0" i="0">
                <a:solidFill>
                  <a:srgbClr val="1F2937"/>
                </a:solidFill>
                <a:latin typeface="Arial"/>
              </a:rPr>
              <a:t>Reutiliza ExportadorCsv (Capa Lógica), ya probado en Empleados y Catálogos.</a:t>
            </a:r>
          </a:p>
        </p:txBody>
      </p:sp>
      <p:sp>
        <p:nvSpPr>
          <p:cNvPr id="16" name="TextBox 15"/>
          <p:cNvSpPr txBox="1"/>
          <p:nvPr/>
        </p:nvSpPr>
        <p:spPr>
          <a:xfrm>
            <a:off x="548640" y="5166360"/>
            <a:ext cx="7589520" cy="914400"/>
          </a:xfrm>
          <a:prstGeom prst="rect">
            <a:avLst/>
          </a:prstGeom>
          <a:noFill/>
        </p:spPr>
        <p:txBody>
          <a:bodyPr wrap="square" lIns="0" tIns="0" rIns="0" bIns="0" anchor="t"/>
          <a:lstStyle/>
          <a:p>
            <a:pPr algn="l">
              <a:spcAft>
                <a:spcPts val="400"/>
              </a:spcAft>
            </a:pPr>
            <a:r>
              <a:rPr sz="1300" b="1" i="0">
                <a:solidFill>
                  <a:srgbClr val="1E2433"/>
                </a:solidFill>
                <a:latin typeface="Arial"/>
              </a:rPr>
              <a:t>Riesgo = Probabilidad × Severidad </a:t>
            </a:r>
            <a:r>
              <a:rPr sz="1300" b="0" i="0">
                <a:solidFill>
                  <a:srgbClr val="1F2937"/>
                </a:solidFill>
                <a:latin typeface="Arial"/>
              </a:rPr>
              <a:t>(escala 1-3). Cada solicitud también evalúa impacto en BD, interfaz, usuarios, pruebas y cronograma, con su mitigación.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64240" cy="640080"/>
          </a:xfrm>
          <a:prstGeom prst="rect">
            <a:avLst/>
          </a:prstGeom>
          <a:noFill/>
        </p:spPr>
        <p:txBody>
          <a:bodyPr wrap="square" lIns="0" tIns="0" rIns="0" bIns="0" anchor="t"/>
          <a:lstStyle/>
          <a:p>
            <a:pPr algn="l">
              <a:spcAft>
                <a:spcPts val="400"/>
              </a:spcAft>
            </a:pPr>
            <a:r>
              <a:rPr sz="3200" b="1" i="0">
                <a:solidFill>
                  <a:srgbClr val="1E2433"/>
                </a:solidFill>
                <a:latin typeface="Arial"/>
              </a:rPr>
              <a:t>Flujo propuesto para gestionar cambios</a:t>
            </a:r>
          </a:p>
        </p:txBody>
      </p:sp>
      <p:sp>
        <p:nvSpPr>
          <p:cNvPr id="3" name="TextBox 2"/>
          <p:cNvSpPr txBox="1"/>
          <p:nvPr/>
        </p:nvSpPr>
        <p:spPr>
          <a:xfrm>
            <a:off x="548640" y="1024128"/>
            <a:ext cx="11064240" cy="411480"/>
          </a:xfrm>
          <a:prstGeom prst="rect">
            <a:avLst/>
          </a:prstGeom>
          <a:noFill/>
        </p:spPr>
        <p:txBody>
          <a:bodyPr wrap="square" lIns="0" tIns="0" rIns="0" bIns="0" anchor="t"/>
          <a:lstStyle/>
          <a:p>
            <a:pPr algn="l">
              <a:spcAft>
                <a:spcPts val="400"/>
              </a:spcAft>
            </a:pPr>
            <a:r>
              <a:rPr sz="1600" b="0" i="0">
                <a:solidFill>
                  <a:srgbClr val="6B7280"/>
                </a:solidFill>
                <a:latin typeface="Arial"/>
              </a:rPr>
              <a:t>Documento GC-P01 · entregado aparte en Word (Grupo5_Flujo_Gestion_Cambios.docx).</a:t>
            </a:r>
          </a:p>
        </p:txBody>
      </p:sp>
      <p:sp>
        <p:nvSpPr>
          <p:cNvPr id="4" name="TextBox 3"/>
          <p:cNvSpPr txBox="1"/>
          <p:nvPr/>
        </p:nvSpPr>
        <p:spPr>
          <a:xfrm>
            <a:off x="10728655" y="6400800"/>
            <a:ext cx="914400" cy="274320"/>
          </a:xfrm>
          <a:prstGeom prst="rect">
            <a:avLst/>
          </a:prstGeom>
          <a:noFill/>
        </p:spPr>
        <p:txBody>
          <a:bodyPr wrap="square" lIns="0" tIns="0" rIns="0" bIns="0" anchor="t"/>
          <a:lstStyle/>
          <a:p>
            <a:pPr algn="r">
              <a:spcAft>
                <a:spcPts val="400"/>
              </a:spcAft>
            </a:pPr>
            <a:r>
              <a:rPr sz="1000" b="0" i="0">
                <a:solidFill>
                  <a:srgbClr val="6B7280"/>
                </a:solidFill>
                <a:latin typeface="Arial"/>
              </a:rPr>
              <a:t>18</a:t>
            </a:r>
          </a:p>
        </p:txBody>
      </p:sp>
      <p:sp>
        <p:nvSpPr>
          <p:cNvPr id="5" name="TextBox 4"/>
          <p:cNvSpPr txBox="1"/>
          <p:nvPr/>
        </p:nvSpPr>
        <p:spPr>
          <a:xfrm>
            <a:off x="548640" y="6400800"/>
            <a:ext cx="7315200" cy="274320"/>
          </a:xfrm>
          <a:prstGeom prst="rect">
            <a:avLst/>
          </a:prstGeom>
          <a:noFill/>
        </p:spPr>
        <p:txBody>
          <a:bodyPr wrap="square" lIns="0" tIns="0" rIns="0" bIns="0" anchor="t"/>
          <a:lstStyle/>
          <a:p>
            <a:pPr algn="l">
              <a:spcAft>
                <a:spcPts val="400"/>
              </a:spcAft>
            </a:pPr>
            <a:r>
              <a:rPr sz="1000" b="0" i="0">
                <a:solidFill>
                  <a:srgbClr val="6B7280"/>
                </a:solidFill>
                <a:latin typeface="Arial"/>
              </a:rPr>
              <a:t>Grupo 5 · Gestión del Cambio · Evo-RRLL</a:t>
            </a:r>
          </a:p>
        </p:txBody>
      </p:sp>
      <p:pic>
        <p:nvPicPr>
          <p:cNvPr id="6" name="Picture 5" descr="flujo.png"/>
          <p:cNvPicPr>
            <a:picLocks noChangeAspect="1"/>
          </p:cNvPicPr>
          <p:nvPr/>
        </p:nvPicPr>
        <p:blipFill>
          <a:blip r:embed="rId3"/>
          <a:stretch>
            <a:fillRect/>
          </a:stretch>
        </p:blipFill>
        <p:spPr>
          <a:xfrm>
            <a:off x="548640" y="1508760"/>
            <a:ext cx="11064240" cy="448423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64240" cy="640080"/>
          </a:xfrm>
          <a:prstGeom prst="rect">
            <a:avLst/>
          </a:prstGeom>
          <a:noFill/>
        </p:spPr>
        <p:txBody>
          <a:bodyPr wrap="square" lIns="0" tIns="0" rIns="0" bIns="0" anchor="t"/>
          <a:lstStyle/>
          <a:p>
            <a:pPr algn="l">
              <a:spcAft>
                <a:spcPts val="400"/>
              </a:spcAft>
            </a:pPr>
            <a:r>
              <a:rPr sz="3200" b="1" i="0">
                <a:solidFill>
                  <a:srgbClr val="1E2433"/>
                </a:solidFill>
                <a:latin typeface="Arial"/>
              </a:rPr>
              <a:t>Cómo lo aplicamos con Git y GitHub</a:t>
            </a:r>
          </a:p>
        </p:txBody>
      </p:sp>
      <p:sp>
        <p:nvSpPr>
          <p:cNvPr id="3" name="TextBox 2"/>
          <p:cNvSpPr txBox="1"/>
          <p:nvPr/>
        </p:nvSpPr>
        <p:spPr>
          <a:xfrm>
            <a:off x="548640" y="1024128"/>
            <a:ext cx="11064240" cy="411480"/>
          </a:xfrm>
          <a:prstGeom prst="rect">
            <a:avLst/>
          </a:prstGeom>
          <a:noFill/>
        </p:spPr>
        <p:txBody>
          <a:bodyPr wrap="square" lIns="0" tIns="0" rIns="0" bIns="0" anchor="t"/>
          <a:lstStyle/>
          <a:p>
            <a:pPr algn="l">
              <a:spcAft>
                <a:spcPts val="400"/>
              </a:spcAft>
            </a:pPr>
            <a:r>
              <a:rPr sz="1600" b="0" i="0">
                <a:solidFill>
                  <a:srgbClr val="6B7280"/>
                </a:solidFill>
                <a:latin typeface="Arial"/>
              </a:rPr>
              <a:t>El flujo se apoya en las herramientas que el equipo ya usa.</a:t>
            </a:r>
          </a:p>
        </p:txBody>
      </p:sp>
      <p:sp>
        <p:nvSpPr>
          <p:cNvPr id="4" name="TextBox 3"/>
          <p:cNvSpPr txBox="1"/>
          <p:nvPr/>
        </p:nvSpPr>
        <p:spPr>
          <a:xfrm>
            <a:off x="10728655" y="6400800"/>
            <a:ext cx="914400" cy="274320"/>
          </a:xfrm>
          <a:prstGeom prst="rect">
            <a:avLst/>
          </a:prstGeom>
          <a:noFill/>
        </p:spPr>
        <p:txBody>
          <a:bodyPr wrap="square" lIns="0" tIns="0" rIns="0" bIns="0" anchor="t"/>
          <a:lstStyle/>
          <a:p>
            <a:pPr algn="r">
              <a:spcAft>
                <a:spcPts val="400"/>
              </a:spcAft>
            </a:pPr>
            <a:r>
              <a:rPr sz="1000" b="0" i="0">
                <a:solidFill>
                  <a:srgbClr val="6B7280"/>
                </a:solidFill>
                <a:latin typeface="Arial"/>
              </a:rPr>
              <a:t>19</a:t>
            </a:r>
          </a:p>
        </p:txBody>
      </p:sp>
      <p:sp>
        <p:nvSpPr>
          <p:cNvPr id="5" name="TextBox 4"/>
          <p:cNvSpPr txBox="1"/>
          <p:nvPr/>
        </p:nvSpPr>
        <p:spPr>
          <a:xfrm>
            <a:off x="548640" y="6400800"/>
            <a:ext cx="7315200" cy="274320"/>
          </a:xfrm>
          <a:prstGeom prst="rect">
            <a:avLst/>
          </a:prstGeom>
          <a:noFill/>
        </p:spPr>
        <p:txBody>
          <a:bodyPr wrap="square" lIns="0" tIns="0" rIns="0" bIns="0" anchor="t"/>
          <a:lstStyle/>
          <a:p>
            <a:pPr algn="l">
              <a:spcAft>
                <a:spcPts val="400"/>
              </a:spcAft>
            </a:pPr>
            <a:r>
              <a:rPr sz="1000" b="0" i="0">
                <a:solidFill>
                  <a:srgbClr val="6B7280"/>
                </a:solidFill>
                <a:latin typeface="Arial"/>
              </a:rPr>
              <a:t>Grupo 5 · Gestión del Cambio · Evo-RRLL</a:t>
            </a:r>
          </a:p>
        </p:txBody>
      </p:sp>
      <p:sp>
        <p:nvSpPr>
          <p:cNvPr id="6" name="Rounded Rectangle 5"/>
          <p:cNvSpPr/>
          <p:nvPr/>
        </p:nvSpPr>
        <p:spPr>
          <a:xfrm>
            <a:off x="548640" y="1828800"/>
            <a:ext cx="2057400" cy="310896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05740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1E2433"/>
                </a:solidFill>
                <a:latin typeface="Arial"/>
              </a:rPr>
              <a:t>1</a:t>
            </a:r>
          </a:p>
        </p:txBody>
      </p:sp>
      <p:sp>
        <p:nvSpPr>
          <p:cNvPr id="8" name="TextBox 7"/>
          <p:cNvSpPr txBox="1"/>
          <p:nvPr/>
        </p:nvSpPr>
        <p:spPr>
          <a:xfrm>
            <a:off x="777240" y="2606040"/>
            <a:ext cx="1691640" cy="457200"/>
          </a:xfrm>
          <a:prstGeom prst="rect">
            <a:avLst/>
          </a:prstGeom>
          <a:noFill/>
        </p:spPr>
        <p:txBody>
          <a:bodyPr wrap="square" lIns="0" tIns="0" rIns="0" bIns="0" anchor="t"/>
          <a:lstStyle/>
          <a:p>
            <a:pPr algn="l">
              <a:spcAft>
                <a:spcPts val="400"/>
              </a:spcAft>
            </a:pPr>
            <a:r>
              <a:rPr sz="1800" b="1" i="0">
                <a:solidFill>
                  <a:srgbClr val="1E2433"/>
                </a:solidFill>
                <a:latin typeface="Arial"/>
              </a:rPr>
              <a:t>Issue</a:t>
            </a:r>
          </a:p>
        </p:txBody>
      </p:sp>
      <p:sp>
        <p:nvSpPr>
          <p:cNvPr id="9" name="TextBox 8"/>
          <p:cNvSpPr txBox="1"/>
          <p:nvPr/>
        </p:nvSpPr>
        <p:spPr>
          <a:xfrm>
            <a:off x="777240" y="3154680"/>
            <a:ext cx="1691640" cy="1691640"/>
          </a:xfrm>
          <a:prstGeom prst="rect">
            <a:avLst/>
          </a:prstGeom>
          <a:noFill/>
        </p:spPr>
        <p:txBody>
          <a:bodyPr wrap="square" lIns="0" tIns="0" rIns="0" bIns="0" anchor="t"/>
          <a:lstStyle/>
          <a:p>
            <a:pPr algn="l">
              <a:spcAft>
                <a:spcPts val="400"/>
              </a:spcAft>
            </a:pPr>
            <a:r>
              <a:rPr sz="1300" b="0" i="0">
                <a:solidFill>
                  <a:srgbClr val="1F2937"/>
                </a:solidFill>
                <a:latin typeface="Arial"/>
              </a:rPr>
              <a:t>SC-001 registrada como Issue con la plantilla 'Solicitud de cambio'.</a:t>
            </a:r>
          </a:p>
        </p:txBody>
      </p:sp>
      <p:sp>
        <p:nvSpPr>
          <p:cNvPr id="10" name="Right Arrow 9"/>
          <p:cNvSpPr/>
          <p:nvPr/>
        </p:nvSpPr>
        <p:spPr>
          <a:xfrm>
            <a:off x="2633472" y="3246120"/>
            <a:ext cx="164592" cy="228600"/>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2816352" y="1828800"/>
            <a:ext cx="2057400" cy="310896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3044952" y="205740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1E2433"/>
                </a:solidFill>
                <a:latin typeface="Arial"/>
              </a:rPr>
              <a:t>2</a:t>
            </a:r>
          </a:p>
        </p:txBody>
      </p:sp>
      <p:sp>
        <p:nvSpPr>
          <p:cNvPr id="13" name="TextBox 12"/>
          <p:cNvSpPr txBox="1"/>
          <p:nvPr/>
        </p:nvSpPr>
        <p:spPr>
          <a:xfrm>
            <a:off x="3044952" y="2606040"/>
            <a:ext cx="1691640" cy="457200"/>
          </a:xfrm>
          <a:prstGeom prst="rect">
            <a:avLst/>
          </a:prstGeom>
          <a:noFill/>
        </p:spPr>
        <p:txBody>
          <a:bodyPr wrap="square" lIns="0" tIns="0" rIns="0" bIns="0" anchor="t"/>
          <a:lstStyle/>
          <a:p>
            <a:pPr algn="l">
              <a:spcAft>
                <a:spcPts val="400"/>
              </a:spcAft>
            </a:pPr>
            <a:r>
              <a:rPr sz="1800" b="1" i="0">
                <a:solidFill>
                  <a:srgbClr val="1E2433"/>
                </a:solidFill>
                <a:latin typeface="Arial"/>
              </a:rPr>
              <a:t>Rama</a:t>
            </a:r>
          </a:p>
        </p:txBody>
      </p:sp>
      <p:sp>
        <p:nvSpPr>
          <p:cNvPr id="14" name="TextBox 13"/>
          <p:cNvSpPr txBox="1"/>
          <p:nvPr/>
        </p:nvSpPr>
        <p:spPr>
          <a:xfrm>
            <a:off x="3044952" y="3154680"/>
            <a:ext cx="1691640" cy="1691640"/>
          </a:xfrm>
          <a:prstGeom prst="rect">
            <a:avLst/>
          </a:prstGeom>
          <a:noFill/>
        </p:spPr>
        <p:txBody>
          <a:bodyPr wrap="square" lIns="0" tIns="0" rIns="0" bIns="0" anchor="t"/>
          <a:lstStyle/>
          <a:p>
            <a:pPr algn="l">
              <a:spcAft>
                <a:spcPts val="400"/>
              </a:spcAft>
            </a:pPr>
            <a:r>
              <a:rPr sz="1300" b="0" i="0">
                <a:solidFill>
                  <a:srgbClr val="1F2937"/>
                </a:solidFill>
                <a:latin typeface="Arial"/>
              </a:rPr>
              <a:t>feature/SC-001-validar-permisos creada desde main.</a:t>
            </a:r>
          </a:p>
        </p:txBody>
      </p:sp>
      <p:sp>
        <p:nvSpPr>
          <p:cNvPr id="15" name="Right Arrow 14"/>
          <p:cNvSpPr/>
          <p:nvPr/>
        </p:nvSpPr>
        <p:spPr>
          <a:xfrm>
            <a:off x="4901183" y="3246120"/>
            <a:ext cx="164592" cy="228600"/>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084064" y="1828800"/>
            <a:ext cx="2057400" cy="310896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5312664" y="205740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1E2433"/>
                </a:solidFill>
                <a:latin typeface="Arial"/>
              </a:rPr>
              <a:t>3</a:t>
            </a:r>
          </a:p>
        </p:txBody>
      </p:sp>
      <p:sp>
        <p:nvSpPr>
          <p:cNvPr id="18" name="TextBox 17"/>
          <p:cNvSpPr txBox="1"/>
          <p:nvPr/>
        </p:nvSpPr>
        <p:spPr>
          <a:xfrm>
            <a:off x="5312664" y="2606040"/>
            <a:ext cx="1691640" cy="457200"/>
          </a:xfrm>
          <a:prstGeom prst="rect">
            <a:avLst/>
          </a:prstGeom>
          <a:noFill/>
        </p:spPr>
        <p:txBody>
          <a:bodyPr wrap="square" lIns="0" tIns="0" rIns="0" bIns="0" anchor="t"/>
          <a:lstStyle/>
          <a:p>
            <a:pPr algn="l">
              <a:spcAft>
                <a:spcPts val="400"/>
              </a:spcAft>
            </a:pPr>
            <a:r>
              <a:rPr sz="1800" b="1" i="0">
                <a:solidFill>
                  <a:srgbClr val="1E2433"/>
                </a:solidFill>
                <a:latin typeface="Arial"/>
              </a:rPr>
              <a:t>Commit</a:t>
            </a:r>
          </a:p>
        </p:txBody>
      </p:sp>
      <p:sp>
        <p:nvSpPr>
          <p:cNvPr id="19" name="TextBox 18"/>
          <p:cNvSpPr txBox="1"/>
          <p:nvPr/>
        </p:nvSpPr>
        <p:spPr>
          <a:xfrm>
            <a:off x="5312664" y="3154680"/>
            <a:ext cx="1691640" cy="1691640"/>
          </a:xfrm>
          <a:prstGeom prst="rect">
            <a:avLst/>
          </a:prstGeom>
          <a:noFill/>
        </p:spPr>
        <p:txBody>
          <a:bodyPr wrap="square" lIns="0" tIns="0" rIns="0" bIns="0" anchor="t"/>
          <a:lstStyle/>
          <a:p>
            <a:pPr algn="l">
              <a:spcAft>
                <a:spcPts val="400"/>
              </a:spcAft>
            </a:pPr>
            <a:r>
              <a:rPr sz="1300" b="0" i="0">
                <a:solidFill>
                  <a:srgbClr val="1F2937"/>
                </a:solidFill>
                <a:latin typeface="Courier New"/>
              </a:rPr>
              <a:t>SC-001: valida FechaFin &gt;= FechaInicio en PermisoLogica</a:t>
            </a:r>
          </a:p>
        </p:txBody>
      </p:sp>
      <p:sp>
        <p:nvSpPr>
          <p:cNvPr id="20" name="Right Arrow 19"/>
          <p:cNvSpPr/>
          <p:nvPr/>
        </p:nvSpPr>
        <p:spPr>
          <a:xfrm>
            <a:off x="7168896" y="3246120"/>
            <a:ext cx="164592" cy="228600"/>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7351775" y="1828800"/>
            <a:ext cx="2057400" cy="3108960"/>
          </a:xfrm>
          <a:prstGeom prst="roundRect">
            <a:avLst>
              <a:gd name="adj" fmla="val 6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7580375" y="205740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1E2433"/>
                </a:solidFill>
                <a:latin typeface="Arial"/>
              </a:rPr>
              <a:t>4</a:t>
            </a:r>
          </a:p>
        </p:txBody>
      </p:sp>
      <p:sp>
        <p:nvSpPr>
          <p:cNvPr id="23" name="TextBox 22"/>
          <p:cNvSpPr txBox="1"/>
          <p:nvPr/>
        </p:nvSpPr>
        <p:spPr>
          <a:xfrm>
            <a:off x="7580375" y="2606040"/>
            <a:ext cx="1691640" cy="457200"/>
          </a:xfrm>
          <a:prstGeom prst="rect">
            <a:avLst/>
          </a:prstGeom>
          <a:noFill/>
        </p:spPr>
        <p:txBody>
          <a:bodyPr wrap="square" lIns="0" tIns="0" rIns="0" bIns="0" anchor="t"/>
          <a:lstStyle/>
          <a:p>
            <a:pPr algn="l">
              <a:spcAft>
                <a:spcPts val="400"/>
              </a:spcAft>
            </a:pPr>
            <a:r>
              <a:rPr sz="1800" b="1" i="0">
                <a:solidFill>
                  <a:srgbClr val="F2A900"/>
                </a:solidFill>
                <a:latin typeface="Arial"/>
              </a:rPr>
              <a:t>Pull Request</a:t>
            </a:r>
          </a:p>
        </p:txBody>
      </p:sp>
      <p:sp>
        <p:nvSpPr>
          <p:cNvPr id="24" name="TextBox 23"/>
          <p:cNvSpPr txBox="1"/>
          <p:nvPr/>
        </p:nvSpPr>
        <p:spPr>
          <a:xfrm>
            <a:off x="7580375" y="3154680"/>
            <a:ext cx="1691640" cy="1691640"/>
          </a:xfrm>
          <a:prstGeom prst="rect">
            <a:avLst/>
          </a:prstGeom>
          <a:noFill/>
        </p:spPr>
        <p:txBody>
          <a:bodyPr wrap="square" lIns="0" tIns="0" rIns="0" bIns="0" anchor="t"/>
          <a:lstStyle/>
          <a:p>
            <a:pPr algn="l">
              <a:spcAft>
                <a:spcPts val="400"/>
              </a:spcAft>
            </a:pPr>
            <a:r>
              <a:rPr sz="1300" b="0" i="0">
                <a:solidFill>
                  <a:srgbClr val="FFFFFF"/>
                </a:solidFill>
                <a:latin typeface="Arial"/>
              </a:rPr>
              <a:t>Revisión de un compañero + pruebas aprobadas.</a:t>
            </a:r>
          </a:p>
        </p:txBody>
      </p:sp>
      <p:sp>
        <p:nvSpPr>
          <p:cNvPr id="25" name="Right Arrow 24"/>
          <p:cNvSpPr/>
          <p:nvPr/>
        </p:nvSpPr>
        <p:spPr>
          <a:xfrm>
            <a:off x="9436607" y="3246120"/>
            <a:ext cx="164592" cy="228600"/>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9619488" y="1828800"/>
            <a:ext cx="2057400" cy="310896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9848088" y="205740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1E2433"/>
                </a:solidFill>
                <a:latin typeface="Arial"/>
              </a:rPr>
              <a:t>5</a:t>
            </a:r>
          </a:p>
        </p:txBody>
      </p:sp>
      <p:sp>
        <p:nvSpPr>
          <p:cNvPr id="28" name="TextBox 27"/>
          <p:cNvSpPr txBox="1"/>
          <p:nvPr/>
        </p:nvSpPr>
        <p:spPr>
          <a:xfrm>
            <a:off x="9848088" y="2606040"/>
            <a:ext cx="1691640" cy="457200"/>
          </a:xfrm>
          <a:prstGeom prst="rect">
            <a:avLst/>
          </a:prstGeom>
          <a:noFill/>
        </p:spPr>
        <p:txBody>
          <a:bodyPr wrap="square" lIns="0" tIns="0" rIns="0" bIns="0" anchor="t"/>
          <a:lstStyle/>
          <a:p>
            <a:pPr algn="l">
              <a:spcAft>
                <a:spcPts val="400"/>
              </a:spcAft>
            </a:pPr>
            <a:r>
              <a:rPr sz="1800" b="1" i="0">
                <a:solidFill>
                  <a:srgbClr val="1E2433"/>
                </a:solidFill>
                <a:latin typeface="Arial"/>
              </a:rPr>
              <a:t>Tag</a:t>
            </a:r>
          </a:p>
        </p:txBody>
      </p:sp>
      <p:sp>
        <p:nvSpPr>
          <p:cNvPr id="29" name="TextBox 28"/>
          <p:cNvSpPr txBox="1"/>
          <p:nvPr/>
        </p:nvSpPr>
        <p:spPr>
          <a:xfrm>
            <a:off x="9848088" y="3154680"/>
            <a:ext cx="1691640" cy="1691640"/>
          </a:xfrm>
          <a:prstGeom prst="rect">
            <a:avLst/>
          </a:prstGeom>
          <a:noFill/>
        </p:spPr>
        <p:txBody>
          <a:bodyPr wrap="square" lIns="0" tIns="0" rIns="0" bIns="0" anchor="t"/>
          <a:lstStyle/>
          <a:p>
            <a:pPr algn="l">
              <a:spcAft>
                <a:spcPts val="400"/>
              </a:spcAft>
            </a:pPr>
            <a:r>
              <a:rPr sz="1300" b="0" i="0">
                <a:solidFill>
                  <a:srgbClr val="1F2937"/>
                </a:solidFill>
                <a:latin typeface="Arial"/>
              </a:rPr>
              <a:t>Merge a main y etiqueta v1.3; matriz en 'Cerrado'.</a:t>
            </a:r>
          </a:p>
        </p:txBody>
      </p:sp>
      <p:sp>
        <p:nvSpPr>
          <p:cNvPr id="30" name="Rounded Rectangle 29"/>
          <p:cNvSpPr/>
          <p:nvPr/>
        </p:nvSpPr>
        <p:spPr>
          <a:xfrm>
            <a:off x="548640" y="5212080"/>
            <a:ext cx="11064240" cy="868680"/>
          </a:xfrm>
          <a:prstGeom prst="roundRect">
            <a:avLst>
              <a:gd name="adj" fmla="val 6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77240" y="5257800"/>
            <a:ext cx="10607040" cy="777240"/>
          </a:xfrm>
          <a:prstGeom prst="rect">
            <a:avLst/>
          </a:prstGeom>
          <a:noFill/>
        </p:spPr>
        <p:txBody>
          <a:bodyPr wrap="square" lIns="0" tIns="0" rIns="0" bIns="0" anchor="ctr"/>
          <a:lstStyle/>
          <a:p>
            <a:pPr algn="l">
              <a:spcAft>
                <a:spcPts val="400"/>
              </a:spcAft>
            </a:pPr>
            <a:r>
              <a:rPr sz="1500" b="1" i="0">
                <a:solidFill>
                  <a:srgbClr val="1E2433"/>
                </a:solidFill>
                <a:latin typeface="Arial"/>
              </a:rPr>
              <a:t>Regla del equipo: </a:t>
            </a:r>
            <a:r>
              <a:rPr sz="1500" b="0" i="0">
                <a:solidFill>
                  <a:srgbClr val="1F2937"/>
                </a:solidFill>
                <a:latin typeface="Arial"/>
              </a:rPr>
              <a:t>ningún Pull Request se integra a main si no referencia una solicitud de cambio aprobada en la matriz.</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E2433"/>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1064240" cy="640080"/>
          </a:xfrm>
          <a:prstGeom prst="rect">
            <a:avLst/>
          </a:prstGeom>
          <a:noFill/>
        </p:spPr>
        <p:txBody>
          <a:bodyPr wrap="square" lIns="0" tIns="0" rIns="0" bIns="0" anchor="t"/>
          <a:lstStyle/>
          <a:p>
            <a:pPr algn="l">
              <a:spcAft>
                <a:spcPts val="400"/>
              </a:spcAft>
            </a:pPr>
            <a:r>
              <a:rPr sz="3200" b="1" i="0">
                <a:solidFill>
                  <a:srgbClr val="FFFFFF"/>
                </a:solidFill>
                <a:latin typeface="Arial"/>
              </a:rPr>
              <a:t>Conclusiones</a:t>
            </a:r>
          </a:p>
        </p:txBody>
      </p:sp>
      <p:sp>
        <p:nvSpPr>
          <p:cNvPr id="3" name="TextBox 2"/>
          <p:cNvSpPr txBox="1"/>
          <p:nvPr/>
        </p:nvSpPr>
        <p:spPr>
          <a:xfrm>
            <a:off x="10728655" y="6400800"/>
            <a:ext cx="914400" cy="274320"/>
          </a:xfrm>
          <a:prstGeom prst="rect">
            <a:avLst/>
          </a:prstGeom>
          <a:noFill/>
        </p:spPr>
        <p:txBody>
          <a:bodyPr wrap="square" lIns="0" tIns="0" rIns="0" bIns="0" anchor="t"/>
          <a:lstStyle/>
          <a:p>
            <a:pPr algn="r">
              <a:spcAft>
                <a:spcPts val="400"/>
              </a:spcAft>
            </a:pPr>
            <a:r>
              <a:rPr sz="1000" b="0" i="0">
                <a:solidFill>
                  <a:srgbClr val="6B7280"/>
                </a:solidFill>
                <a:latin typeface="Arial"/>
              </a:rPr>
              <a:t>20</a:t>
            </a:r>
          </a:p>
        </p:txBody>
      </p:sp>
      <p:sp>
        <p:nvSpPr>
          <p:cNvPr id="4" name="TextBox 3"/>
          <p:cNvSpPr txBox="1"/>
          <p:nvPr/>
        </p:nvSpPr>
        <p:spPr>
          <a:xfrm>
            <a:off x="548640" y="6400800"/>
            <a:ext cx="7315200" cy="274320"/>
          </a:xfrm>
          <a:prstGeom prst="rect">
            <a:avLst/>
          </a:prstGeom>
          <a:noFill/>
        </p:spPr>
        <p:txBody>
          <a:bodyPr wrap="square" lIns="0" tIns="0" rIns="0" bIns="0" anchor="t"/>
          <a:lstStyle/>
          <a:p>
            <a:pPr algn="l">
              <a:spcAft>
                <a:spcPts val="400"/>
              </a:spcAft>
            </a:pPr>
            <a:r>
              <a:rPr sz="1000" b="0" i="0">
                <a:solidFill>
                  <a:srgbClr val="6B7280"/>
                </a:solidFill>
                <a:latin typeface="Arial"/>
              </a:rPr>
              <a:t>Grupo 5 · Gestión del Cambio · Evo-RRLL</a:t>
            </a:r>
          </a:p>
        </p:txBody>
      </p:sp>
      <p:sp>
        <p:nvSpPr>
          <p:cNvPr id="5" name="Oval 4"/>
          <p:cNvSpPr/>
          <p:nvPr/>
        </p:nvSpPr>
        <p:spPr>
          <a:xfrm>
            <a:off x="731520" y="155448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1E2433"/>
                </a:solidFill>
                <a:latin typeface="Arial"/>
              </a:rPr>
              <a:t>1</a:t>
            </a:r>
          </a:p>
        </p:txBody>
      </p:sp>
      <p:sp>
        <p:nvSpPr>
          <p:cNvPr id="6" name="TextBox 5"/>
          <p:cNvSpPr txBox="1"/>
          <p:nvPr/>
        </p:nvSpPr>
        <p:spPr>
          <a:xfrm>
            <a:off x="1325880" y="1463040"/>
            <a:ext cx="10058400" cy="1005840"/>
          </a:xfrm>
          <a:prstGeom prst="rect">
            <a:avLst/>
          </a:prstGeom>
          <a:noFill/>
        </p:spPr>
        <p:txBody>
          <a:bodyPr wrap="square" lIns="0" tIns="0" rIns="0" bIns="0" anchor="ctr"/>
          <a:lstStyle/>
          <a:p>
            <a:pPr algn="l">
              <a:spcAft>
                <a:spcPts val="400"/>
              </a:spcAft>
            </a:pPr>
            <a:r>
              <a:rPr sz="1800" b="0" i="0">
                <a:solidFill>
                  <a:srgbClr val="FFFFFF"/>
                </a:solidFill>
                <a:latin typeface="Arial"/>
              </a:rPr>
              <a:t>La gestión del cambio no frena el desarrollo: lo ordena y lo hace predecible.</a:t>
            </a:r>
          </a:p>
        </p:txBody>
      </p:sp>
      <p:sp>
        <p:nvSpPr>
          <p:cNvPr id="7" name="Oval 6"/>
          <p:cNvSpPr/>
          <p:nvPr/>
        </p:nvSpPr>
        <p:spPr>
          <a:xfrm>
            <a:off x="731520" y="274320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1E2433"/>
                </a:solidFill>
                <a:latin typeface="Arial"/>
              </a:rPr>
              <a:t>2</a:t>
            </a:r>
          </a:p>
        </p:txBody>
      </p:sp>
      <p:sp>
        <p:nvSpPr>
          <p:cNvPr id="8" name="TextBox 7"/>
          <p:cNvSpPr txBox="1"/>
          <p:nvPr/>
        </p:nvSpPr>
        <p:spPr>
          <a:xfrm>
            <a:off x="1325880" y="2651760"/>
            <a:ext cx="10058400" cy="1005840"/>
          </a:xfrm>
          <a:prstGeom prst="rect">
            <a:avLst/>
          </a:prstGeom>
          <a:noFill/>
        </p:spPr>
        <p:txBody>
          <a:bodyPr wrap="square" lIns="0" tIns="0" rIns="0" bIns="0" anchor="ctr"/>
          <a:lstStyle/>
          <a:p>
            <a:pPr algn="l">
              <a:spcAft>
                <a:spcPts val="400"/>
              </a:spcAft>
            </a:pPr>
            <a:r>
              <a:rPr sz="1800" b="0" i="0">
                <a:solidFill>
                  <a:srgbClr val="FFFFFF"/>
                </a:solidFill>
                <a:latin typeface="Arial"/>
              </a:rPr>
              <a:t>Analizar el impacto antes de programar evitó, en nuestro caso, un conflicto entre SC-001 y SC-005 y un despliegue roto en SC-002.</a:t>
            </a:r>
          </a:p>
        </p:txBody>
      </p:sp>
      <p:sp>
        <p:nvSpPr>
          <p:cNvPr id="9" name="Oval 8"/>
          <p:cNvSpPr/>
          <p:nvPr/>
        </p:nvSpPr>
        <p:spPr>
          <a:xfrm>
            <a:off x="731520" y="393192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1E2433"/>
                </a:solidFill>
                <a:latin typeface="Arial"/>
              </a:rPr>
              <a:t>3</a:t>
            </a:r>
          </a:p>
        </p:txBody>
      </p:sp>
      <p:sp>
        <p:nvSpPr>
          <p:cNvPr id="10" name="TextBox 9"/>
          <p:cNvSpPr txBox="1"/>
          <p:nvPr/>
        </p:nvSpPr>
        <p:spPr>
          <a:xfrm>
            <a:off x="1325880" y="3840480"/>
            <a:ext cx="10058400" cy="1005840"/>
          </a:xfrm>
          <a:prstGeom prst="rect">
            <a:avLst/>
          </a:prstGeom>
          <a:noFill/>
        </p:spPr>
        <p:txBody>
          <a:bodyPr wrap="square" lIns="0" tIns="0" rIns="0" bIns="0" anchor="ctr"/>
          <a:lstStyle/>
          <a:p>
            <a:pPr algn="l">
              <a:spcAft>
                <a:spcPts val="400"/>
              </a:spcAft>
            </a:pPr>
            <a:r>
              <a:rPr sz="1800" b="0" i="0">
                <a:solidFill>
                  <a:srgbClr val="FFFFFF"/>
                </a:solidFill>
                <a:latin typeface="Arial"/>
              </a:rPr>
              <a:t>El formato, la matriz y el flujo dan trazabilidad completa: solicitud → decisión → commit → versión.</a:t>
            </a:r>
          </a:p>
        </p:txBody>
      </p:sp>
      <p:sp>
        <p:nvSpPr>
          <p:cNvPr id="11" name="Oval 10"/>
          <p:cNvSpPr/>
          <p:nvPr/>
        </p:nvSpPr>
        <p:spPr>
          <a:xfrm>
            <a:off x="731520" y="5120640"/>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1E2433"/>
                </a:solidFill>
                <a:latin typeface="Arial"/>
              </a:rPr>
              <a:t>4</a:t>
            </a:r>
          </a:p>
        </p:txBody>
      </p:sp>
      <p:sp>
        <p:nvSpPr>
          <p:cNvPr id="12" name="TextBox 11"/>
          <p:cNvSpPr txBox="1"/>
          <p:nvPr/>
        </p:nvSpPr>
        <p:spPr>
          <a:xfrm>
            <a:off x="1325880" y="5029200"/>
            <a:ext cx="10058400" cy="1005840"/>
          </a:xfrm>
          <a:prstGeom prst="rect">
            <a:avLst/>
          </a:prstGeom>
          <a:noFill/>
        </p:spPr>
        <p:txBody>
          <a:bodyPr wrap="square" lIns="0" tIns="0" rIns="0" bIns="0" anchor="ctr"/>
          <a:lstStyle/>
          <a:p>
            <a:pPr algn="l">
              <a:spcAft>
                <a:spcPts val="400"/>
              </a:spcAft>
            </a:pPr>
            <a:r>
              <a:rPr sz="1800" b="0" i="0">
                <a:solidFill>
                  <a:srgbClr val="FFFFFF"/>
                </a:solidFill>
                <a:latin typeface="Arial"/>
              </a:rPr>
              <a:t>Integrar el proceso con Git y GitHub lo vuelve práctico para un equipo pequeño.</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E2433"/>
        </a:solidFill>
        <a:effectLst/>
      </p:bgPr>
    </p:bg>
    <p:spTree>
      <p:nvGrpSpPr>
        <p:cNvPr id="1" name=""/>
        <p:cNvGrpSpPr/>
        <p:nvPr/>
      </p:nvGrpSpPr>
      <p:grpSpPr>
        <a:xfrm>
          <a:off x="0" y="0"/>
          <a:ext cx="0" cy="0"/>
          <a:chOff x="0" y="0"/>
          <a:chExt cx="0" cy="0"/>
        </a:xfrm>
      </p:grpSpPr>
      <p:sp>
        <p:nvSpPr>
          <p:cNvPr id="2" name="TextBox 1"/>
          <p:cNvSpPr txBox="1"/>
          <p:nvPr/>
        </p:nvSpPr>
        <p:spPr>
          <a:xfrm>
            <a:off x="10728655" y="6400800"/>
            <a:ext cx="914400" cy="274320"/>
          </a:xfrm>
          <a:prstGeom prst="rect">
            <a:avLst/>
          </a:prstGeom>
          <a:noFill/>
        </p:spPr>
        <p:txBody>
          <a:bodyPr wrap="square" lIns="0" tIns="0" rIns="0" bIns="0" anchor="t"/>
          <a:lstStyle/>
          <a:p>
            <a:pPr algn="r">
              <a:spcAft>
                <a:spcPts val="400"/>
              </a:spcAft>
            </a:pPr>
            <a:r>
              <a:rPr sz="1000" b="0" i="0">
                <a:solidFill>
                  <a:srgbClr val="6B7280"/>
                </a:solidFill>
                <a:latin typeface="Arial"/>
              </a:rPr>
              <a:t>21</a:t>
            </a:r>
          </a:p>
        </p:txBody>
      </p:sp>
      <p:sp>
        <p:nvSpPr>
          <p:cNvPr id="3" name="TextBox 2"/>
          <p:cNvSpPr txBox="1"/>
          <p:nvPr/>
        </p:nvSpPr>
        <p:spPr>
          <a:xfrm>
            <a:off x="548640" y="6400800"/>
            <a:ext cx="7315200" cy="274320"/>
          </a:xfrm>
          <a:prstGeom prst="rect">
            <a:avLst/>
          </a:prstGeom>
          <a:noFill/>
        </p:spPr>
        <p:txBody>
          <a:bodyPr wrap="square" lIns="0" tIns="0" rIns="0" bIns="0" anchor="t"/>
          <a:lstStyle/>
          <a:p>
            <a:pPr algn="l">
              <a:spcAft>
                <a:spcPts val="400"/>
              </a:spcAft>
            </a:pPr>
            <a:r>
              <a:rPr sz="1000" b="0" i="0">
                <a:solidFill>
                  <a:srgbClr val="6B7280"/>
                </a:solidFill>
                <a:latin typeface="Arial"/>
              </a:rPr>
              <a:t>Grupo 5 · Gestión del Cambio · Evo-RRLL</a:t>
            </a:r>
          </a:p>
        </p:txBody>
      </p:sp>
      <p:sp>
        <p:nvSpPr>
          <p:cNvPr id="4" name="TextBox 3"/>
          <p:cNvSpPr txBox="1"/>
          <p:nvPr/>
        </p:nvSpPr>
        <p:spPr>
          <a:xfrm>
            <a:off x="731520" y="2377440"/>
            <a:ext cx="10698480" cy="914400"/>
          </a:xfrm>
          <a:prstGeom prst="rect">
            <a:avLst/>
          </a:prstGeom>
          <a:noFill/>
        </p:spPr>
        <p:txBody>
          <a:bodyPr wrap="square" lIns="0" tIns="0" rIns="0" bIns="0" anchor="t"/>
          <a:lstStyle/>
          <a:p>
            <a:pPr algn="l">
              <a:spcAft>
                <a:spcPts val="400"/>
              </a:spcAft>
            </a:pPr>
            <a:r>
              <a:rPr sz="5400" b="1" i="0">
                <a:solidFill>
                  <a:srgbClr val="FFFFFF"/>
                </a:solidFill>
                <a:latin typeface="Arial"/>
              </a:rPr>
              <a:t>Gracias</a:t>
            </a:r>
          </a:p>
        </p:txBody>
      </p:sp>
      <p:sp>
        <p:nvSpPr>
          <p:cNvPr id="5" name="TextBox 4"/>
          <p:cNvSpPr txBox="1"/>
          <p:nvPr/>
        </p:nvSpPr>
        <p:spPr>
          <a:xfrm>
            <a:off x="731520" y="3383280"/>
            <a:ext cx="10698480" cy="548640"/>
          </a:xfrm>
          <a:prstGeom prst="rect">
            <a:avLst/>
          </a:prstGeom>
          <a:noFill/>
        </p:spPr>
        <p:txBody>
          <a:bodyPr wrap="square" lIns="0" tIns="0" rIns="0" bIns="0" anchor="t"/>
          <a:lstStyle/>
          <a:p>
            <a:pPr algn="l">
              <a:spcAft>
                <a:spcPts val="400"/>
              </a:spcAft>
            </a:pPr>
            <a:r>
              <a:rPr sz="2600" b="0" i="0">
                <a:solidFill>
                  <a:srgbClr val="F2A900"/>
                </a:solidFill>
                <a:latin typeface="Arial"/>
              </a:rPr>
              <a:t>¿Preguntas?</a:t>
            </a:r>
          </a:p>
        </p:txBody>
      </p:sp>
      <p:sp>
        <p:nvSpPr>
          <p:cNvPr id="6" name="TextBox 5"/>
          <p:cNvSpPr txBox="1"/>
          <p:nvPr/>
        </p:nvSpPr>
        <p:spPr>
          <a:xfrm>
            <a:off x="731520" y="4206240"/>
            <a:ext cx="10698480" cy="822960"/>
          </a:xfrm>
          <a:prstGeom prst="rect">
            <a:avLst/>
          </a:prstGeom>
          <a:noFill/>
        </p:spPr>
        <p:txBody>
          <a:bodyPr wrap="square" lIns="0" tIns="0" rIns="0" bIns="0" anchor="t"/>
          <a:lstStyle/>
          <a:p>
            <a:pPr algn="l">
              <a:spcAft>
                <a:spcPts val="400"/>
              </a:spcAft>
            </a:pPr>
            <a:r>
              <a:rPr sz="1400" b="0" i="0">
                <a:solidFill>
                  <a:srgbClr val="C7CBD3"/>
                </a:solidFill>
                <a:latin typeface="Arial"/>
              </a:rPr>
              <a:t>Grupo 5 · Evolución y Configuración de Software</a:t>
            </a:r>
          </a:p>
          <a:p>
            <a:pPr algn="l">
              <a:spcAft>
                <a:spcPts val="400"/>
              </a:spcAft>
            </a:pPr>
            <a:r>
              <a:rPr sz="1400" b="0" i="0">
                <a:solidFill>
                  <a:srgbClr val="C7CBD3"/>
                </a:solidFill>
                <a:latin typeface="Arial"/>
              </a:rPr>
              <a:t>Anexos: Formato de Solicitud de Cambio · Matriz de Cambios · Flujo de Gestión de Cambios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2854</Words>
  <Application>Microsoft Office PowerPoint</Application>
  <PresentationFormat>Panorámica</PresentationFormat>
  <Paragraphs>515</Paragraphs>
  <Slides>21</Slides>
  <Notes>9</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21</vt:i4>
      </vt:variant>
    </vt:vector>
  </HeadingPairs>
  <TitlesOfParts>
    <vt:vector size="25" baseType="lpstr">
      <vt:lpstr>Arial</vt:lpstr>
      <vt:lpstr>Calibri</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Gestión del Cambio – Grupo 5</dc:title>
  <dc:subject/>
  <dc:creator>Grupo 5</dc:creator>
  <cp:keywords/>
  <dc:description>generated using python-pptx</dc:description>
  <cp:lastModifiedBy>USUARIO</cp:lastModifiedBy>
  <cp:revision>2</cp:revision>
  <dcterms:created xsi:type="dcterms:W3CDTF">2013-01-27T09:14:16Z</dcterms:created>
  <dcterms:modified xsi:type="dcterms:W3CDTF">2026-10-16T17:48:58Z</dcterms:modified>
  <cp:category/>
</cp:coreProperties>
</file>