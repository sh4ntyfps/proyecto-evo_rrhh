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5" Type="http://schemas.openxmlformats.org/officeDocument/2006/relationships/slide" Target="slide12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dotnet/core/extensions/dependency-injection" TargetMode="External"/><Relationship Id="rId13" Type="http://schemas.openxmlformats.org/officeDocument/2006/relationships/slide" Target="slide12.xml"/><Relationship Id="rId3" Type="http://schemas.openxmlformats.org/officeDocument/2006/relationships/hyperlink" Target="https://doi.org/10.1109/52.922731" TargetMode="External"/><Relationship Id="rId7" Type="http://schemas.openxmlformats.org/officeDocument/2006/relationships/hyperlink" Target="https://refactoring.com/catalog/replaceConditionalWithPolymorphism.html" TargetMode="External"/><Relationship Id="rId12" Type="http://schemas.openxmlformats.org/officeDocument/2006/relationships/slide" Target="slide10.xml"/><Relationship Id="rId2" Type="http://schemas.openxmlformats.org/officeDocument/2006/relationships/hyperlink" Target="https://savvily.es/libros/codigo-sostenible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so.org/standard/78176.html" TargetMode="External"/><Relationship Id="rId11" Type="http://schemas.openxmlformats.org/officeDocument/2006/relationships/slide" Target="slide7.xml"/><Relationship Id="rId5" Type="http://schemas.openxmlformats.org/officeDocument/2006/relationships/hyperlink" Target="https://www.it-cisq.org/the-cost-of-poor-quality-software-in-the-us-a-2022-report/" TargetMode="External"/><Relationship Id="rId15" Type="http://schemas.openxmlformats.org/officeDocument/2006/relationships/slide" Target="slide19.xml"/><Relationship Id="rId10" Type="http://schemas.openxmlformats.org/officeDocument/2006/relationships/slide" Target="slide3.xml"/><Relationship Id="rId4" Type="http://schemas.openxmlformats.org/officeDocument/2006/relationships/hyperlink" Target="https://www.cs.utexas.edu/~downing/papers/OCP-1996.pdf" TargetMode="External"/><Relationship Id="rId9" Type="http://schemas.openxmlformats.org/officeDocument/2006/relationships/slide" Target="slide2.xml"/><Relationship Id="rId14" Type="http://schemas.openxmlformats.org/officeDocument/2006/relationships/slide" Target="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66560" y="-2103120"/>
            <a:ext cx="7863840" cy="7863840"/>
          </a:xfrm>
          <a:prstGeom prst="ellipse">
            <a:avLst/>
          </a:prstGeom>
          <a:solidFill>
            <a:srgbClr val="22D3E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2377440"/>
            <a:ext cx="5852160" cy="585216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22D3EE"/>
                </a:solidFill>
                <a:latin typeface="Segoe UI Semibold"/>
              </a:rPr>
              <a:t>UPN  •  EVOLUCIÓN Y CONFIGURACIÓN DE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1481328" cy="292608"/>
          </a:xfrm>
          <a:prstGeom prst="roundRect">
            <a:avLst>
              <a:gd name="adj" fmla="val 350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80744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B7C3DA"/>
                </a:solidFill>
                <a:latin typeface="Segoe UI Semibold"/>
              </a:rPr>
              <a:t>SEMANA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8138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2F6FC"/>
                </a:solidFill>
                <a:latin typeface="Segoe UI Semibold"/>
              </a:rPr>
              <a:t>Refactorización y el
Principio Abierto-Cerrado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401568"/>
            <a:ext cx="137160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63931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7C3DA"/>
                </a:solidFill>
                <a:latin typeface="Segoe UI"/>
              </a:rPr>
              <a:t>Del código que se modifica al código que se extiende: diagnóstico y refactorización de un caso real del Sistema de Recursos Humanos EVO-RRHH.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00600"/>
            <a:ext cx="2542032" cy="896112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4855464"/>
            <a:ext cx="45720" cy="7863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0704" y="49743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22D3EE"/>
                </a:solidFill>
                <a:latin typeface="Segoe UI Semibold"/>
              </a:rPr>
              <a:t>TRABAJO GRUPAL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521208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7C3DA"/>
                </a:solidFill>
                <a:latin typeface="Segoe UI"/>
              </a:rPr>
              <a:t>Exposición – Semana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3008" y="4800600"/>
            <a:ext cx="2542032" cy="896112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93008" y="4855464"/>
            <a:ext cx="45720" cy="7863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30752" y="49743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22D3EE"/>
                </a:solidFill>
                <a:latin typeface="Segoe UI Semibold"/>
              </a:rPr>
              <a:t>DOCENTE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521208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7C3DA"/>
                </a:solidFill>
                <a:latin typeface="Segoe UI"/>
              </a:rPr>
              <a:t>Ing. Edgard Vilchez Valdez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4800600"/>
            <a:ext cx="2542032" cy="896112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3056" y="4855464"/>
            <a:ext cx="45720" cy="7863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9743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22D3EE"/>
                </a:solidFill>
                <a:latin typeface="Segoe UI Semibold"/>
              </a:rPr>
              <a:t>PROYECTO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1208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7C3DA"/>
                </a:solidFill>
                <a:latin typeface="Segoe UI"/>
              </a:rPr>
              <a:t>EVO-RRHH – ASP.NET Core / .NET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33104" y="4800600"/>
            <a:ext cx="2542032" cy="896112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33104" y="4855464"/>
            <a:ext cx="45720" cy="7863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70848" y="49743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22D3EE"/>
                </a:solidFill>
                <a:latin typeface="Segoe UI Semibold"/>
              </a:rPr>
              <a:t>REFERENCIA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521208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7C3DA"/>
                </a:solidFill>
                <a:latin typeface="Segoe UI"/>
              </a:rPr>
              <a:t>Blé Jurado (2022), Código sostenible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01675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Presentación interactiva  •  usar el índice y la barra inferior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22D3EE"/>
                </a:solidFill>
                <a:latin typeface="Segoe UI Semibold"/>
              </a:rPr>
              <a:t>ÍNDICE INTERACTIVO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94944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Ruta de la exposición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E8EAE"/>
                </a:solidFill>
                <a:latin typeface="Segoe UI"/>
              </a:rPr>
              <a:t>Haz clic en cualquier bloque para saltar a esa sección.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40080" y="1719072"/>
            <a:ext cx="3547872" cy="157276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3547872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1975104"/>
            <a:ext cx="475488" cy="47548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89404"/>
            <a:ext cx="47548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603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Fundamentos del OCP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5292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Qué es, quién lo formuló y por qué sostiene la mantenibilidad.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1" y="204825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22D3EE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4389120" y="1719072"/>
            <a:ext cx="3547872" cy="157276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719072"/>
            <a:ext cx="3547872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45152" y="1975104"/>
            <a:ext cx="475488" cy="475488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2089404"/>
            <a:ext cx="47548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Segoe UI Semi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5603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Refactorización y OCP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85292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Cómo la refactorización convierte código rígido en código extensible.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204825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>
            <a:hlinkClick r:id="rId4" action="ppaction://hlinksldjump"/>
          </p:cNvPr>
          <p:cNvSpPr/>
          <p:nvPr/>
        </p:nvSpPr>
        <p:spPr>
          <a:xfrm>
            <a:off x="8138159" y="1719072"/>
            <a:ext cx="3547872" cy="157276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59" y="1719072"/>
            <a:ext cx="3547872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94191" y="1975104"/>
            <a:ext cx="475488" cy="475488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4191" y="2089404"/>
            <a:ext cx="47548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emibol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1" y="25603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Técnicas que lo favorecen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1" y="285292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Abstracción, polimorfismo, composición, DI y patrones simples.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1" y="204825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→</a:t>
            </a:r>
          </a:p>
        </p:txBody>
      </p:sp>
      <p:sp>
        <p:nvSpPr>
          <p:cNvPr id="28" name="Rounded Rectangle 27">
            <a:hlinkClick r:id="rId5" action="ppaction://hlinksldjump"/>
          </p:cNvPr>
          <p:cNvSpPr/>
          <p:nvPr/>
        </p:nvSpPr>
        <p:spPr>
          <a:xfrm>
            <a:off x="640080" y="3529584"/>
            <a:ext cx="3547872" cy="157276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3529584"/>
            <a:ext cx="3547872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112" y="3785615"/>
            <a:ext cx="475488" cy="47548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3899915"/>
            <a:ext cx="47548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 Semibol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37083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Caso real EVO-RRHH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66344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Importación de marcaciones: situación actual y diagnóstico técnico.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9311" y="38587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Segoe UI"/>
              </a:rPr>
              <a:t>→</a:t>
            </a:r>
          </a:p>
        </p:txBody>
      </p:sp>
      <p:sp>
        <p:nvSpPr>
          <p:cNvPr id="35" name="Rounded Rectangle 34">
            <a:hlinkClick r:id="rId6" action="ppaction://hlinksldjump"/>
          </p:cNvPr>
          <p:cNvSpPr/>
          <p:nvPr/>
        </p:nvSpPr>
        <p:spPr>
          <a:xfrm>
            <a:off x="4389120" y="3529584"/>
            <a:ext cx="3547872" cy="157276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0" y="3529584"/>
            <a:ext cx="3547872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645152" y="3785615"/>
            <a:ext cx="475488" cy="475488"/>
          </a:xfrm>
          <a:prstGeom prst="ellipse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45152" y="3899915"/>
            <a:ext cx="47548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A5FA"/>
                </a:solidFill>
                <a:latin typeface="Segoe UI Semibold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52" y="437083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Refactorización propuesta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52" y="466344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Contrato, estrategias y registro: el antes y el después.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8352" y="38587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0A5FA"/>
                </a:solidFill>
                <a:latin typeface="Segoe UI"/>
              </a:rPr>
              <a:t>→</a:t>
            </a:r>
          </a:p>
        </p:txBody>
      </p:sp>
      <p:sp>
        <p:nvSpPr>
          <p:cNvPr id="42" name="Rounded Rectangle 41">
            <a:hlinkClick r:id="rId7" action="ppaction://hlinksldjump"/>
          </p:cNvPr>
          <p:cNvSpPr/>
          <p:nvPr/>
        </p:nvSpPr>
        <p:spPr>
          <a:xfrm>
            <a:off x="8138159" y="3529584"/>
            <a:ext cx="3547872" cy="157276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38159" y="3529584"/>
            <a:ext cx="3547872" cy="411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394191" y="3785615"/>
            <a:ext cx="475488" cy="475488"/>
          </a:xfrm>
          <a:prstGeom prst="ellipse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94191" y="3899915"/>
            <a:ext cx="47548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7185"/>
                </a:solidFill>
                <a:latin typeface="Segoe UI Semibold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1" y="437083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Impacto y extensión futura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1" y="466344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Mantenibilidad ISO/IEC 25010 y prueba de extensibilidad.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37391" y="38587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Segoe U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413248"/>
            <a:ext cx="10908792" cy="93268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" y="5468112"/>
            <a:ext cx="45720" cy="8229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4400" y="555955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22D3EE"/>
                </a:solidFill>
                <a:latin typeface="Segoe UI Semibold"/>
              </a:rPr>
              <a:t>LOGRO DE LA SESIÓN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797296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7C3DA"/>
                </a:solidFill>
                <a:latin typeface="Segoe UI"/>
              </a:rPr>
              <a:t>Comprender y aplicar técnicas de refactorización para mejorar el diseño del software, incorporando el Principio Abierto-Cerrado, con el fin de desarrollar soluciones extensibles, mantenibles y fáciles de adaptar a nuevos requerimientos sin modificar el código existente.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391656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Rúbrica: organización (5) • dominio del tema (10) • calidad visual (2) • participación (3)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22D3EE"/>
                </a:solidFill>
                <a:latin typeface="Segoe UI Semibold"/>
              </a:rPr>
              <a:t>SECCIÓN 01 –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El problema de fondo: el código se degrada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Todo proyecto arrastra dos complejidades y solo una es inevitable. La otra decide su costo.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49240" cy="160020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92224"/>
            <a:ext cx="45720" cy="14904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112" y="1920240"/>
            <a:ext cx="2098548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61388"/>
            <a:ext cx="20985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34D399"/>
                </a:solidFill>
                <a:latin typeface="Segoe UI Semibold"/>
              </a:rPr>
              <a:t>COMPLEJIDAD FUNDAMENTAL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22576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7C3DA"/>
                </a:solidFill>
                <a:latin typeface="Segoe UI"/>
              </a:rPr>
              <a:t>La que impone el problema real del negocio: calcular tardanzas, consolidar marcaciones, liquidar planillas. Crece de forma lineal conforme llegan nuevas funcionalidades.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737360"/>
            <a:ext cx="5349240" cy="160020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792224"/>
            <a:ext cx="45720" cy="14904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55664" y="1920240"/>
            <a:ext cx="2020824" cy="256032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1961388"/>
            <a:ext cx="20208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B7185"/>
                </a:solidFill>
                <a:latin typeface="Segoe UI Semibold"/>
              </a:rPr>
              <a:t>COMPLEJIDAD ACCIDENTAL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322576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7C3DA"/>
                </a:solidFill>
                <a:latin typeface="Segoe UI"/>
              </a:rPr>
              <a:t>La que introducimos nosotros: condicionales apilados, duplicación, acoplamiento. Puede crecer de forma exponencial hasta que el equipo pierde el control del proyecto.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93008"/>
            <a:ext cx="2606040" cy="157276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493008"/>
            <a:ext cx="2606040" cy="411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712463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B7185"/>
                </a:solidFill>
                <a:latin typeface="Segoe UI Semibold"/>
              </a:rPr>
              <a:t>US$ 2.41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169663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de costo por mala calidad del
software en EE.UU. (2022)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754880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"/>
              </a:rPr>
              <a:t>CISQ (2022)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74136" y="3493008"/>
            <a:ext cx="2606040" cy="157276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74136" y="3493008"/>
            <a:ext cx="260604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93592" y="3712463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BBF24"/>
                </a:solidFill>
                <a:latin typeface="Segoe UI Semibold"/>
              </a:rPr>
              <a:t>US$ 1.52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4169663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de deuda técnica acumulada
en software existente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4754880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"/>
              </a:rPr>
              <a:t>CISQ (2022)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08192" y="3493008"/>
            <a:ext cx="2606040" cy="157276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08192" y="3493008"/>
            <a:ext cx="26060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3712463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2D3EE"/>
                </a:solidFill>
                <a:latin typeface="Segoe UI Semibold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4169663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subcaracterísticas definen la
Mantenibilidad del producto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754880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"/>
              </a:rPr>
              <a:t>ISO/IEC 25010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42248" y="3493008"/>
            <a:ext cx="2606040" cy="157276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42248" y="3493008"/>
            <a:ext cx="2606040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61704" y="3712463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A78BFA"/>
                </a:solidFill>
                <a:latin typeface="Segoe UI Semibold"/>
              </a:rPr>
              <a:t>1988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1704" y="4169663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año de la formulación
original del principio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4754880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"/>
              </a:rPr>
              <a:t>Meyer (1988)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212080"/>
            <a:ext cx="10908792" cy="1133856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3E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" y="5266944"/>
            <a:ext cx="45720" cy="10241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" y="53949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2D3EE"/>
                </a:solidFill>
                <a:latin typeface="Segoe UI Semibold"/>
              </a:rPr>
              <a:t>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5431536"/>
            <a:ext cx="9784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B7C3DA"/>
                </a:solidFill>
                <a:latin typeface="Segoe UI"/>
              </a:rPr>
              <a:t>El código sostenible es aquel que se puede mantener fácilmente a lo largo del tiempo. Para ello es necesario que su diseño sea intuitivo, que su complejidad sea la mínima imprescindible y que esté bien cubierto por pruebas automatizadas.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9888" y="6053328"/>
            <a:ext cx="9784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Blé Jurado (2022), Código sostenible, cap.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46" name="Rounded Rectangle 45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22D3EE">
              <a:alpha val="22000"/>
            </a:srgbClr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22D3EE"/>
                </a:solidFill>
                <a:latin typeface="Segoe UI Semibold"/>
              </a:rPr>
              <a:t>FUNDAMENTOS</a:t>
            </a:r>
          </a:p>
        </p:txBody>
      </p:sp>
      <p:sp>
        <p:nvSpPr>
          <p:cNvPr id="48" name="Rounded Rectangle 47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50" name="Rounded Rectangle 49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52" name="Rounded Rectangle 51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54" name="Rounded Rectangle 53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56" name="Rounded Rectangle 55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22D3EE"/>
                </a:solidFill>
                <a:latin typeface="Segoe UI Semibold"/>
              </a:rPr>
              <a:t>SECCIÓN 01 –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Concepto del Principio Abierto-Cerrado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Una idea con dos formulaciones históricas complementarias.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08792" cy="93268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424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F6FC"/>
                </a:solidFill>
                <a:latin typeface="Segoe UI Semibold"/>
              </a:rPr>
              <a:t>«Las entidades de software (clases, módulos, funciones) deben estar ABIERTAS para su extensión, pero CERRADAS para su modificación.»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49240" cy="210312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889504"/>
            <a:ext cx="45720" cy="1993391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3017520"/>
            <a:ext cx="1943100" cy="256032"/>
          </a:xfrm>
          <a:prstGeom prst="roundRect">
            <a:avLst>
              <a:gd name="adj" fmla="val 50000"/>
            </a:avLst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058668"/>
            <a:ext cx="19431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A78BFA"/>
                </a:solidFill>
                <a:latin typeface="Segoe UI Semibold"/>
              </a:rPr>
              <a:t>ORIGEN – MEYER (1988)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19856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7C3DA"/>
                </a:solidFill>
                <a:latin typeface="Segoe UI"/>
              </a:rPr>
              <a:t>Un módulo está ABIERTO si todavía puede ampliarse. Está CERRADO si ya tiene una descripción estable y publicada que otros módulos usan. Meyer resolvía la tensión con herencia: una clase compilada y usada por clientes sigue siendo base de nuevas subclases sin alterar el original.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834640"/>
            <a:ext cx="5349240" cy="210312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2889504"/>
            <a:ext cx="45720" cy="1993391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55664" y="3017520"/>
            <a:ext cx="3031236" cy="256032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3058668"/>
            <a:ext cx="30312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22D3EE"/>
                </a:solidFill>
                <a:latin typeface="Segoe UI Semibold"/>
              </a:rPr>
              <a:t>FORMULACIÓN MODERNA – MARTIN (1996)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419856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B7C3DA"/>
                </a:solidFill>
                <a:latin typeface="Segoe UI"/>
              </a:rPr>
              <a:t>El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mecanismo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ya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no es la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herencia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sino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la ABSTRACCIÓN y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el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POLIMORFISMO: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el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módulo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de alto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nivel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depende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de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una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interfaz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fija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y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cada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nuevo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comportamiento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es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una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implementación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nueva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. Se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diseña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para que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el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módulo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nunca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cambie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y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el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comportamiento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se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amplíe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añadiendo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B7C3DA"/>
                </a:solidFill>
                <a:latin typeface="Segoe UI"/>
              </a:rPr>
              <a:t>código</a:t>
            </a:r>
            <a:r>
              <a:rPr sz="1050" b="0" i="0" dirty="0">
                <a:solidFill>
                  <a:srgbClr val="B7C3DA"/>
                </a:solidFill>
                <a:latin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84064"/>
            <a:ext cx="10908792" cy="124358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5138927"/>
            <a:ext cx="45720" cy="113385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A5FA"/>
                </a:solidFill>
                <a:latin typeface="Segoe UI Semibold"/>
              </a:rPr>
              <a:t>Idea central y su criterio de aplicación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22976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C3DA"/>
                </a:solidFill>
                <a:latin typeface="Segoe UI"/>
              </a:rPr>
              <a:t>El punto de variación se declara por adelantado como un contrato: lo que varía queda detrás de ese contrato y lo que no varía queda protegido tras él. Larman (2001) lo reformula como variación protegida: identificar los puntos inestables y encapsularlos tras una interfaz 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27" name="Rounded Rectangle 26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22D3EE">
              <a:alpha val="22000"/>
            </a:srgbClr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22D3EE"/>
                </a:solidFill>
                <a:latin typeface="Segoe UI Semibold"/>
              </a:rPr>
              <a:t>FUNDAMENTOS</a:t>
            </a:r>
          </a:p>
        </p:txBody>
      </p:sp>
      <p:sp>
        <p:nvSpPr>
          <p:cNvPr id="29" name="Rounded Rectangle 28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31" name="Rounded Rectangle 30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33" name="Rounded Rectangle 32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35" name="Rounded Rectangle 34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37" name="Rounded Rectangle 36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22D3EE"/>
                </a:solidFill>
                <a:latin typeface="Segoe UI Semibold"/>
              </a:rPr>
              <a:t>SECCIÓN 01 –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Cómo se ve el principio en un 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La misma necesidad, resuelta con dos estructuras de costo muy distinto.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5349240" cy="2267712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865376"/>
            <a:ext cx="3031236" cy="256032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906524"/>
            <a:ext cx="30312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B7185"/>
                </a:solidFill>
                <a:latin typeface="Segoe UI Semibold"/>
              </a:rPr>
              <a:t>SIN OCP  –  CAMBIO POR MODIFICACIÓN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286000"/>
            <a:ext cx="3429000" cy="475488"/>
          </a:xfrm>
          <a:prstGeom prst="roundRect">
            <a:avLst>
              <a:gd name="adj" fmla="val 9000"/>
            </a:avLst>
          </a:prstGeom>
          <a:solidFill>
            <a:srgbClr val="1A2542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73352" y="2395728"/>
            <a:ext cx="3282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Método con cascada de condicionales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017520"/>
            <a:ext cx="1170432" cy="420624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7592" y="3099815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F6FC"/>
                </a:solidFill>
                <a:latin typeface="Segoe UI Semibold"/>
              </a:rPr>
              <a:t>Tipo 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819656" y="2761488"/>
            <a:ext cx="0" cy="256032"/>
          </a:xfrm>
          <a:prstGeom prst="line">
            <a:avLst/>
          </a:prstGeom>
          <a:ln w="11430">
            <a:solidFill>
              <a:srgbClr val="FB71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32888" y="3017520"/>
            <a:ext cx="1170432" cy="420624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06040" y="3099815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F6FC"/>
                </a:solidFill>
                <a:latin typeface="Segoe UI Semibold"/>
              </a:rPr>
              <a:t>Tipo B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118104" y="2761488"/>
            <a:ext cx="0" cy="256032"/>
          </a:xfrm>
          <a:prstGeom prst="line">
            <a:avLst/>
          </a:prstGeom>
          <a:ln w="11430">
            <a:solidFill>
              <a:srgbClr val="FB71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31335" y="3017520"/>
            <a:ext cx="1170432" cy="420624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4487" y="3099815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F6FC"/>
                </a:solidFill>
                <a:latin typeface="Segoe UI Semibold"/>
              </a:rPr>
              <a:t>Tipo C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416552" y="2761488"/>
            <a:ext cx="0" cy="256032"/>
          </a:xfrm>
          <a:prstGeom prst="line">
            <a:avLst/>
          </a:prstGeom>
          <a:ln w="11430">
            <a:solidFill>
              <a:srgbClr val="FB71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6112" y="3584448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Segoe UI"/>
              </a:rPr>
              <a:t>Cada tipo nuevo = editar este método ya probado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719072"/>
            <a:ext cx="5349240" cy="2267712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55664" y="1865376"/>
            <a:ext cx="2798064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55664" y="1906524"/>
            <a:ext cx="2798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34D399"/>
                </a:solidFill>
                <a:latin typeface="Segoe UI Semibold"/>
              </a:rPr>
              <a:t>CON OCP  –  CAMBIO POR EXTENSIÓN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2286000"/>
            <a:ext cx="3429000" cy="475488"/>
          </a:xfrm>
          <a:prstGeom prst="roundRect">
            <a:avLst>
              <a:gd name="adj" fmla="val 9000"/>
            </a:avLst>
          </a:prstGeom>
          <a:solidFill>
            <a:srgbClr val="1A254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51192" y="2395728"/>
            <a:ext cx="3282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«interface»  IEstrategia – contrato cerrado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017520"/>
            <a:ext cx="1170432" cy="420624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3099815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F6FC"/>
                </a:solidFill>
                <a:latin typeface="Segoe UI Semibold"/>
              </a:rPr>
              <a:t>Impl. A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7260336" y="2761488"/>
            <a:ext cx="1627632" cy="256032"/>
          </a:xfrm>
          <a:prstGeom prst="line">
            <a:avLst/>
          </a:prstGeom>
          <a:ln w="1143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973567" y="3017520"/>
            <a:ext cx="1170432" cy="420624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9" y="3099815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F6FC"/>
                </a:solidFill>
                <a:latin typeface="Segoe UI Semibold"/>
              </a:rPr>
              <a:t>Impl. B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558784" y="2761488"/>
            <a:ext cx="329184" cy="256032"/>
          </a:xfrm>
          <a:prstGeom prst="line">
            <a:avLst/>
          </a:prstGeom>
          <a:ln w="1143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017520"/>
            <a:ext cx="1170432" cy="420624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45168" y="3099815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F6FC"/>
                </a:solidFill>
                <a:latin typeface="Segoe UI Semibold"/>
              </a:rPr>
              <a:t>Impl. C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8887968" y="2761488"/>
            <a:ext cx="969264" cy="256032"/>
          </a:xfrm>
          <a:prstGeom prst="line">
            <a:avLst/>
          </a:prstGeom>
          <a:ln w="1143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588752" y="3017520"/>
            <a:ext cx="731520" cy="420624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FBBF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61904" y="3099815"/>
            <a:ext cx="585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F6FC"/>
                </a:solidFill>
                <a:latin typeface="Segoe UI Semibold"/>
              </a:rPr>
              <a:t>+ nuevo</a:t>
            </a:r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8887968" y="2761488"/>
            <a:ext cx="2066544" cy="256032"/>
          </a:xfrm>
          <a:prstGeom prst="line">
            <a:avLst/>
          </a:prstGeom>
          <a:ln w="11430">
            <a:solidFill>
              <a:srgbClr val="FBBF2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55664" y="3584448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D399"/>
                </a:solidFill>
                <a:latin typeface="Segoe UI"/>
              </a:rPr>
              <a:t>Cada tipo nuevo = una clase nueva, cero ediciones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151376"/>
            <a:ext cx="5806440" cy="1554480"/>
          </a:xfrm>
          <a:prstGeom prst="roundRect">
            <a:avLst>
              <a:gd name="adj" fmla="val 4500"/>
            </a:avLst>
          </a:prstGeom>
          <a:solidFill>
            <a:srgbClr val="09112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40080" y="4151376"/>
            <a:ext cx="5806440" cy="329184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0080" y="4443984"/>
            <a:ext cx="580644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77240" y="4274820"/>
            <a:ext cx="77724" cy="77724"/>
          </a:xfrm>
          <a:prstGeom prst="ellipse">
            <a:avLst/>
          </a:prstGeom>
          <a:solidFill>
            <a:srgbClr val="FB718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05256" y="4274820"/>
            <a:ext cx="77724" cy="7772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33271" y="4274820"/>
            <a:ext cx="77724" cy="77724"/>
          </a:xfrm>
          <a:prstGeom prst="ellipse">
            <a:avLst/>
          </a:prstGeom>
          <a:solidFill>
            <a:srgbClr val="34D39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07007" y="4233672"/>
            <a:ext cx="4434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3DA"/>
                </a:solidFill>
                <a:latin typeface="Consolas"/>
              </a:rPr>
              <a:t>El síntoma clásico: la cascada que crece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19572" y="4210812"/>
            <a:ext cx="617220" cy="210312"/>
          </a:xfrm>
          <a:prstGeom prst="roundRect">
            <a:avLst>
              <a:gd name="adj" fmla="val 50000"/>
            </a:avLst>
          </a:prstGeom>
          <a:solidFill>
            <a:srgbClr val="FB7185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19572" y="4236415"/>
            <a:ext cx="6172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FB7185"/>
                </a:solidFill>
                <a:latin typeface="Segoe UI Semibold"/>
              </a:rPr>
              <a:t>ANTES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" y="4590288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" y="4590288"/>
            <a:ext cx="525780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decimal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CalcularBono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Empleado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4737963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" y="4737963"/>
            <a:ext cx="525780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{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" y="4871923"/>
            <a:ext cx="5715000" cy="147675"/>
          </a:xfrm>
          <a:prstGeom prst="rect">
            <a:avLst/>
          </a:prstGeom>
          <a:solidFill>
            <a:srgbClr val="FB7185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85800" y="4871923"/>
            <a:ext cx="25603" cy="147675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8096" y="4885639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" y="4885639"/>
            <a:ext cx="525780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if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(e.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Tipo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== </a:t>
            </a:r>
            <a:r>
              <a:rPr sz="950" b="0" i="0">
                <a:solidFill>
                  <a:srgbClr val="34D399"/>
                </a:solidFill>
                <a:latin typeface="Consolas"/>
              </a:rPr>
              <a:t>"NOMBRADO"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)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return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Base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(e) *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.10m;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" y="5019598"/>
            <a:ext cx="5715000" cy="147675"/>
          </a:xfrm>
          <a:prstGeom prst="rect">
            <a:avLst/>
          </a:prstGeom>
          <a:solidFill>
            <a:srgbClr val="FB7185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85800" y="5019598"/>
            <a:ext cx="25603" cy="147675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68096" y="5033314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" y="5033314"/>
            <a:ext cx="525780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else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if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(e.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Tipo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== </a:t>
            </a:r>
            <a:r>
              <a:rPr sz="950" b="0" i="0">
                <a:solidFill>
                  <a:srgbClr val="34D399"/>
                </a:solidFill>
                <a:latin typeface="Consolas"/>
              </a:rPr>
              <a:t>"CAS"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)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return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Base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(e) *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.08m;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" y="5167274"/>
            <a:ext cx="5715000" cy="147675"/>
          </a:xfrm>
          <a:prstGeom prst="rect">
            <a:avLst/>
          </a:prstGeom>
          <a:solidFill>
            <a:srgbClr val="FBBF24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85800" y="5167274"/>
            <a:ext cx="25603" cy="14767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68096" y="5180990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" y="5180990"/>
            <a:ext cx="525780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50" b="0" i="0">
                <a:solidFill>
                  <a:srgbClr val="7E8EAE"/>
                </a:solidFill>
                <a:latin typeface="Consolas"/>
              </a:rPr>
              <a:t>// mañana: LOCADOR, DESTACADO, PENSIONISTA...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" y="5328666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5568" y="5328666"/>
            <a:ext cx="525780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}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656832" y="4151376"/>
            <a:ext cx="4892040" cy="1554480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3E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656832" y="4206240"/>
            <a:ext cx="45720" cy="1444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912864" y="431596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egoe UI Semibold"/>
              </a:rPr>
              <a:t>La pregunta que revela la violación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12864" y="4590288"/>
            <a:ext cx="4434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C3DA"/>
                </a:solidFill>
                <a:latin typeface="Segoe UI"/>
              </a:rPr>
              <a:t>«Si mañana RR.HH. pide un tipo de trabajador nuevo, ¿cuántos archivos existentes tengo que abrir y volver a probar?»  Si la respuesta no es CERO, el diseño está abierto a la modificación, no a la extensión.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E8EAE"/>
                </a:solidFill>
                <a:latin typeface="Segoe UI"/>
              </a:rPr>
              <a:t>El diseño de la derecha no elimina la lógica: la reubica. El condicional que decidía el comportamiento se convierte en una decisión de composición tomada una sola vez, en el arranque.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05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76" name="Rounded Rectangle 75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22D3EE">
              <a:alpha val="22000"/>
            </a:srgbClr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22D3EE"/>
                </a:solidFill>
                <a:latin typeface="Segoe UI Semibold"/>
              </a:rPr>
              <a:t>FUNDAMENTOS</a:t>
            </a:r>
          </a:p>
        </p:txBody>
      </p:sp>
      <p:sp>
        <p:nvSpPr>
          <p:cNvPr id="78" name="Rounded Rectangle 77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80" name="Rounded Rectangle 79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82" name="Rounded Rectangle 81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84" name="Rounded Rectangle 83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86" name="Rounded Rectangle 85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22D3EE"/>
                </a:solidFill>
                <a:latin typeface="Segoe UI Semibold"/>
              </a:rPr>
              <a:t>SECCIÓN 01 –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«Cerrado» no significa «congelado»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El OCP protege frente a variaciones previstas. Aplicado sin criterio, se vuelve la complejidad que pretende evitar.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0512"/>
            <a:ext cx="10908792" cy="148132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10512"/>
            <a:ext cx="10908792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F6FC"/>
                </a:solidFill>
                <a:latin typeface="Segoe UI Semibold"/>
              </a:rPr>
              <a:t>Ningún módulo puede cerrarse frente a todo: hay que elegir el eje de variación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40864"/>
            <a:ext cx="3310128" cy="841248"/>
          </a:xfrm>
          <a:prstGeom prst="roundRect">
            <a:avLst>
              <a:gd name="adj" fmla="val 8000"/>
            </a:avLst>
          </a:prstGeom>
          <a:solidFill>
            <a:srgbClr val="0D1428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340864"/>
            <a:ext cx="3310128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46888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Segoe UI Semibold"/>
              </a:rPr>
              <a:t>Alta probabilidad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70662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Formatos de archivo de relojes biométricos, reglas de tolerancia, formatos de exportación, tipos de permiso.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340864"/>
            <a:ext cx="3310128" cy="841248"/>
          </a:xfrm>
          <a:prstGeom prst="roundRect">
            <a:avLst>
              <a:gd name="adj" fmla="val 8000"/>
            </a:avLst>
          </a:prstGeom>
          <a:solidFill>
            <a:srgbClr val="0D1428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340864"/>
            <a:ext cx="3310128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246888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Segoe UI Semibold"/>
              </a:rPr>
              <a:t>Media probabilidad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70662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Motores de cálculo de asistencia, políticas de feriados, estructura organizacional por año.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340864"/>
            <a:ext cx="3310128" cy="841248"/>
          </a:xfrm>
          <a:prstGeom prst="roundRect">
            <a:avLst>
              <a:gd name="adj" fmla="val 8000"/>
            </a:avLst>
          </a:prstGeom>
          <a:solidFill>
            <a:srgbClr val="0D1428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63840" y="2340864"/>
            <a:ext cx="3310128" cy="36576"/>
          </a:xfrm>
          <a:prstGeom prst="rect">
            <a:avLst/>
          </a:prstGeom>
          <a:solidFill>
            <a:srgbClr val="7E8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5008" y="246888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8EAE"/>
                </a:solidFill>
                <a:latin typeface="Segoe UI Semibold"/>
              </a:rPr>
              <a:t>Baja probabilidad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70662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Modelo relacional base de Persona y Empleado, protocolo HTTP, motor de base de datos.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56432"/>
            <a:ext cx="5349240" cy="1874519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511296"/>
            <a:ext cx="45720" cy="1764791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6112" y="3621024"/>
            <a:ext cx="2409444" cy="256032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662172"/>
            <a:ext cx="24094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B7185"/>
                </a:solidFill>
                <a:latin typeface="Segoe UI Semibold"/>
              </a:rPr>
              <a:t>SEÑALES DE SOBRE-INGENIERÍA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050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FB7185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B7C3DA"/>
                </a:solidFill>
                <a:latin typeface="Segoe UI"/>
              </a:rPr>
              <a:t>Interfaces con una sola implementación y sin variación prevista.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FB7185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B7C3DA"/>
                </a:solidFill>
                <a:latin typeface="Segoe UI"/>
              </a:rPr>
              <a:t>Jerarquías profundas para cubrir diferencias de una línea.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FB7185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B7C3DA"/>
                </a:solidFill>
                <a:latin typeface="Segoe UI"/>
              </a:rPr>
              <a:t>Factorías que devuelven siempre el mismo objeto.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FB7185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B7C3DA"/>
                </a:solidFill>
                <a:latin typeface="Segoe UI"/>
              </a:rPr>
              <a:t>Configuración externa para algo que nunca se configura.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456432"/>
            <a:ext cx="5349240" cy="1874519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9632" y="3511296"/>
            <a:ext cx="45720" cy="1764791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55664" y="3621024"/>
            <a:ext cx="1865376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55664" y="3662172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34D399"/>
                </a:solidFill>
                <a:latin typeface="Segoe UI Semibold"/>
              </a:rPr>
              <a:t>CRITERIO DE DECISIÓN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40050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B7C3DA"/>
                </a:solidFill>
                <a:latin typeface="Segoe UI"/>
              </a:rPr>
              <a:t>¿El negocio ya pidió esta variación más de una vez?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B7C3DA"/>
                </a:solidFill>
                <a:latin typeface="Segoe UI"/>
              </a:rPr>
              <a:t>¿Hay hoy dos o más implementaciones reales?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B7C3DA"/>
                </a:solidFill>
                <a:latin typeface="Segoe UI"/>
              </a:rPr>
              <a:t>¿El coste de la indirección es menor que el del cambio repetido?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B7C3DA"/>
                </a:solidFill>
                <a:latin typeface="Segoe UI"/>
              </a:rPr>
              <a:t>¿Puedo explicar la abstracción en una frase del dominio?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468112"/>
            <a:ext cx="10908792" cy="87782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3E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522976"/>
            <a:ext cx="45720" cy="7680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577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BBF24"/>
                </a:solidFill>
                <a:latin typeface="Segoe UI Semibold"/>
              </a:rPr>
              <a:t>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5632704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7C3DA"/>
                </a:solidFill>
                <a:latin typeface="Segoe UI"/>
              </a:rPr>
              <a:t>Diseñar código para el presente y para el uso concreto, no para reutilizar en un futuro hipotético: la complejidad que añadimos hoy por si acaso es la que mañana nadie sabe por qué existe.   —  Adaptado de Blé Jurado (2022), cap.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40" name="Rounded Rectangle 39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22D3EE">
              <a:alpha val="22000"/>
            </a:srgbClr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22D3EE"/>
                </a:solidFill>
                <a:latin typeface="Segoe UI Semibold"/>
              </a:rPr>
              <a:t>FUNDAMENTOS</a:t>
            </a:r>
          </a:p>
        </p:txBody>
      </p:sp>
      <p:sp>
        <p:nvSpPr>
          <p:cNvPr id="42" name="Rounded Rectangle 41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44" name="Rounded Rectangle 43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46" name="Rounded Rectangle 45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48" name="Rounded Rectangle 47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50" name="Rounded Rectangle 49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A78BFA"/>
                </a:solidFill>
                <a:latin typeface="Segoe UI Semibold"/>
              </a:rPr>
              <a:t>SECCIÓN 02 – REFACTORIZACIÓN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Qué es refactorizar (y qué no lo 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Definición operativa y condición habilitante, antes de conectarla con el OCP.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08792" cy="868680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378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F6FC"/>
                </a:solidFill>
                <a:latin typeface="Segoe UI Semibold"/>
              </a:rPr>
              <a:t>Refactorizar es cambiar la estructura interna del software para hacerlo más fácil de entender y más barato de modificar, SIN alterar su comportamiento observable.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61488"/>
            <a:ext cx="3520440" cy="210312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816352"/>
            <a:ext cx="45720" cy="1993391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2944368"/>
            <a:ext cx="1709928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985516"/>
            <a:ext cx="1709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34D399"/>
                </a:solidFill>
                <a:latin typeface="Segoe UI Semibold"/>
              </a:rPr>
              <a:t>SÍ ES REFACTORIZAR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2841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Extraer una interfaz a partir de código existente.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Reemplazar un condicional por polimorfismo.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Mover la creación de objetos a una factoría.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Renombrar para que el código diga lo que hace.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2761488"/>
            <a:ext cx="3520440" cy="210312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4256" y="2816352"/>
            <a:ext cx="45720" cy="1993391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90288" y="2944368"/>
            <a:ext cx="1709928" cy="256032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985516"/>
            <a:ext cx="1709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B7185"/>
                </a:solidFill>
                <a:latin typeface="Segoe UI Semibold"/>
              </a:rPr>
              <a:t>NO ES REFACTORIZAR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32841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B7185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Añadir funcionalidad nueva en el mismo paso.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B7185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Corregir un defecto mientras se reestructura.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B7185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Optimizar rendimiento cambiando resultados.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B7185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Reescribir el módulo desde cero (eso es rewrite).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761488"/>
            <a:ext cx="3520440" cy="210312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2816352"/>
            <a:ext cx="45720" cy="1993391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84464" y="2944368"/>
            <a:ext cx="1943100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2985516"/>
            <a:ext cx="19431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BBF24"/>
                </a:solidFill>
                <a:latin typeface="Segoe UI Semibold"/>
              </a:rPr>
              <a:t>CONDICIÓN HABILITANTE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328416"/>
            <a:ext cx="3063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Sin una red de pruebas automatizadas no hay refactorización, hay apuesta. Los test son los que permiten afirmar que el comportamiento observable no cambió. En EVO-RRHH esa red ya existe: 4 suites en el proyecto Capa Logica.Tests.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10912"/>
            <a:ext cx="10908792" cy="129844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3E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5065776"/>
            <a:ext cx="45720" cy="1188719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175504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78BFA"/>
                </a:solidFill>
                <a:latin typeface="Segoe UI Semibold"/>
              </a:rPr>
              <a:t>La conexión con el OCP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6811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C3DA"/>
                </a:solidFill>
                <a:latin typeface="Segoe UI"/>
              </a:rPr>
              <a:t>El OCP describe CÓMO debe quedar el diseño; la refactorización describe CÓMO se llega hasta ahí sin romper lo que ya funciona en producción. Uno es el objetivo, la otra es el camino disciplinado: por eso se estudian juntos y no por separado.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07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32" name="Rounded Rectangle 31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34" name="Rounded Rectangle 33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A78BFA">
              <a:alpha val="22000"/>
            </a:srgbClr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A78BFA"/>
                </a:solidFill>
                <a:latin typeface="Segoe UI Semibold"/>
              </a:rPr>
              <a:t>REFACTORIZAR</a:t>
            </a:r>
          </a:p>
        </p:txBody>
      </p:sp>
      <p:sp>
        <p:nvSpPr>
          <p:cNvPr id="36" name="Rounded Rectangle 35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38" name="Rounded Rectangle 37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40" name="Rounded Rectangle 39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42" name="Rounded Rectangle 41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A78BFA"/>
                </a:solidFill>
                <a:latin typeface="Segoe UI Semibold"/>
              </a:rPr>
              <a:t>SECCIÓN 02 – REFACTORIZACIÓN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Code smells que anuncian una violación del OCP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Síntomas observables en el código que indican que el diseño está cerrado a la extensión.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47872" cy="166420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547872" cy="411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020824"/>
            <a:ext cx="402336" cy="402336"/>
          </a:xfrm>
          <a:prstGeom prst="ellipse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098548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7185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0574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Repeated Switches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642615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El mismo switch o cadena if/else sobre el mismo dato aparece en varios lugares. Añadir un caso obliga a encontrarlos todos.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83080"/>
            <a:ext cx="3547872" cy="166420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3547872" cy="411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26864" y="2020824"/>
            <a:ext cx="402336" cy="402336"/>
          </a:xfrm>
          <a:prstGeom prst="ellipse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6864" y="2098548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7185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0574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Shotgun Surgery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642615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Un único cambio funcional obliga a editar muchas clases distintas: la responsabilidad está dispersa.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1783080"/>
            <a:ext cx="3547872" cy="166420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59" y="1783080"/>
            <a:ext cx="3547872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75903" y="2020824"/>
            <a:ext cx="402336" cy="402336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75903" y="2098548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20574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Divergent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3" y="2642615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Una misma clase se modifica por razones distintas e independientes. Concentra varios ejes de variación.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630168"/>
            <a:ext cx="3547872" cy="166420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630168"/>
            <a:ext cx="3547872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3867911"/>
            <a:ext cx="402336" cy="402336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" y="3945635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Segoe UI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3904487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Long Method / Long Parameter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4489704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Métodos que acumulan ramas y banderas de configuración para cubrir todas las variantes.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630168"/>
            <a:ext cx="3547872" cy="166420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89120" y="3630168"/>
            <a:ext cx="3547872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626864" y="3867911"/>
            <a:ext cx="402336" cy="402336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26864" y="3945635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Segoe UI Semibol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3904487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Primitive Obsession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4489704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Cadenas y enteros usados como códigos de tipo, comparados después con literales dispersos por el sistema.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59" y="3630168"/>
            <a:ext cx="3547872" cy="166420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38159" y="3630168"/>
            <a:ext cx="3547872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375903" y="3867911"/>
            <a:ext cx="402336" cy="402336"/>
          </a:xfrm>
          <a:prstGeom prst="ellipse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75903" y="3945635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0A5FA"/>
                </a:solidFill>
                <a:latin typeface="Segoe UI Semibold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7" y="3904487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Speculative Generality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3" y="4489704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El extremo opuesto: abstracciones creadas por si acaso que solo añaden complejidad accidental.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614416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E8EAE"/>
                </a:solidFill>
                <a:latin typeface="Segoe UI"/>
              </a:rPr>
              <a:t>Los cinco primeros empujan hacia el OCP; el sexto advierte del exceso contrario. El criterio es el mismo en ambos sentidos: abstraer cuando la variación ya se manifestó, no cuando se imagina.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48" name="Rounded Rectangle 47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50" name="Rounded Rectangle 49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A78BFA">
              <a:alpha val="22000"/>
            </a:srgbClr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A78BFA"/>
                </a:solidFill>
                <a:latin typeface="Segoe UI Semibold"/>
              </a:rPr>
              <a:t>REFACTORIZAR</a:t>
            </a:r>
          </a:p>
        </p:txBody>
      </p:sp>
      <p:sp>
        <p:nvSpPr>
          <p:cNvPr id="52" name="Rounded Rectangle 51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54" name="Rounded Rectangle 53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56" name="Rounded Rectangle 55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58" name="Rounded Rectangle 57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A78BFA"/>
                </a:solidFill>
                <a:latin typeface="Segoe UI Semibold"/>
              </a:rPr>
              <a:t>SECCIÓN 02 – REFACTORIZACIÓN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El puente: cómo la refactorización habilita el OCP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Ciclo disciplinado de cinco pasos y movimientos concretos del catálogo que lo materializan.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55648"/>
            <a:ext cx="2029968" cy="15544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2029968" cy="411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26464" y="1938528"/>
            <a:ext cx="457200" cy="457200"/>
          </a:xfrm>
          <a:prstGeom prst="ellipse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6464" y="2043684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7185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6888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7185"/>
                </a:solidFill>
                <a:latin typeface="Segoe UI Semibold"/>
              </a:rPr>
              <a:t>Detectar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432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Localizar el eje de variación y el smell que lo delata.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15768" y="2157984"/>
            <a:ext cx="301752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71215" y="1755648"/>
            <a:ext cx="2029968" cy="15544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71215" y="1755648"/>
            <a:ext cx="2029968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599" y="1938528"/>
            <a:ext cx="457200" cy="45720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599" y="2043684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6888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 Semibold"/>
              </a:rPr>
              <a:t>Blindar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7432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Cubrir el comportamiento actual con pruebas de caracterización.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46904" y="2157984"/>
            <a:ext cx="301752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02352" y="1755648"/>
            <a:ext cx="2029968" cy="15544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02352" y="1755648"/>
            <a:ext cx="202996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888736" y="1938528"/>
            <a:ext cx="457200" cy="45720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8736" y="2043684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6" y="246888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 Semibold"/>
              </a:rPr>
              <a:t>Abstraer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7432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Extraer la interfaz que representa el punto de variación.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78040" y="2157984"/>
            <a:ext cx="301752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33488" y="1755648"/>
            <a:ext cx="2029968" cy="15544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33488" y="1755648"/>
            <a:ext cx="2029968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19871" y="1938528"/>
            <a:ext cx="457200" cy="457200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9871" y="2043684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emi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246888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emibold"/>
              </a:rPr>
              <a:t>Sustituir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27432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Cambiar el condicional por polimorfismo: una clase por rama.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09176" y="2157984"/>
            <a:ext cx="301752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64624" y="1755648"/>
            <a:ext cx="2029968" cy="15544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64624" y="1755648"/>
            <a:ext cx="2029968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351007" y="1938528"/>
            <a:ext cx="457200" cy="45720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51007" y="2043684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Segoe UI Semibold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246888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Segoe UI Semibold"/>
              </a:rPr>
              <a:t>Invertir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7432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Registrar las implementaciones y resolverlas por inyección.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3493008"/>
            <a:ext cx="10908792" cy="365760"/>
          </a:xfrm>
          <a:prstGeom prst="roundRect">
            <a:avLst>
              <a:gd name="adj" fmla="val 5000"/>
            </a:avLst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7" y="3575304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A78BFA"/>
                </a:solidFill>
                <a:latin typeface="Segoe UI Semibold"/>
              </a:rPr>
              <a:t>REFACTORIZACIÓN DEL CATÁLOGO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3048" y="3575304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A78BFA"/>
                </a:solidFill>
                <a:latin typeface="Segoe UI Semibold"/>
              </a:rPr>
              <a:t>QUÉ RESUELVE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288" y="3575304"/>
            <a:ext cx="3456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A78BFA"/>
                </a:solidFill>
                <a:latin typeface="Segoe UI Semibold"/>
              </a:rPr>
              <a:t>RESULTADO EN EL DISEÑO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3913632"/>
            <a:ext cx="10908792" cy="438912"/>
          </a:xfrm>
          <a:prstGeom prst="roundRect">
            <a:avLst>
              <a:gd name="adj" fmla="val 3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" y="3913632"/>
            <a:ext cx="36576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" y="405079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6FC"/>
                </a:solidFill>
                <a:latin typeface="Segoe UI Semibold"/>
              </a:rPr>
              <a:t>Replace Conditional with Polymorphism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60" y="405993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Cadena de if/else o switch que decide el comportamiento según un tipo.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405993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Una clase por variante detrás de una interfaz común.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4370832"/>
            <a:ext cx="10908792" cy="438912"/>
          </a:xfrm>
          <a:prstGeom prst="roundRect">
            <a:avLst>
              <a:gd name="adj" fmla="val 3000"/>
            </a:avLst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0080" y="4370832"/>
            <a:ext cx="36576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" y="450799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6FC"/>
                </a:solidFill>
                <a:latin typeface="Segoe UI Semibold"/>
              </a:rPr>
              <a:t>Replace Type Code with Subclasses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451713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Códigos de tipo en string o int comparados con literales.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451713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El tipo deja de ser dato y pasa a ser estructura.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4828032"/>
            <a:ext cx="10908792" cy="438912"/>
          </a:xfrm>
          <a:prstGeom prst="roundRect">
            <a:avLst>
              <a:gd name="adj" fmla="val 3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0080" y="4828032"/>
            <a:ext cx="36576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" y="496519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6FC"/>
                </a:solidFill>
                <a:latin typeface="Segoe UI Semibold"/>
              </a:rPr>
              <a:t>Extract Interface / Extract Superclass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4760" y="497433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Varias implementaciones que ya comparten una firma implícita.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497433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Contrato explícito y estable: el punto cerrado.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5285232"/>
            <a:ext cx="10908792" cy="438912"/>
          </a:xfrm>
          <a:prstGeom prst="roundRect">
            <a:avLst>
              <a:gd name="adj" fmla="val 3000"/>
            </a:avLst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40080" y="5285232"/>
            <a:ext cx="36576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" y="542239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6FC"/>
                </a:solidFill>
                <a:latin typeface="Segoe UI Semibold"/>
              </a:rPr>
              <a:t>Replace Constructor with Factory Function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4760" y="543153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El cliente decide con new qué implementación concreta usar.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543153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La selección se centraliza y deja de replicarse.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5742432"/>
            <a:ext cx="10908792" cy="438912"/>
          </a:xfrm>
          <a:prstGeom prst="roundRect">
            <a:avLst>
              <a:gd name="adj" fmla="val 3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40080" y="5742432"/>
            <a:ext cx="36576" cy="4572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68680" y="587959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6FC"/>
                </a:solidFill>
                <a:latin typeface="Segoe UI Semibold"/>
              </a:rPr>
              <a:t>Parameterize Function / Introduce Strategy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588873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Métodos casi idénticos que solo difieren en una regla.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1000" y="588873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La regla viaja como colaborador inyectado.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6254496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78BFA"/>
                </a:solidFill>
                <a:latin typeface="Segoe UI"/>
              </a:rPr>
              <a:t>En el caso práctico aplicaremos las tres primeras de forma combinada.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09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75" name="Rounded Rectangle 74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77" name="Rounded Rectangle 76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A78BFA">
              <a:alpha val="22000"/>
            </a:srgbClr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A78BFA"/>
                </a:solidFill>
                <a:latin typeface="Segoe UI Semibold"/>
              </a:rPr>
              <a:t>REFACTORIZAR</a:t>
            </a:r>
          </a:p>
        </p:txBody>
      </p:sp>
      <p:sp>
        <p:nvSpPr>
          <p:cNvPr id="79" name="Rounded Rectangle 78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81" name="Rounded Rectangle 80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83" name="Rounded Rectangle 82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85" name="Rounded Rectangle 84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34D399"/>
                </a:solidFill>
                <a:latin typeface="Segoe UI Semibold"/>
              </a:rPr>
              <a:t>SECCIÓN 03 – TÉCNICAS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Abstracción, herencia, composición y polimorfismo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Las cuatro palancas basicas: que aporta cada una y en que orden conviene usarlas.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51760" cy="239572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265176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1901952"/>
            <a:ext cx="1165860" cy="256032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943100"/>
            <a:ext cx="11658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22D3EE"/>
                </a:solidFill>
                <a:latin typeface="Segoe UI Semibold"/>
              </a:rPr>
              <a:t>ABSTRACCIÓN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860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La interfaz define el contrato estable que queda cerrado a la modificación: el qué, sin el cómo.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272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22D3EE"/>
                </a:solidFill>
                <a:latin typeface="Segoe UI Semibold"/>
              </a:rPr>
              <a:t>TIENE SENTIDO 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4670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Nombra un concepto del dominio.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Tiene dos implementaciones reales hoy.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Son intercambiables sin sorpresas (LSP).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1737360"/>
            <a:ext cx="2651760" cy="239572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19856" y="1737360"/>
            <a:ext cx="2651760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0" y="1901952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1943100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A78BFA"/>
                </a:solidFill>
                <a:latin typeface="Segoe UI Semibold"/>
              </a:rPr>
              <a:t>HERENCIA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860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La subclase reutiliza el esqueleto de la clase base y redefine solo los pasos variables (Template Method).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1272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A78BFA"/>
                </a:solidFill>
                <a:latin typeface="Segoe UI Semibold"/>
              </a:rPr>
              <a:t>USAR CUANDO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4670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A78BFA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Existe un algoritmo invariante común.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A78BFA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La relación es realmente «es un».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A78BFA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Riesgo: se fija en compilación.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737360"/>
            <a:ext cx="2651760" cy="239572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1737360"/>
            <a:ext cx="26517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37376" y="1901952"/>
            <a:ext cx="1165860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37376" y="1943100"/>
            <a:ext cx="11658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34D399"/>
                </a:solidFill>
                <a:latin typeface="Segoe UI Semibold"/>
              </a:rPr>
              <a:t>COMPOSICIÓN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2860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El objeto delega el comportamiento variable en un colaborador que recibe desde fuera.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1272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34D399"/>
                </a:solidFill>
                <a:latin typeface="Segoe UI Semibold"/>
              </a:rPr>
              <a:t>USAR CUANDO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34670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Las variantes cambian en ejecución.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Hay varios ejes combinables.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34D399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Preferencia por defecto.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9408" y="1737360"/>
            <a:ext cx="2569464" cy="239572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979408" y="1737360"/>
            <a:ext cx="2569464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217152" y="1901952"/>
            <a:ext cx="1243584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17152" y="1943100"/>
            <a:ext cx="12435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BBF24"/>
                </a:solidFill>
                <a:latin typeface="Segoe UI Semibold"/>
              </a:rPr>
              <a:t>POLIMORFISMO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2286000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Es el resultado de las anteriores: el cliente invoca el contrato y responde la implementación correcta en ejecución.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7152" y="3127248"/>
            <a:ext cx="21214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FBBF24"/>
                </a:solidFill>
                <a:latin typeface="Segoe UI Semibold"/>
              </a:rPr>
              <a:t>EFECTO EN EL OCP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7152" y="3346704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BBF24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Elimina preguntar por el tipo.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BBF24"/>
                </a:solidFill>
                <a:latin typeface="Segoe UI"/>
              </a:rPr>
              <a:t>▪  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Añadir un caso = añadir una clase.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297680"/>
            <a:ext cx="10908792" cy="1481328"/>
          </a:xfrm>
          <a:prstGeom prst="roundRect">
            <a:avLst>
              <a:gd name="adj" fmla="val 4500"/>
            </a:avLst>
          </a:prstGeom>
          <a:solidFill>
            <a:srgbClr val="09112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4297680"/>
            <a:ext cx="10908792" cy="329184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4590288"/>
            <a:ext cx="10908792" cy="109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77240" y="4421124"/>
            <a:ext cx="77724" cy="77724"/>
          </a:xfrm>
          <a:prstGeom prst="ellipse">
            <a:avLst/>
          </a:prstGeom>
          <a:solidFill>
            <a:srgbClr val="FB718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05256" y="4421124"/>
            <a:ext cx="77724" cy="7772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33271" y="4421124"/>
            <a:ext cx="77724" cy="77724"/>
          </a:xfrm>
          <a:prstGeom prst="ellipse">
            <a:avLst/>
          </a:prstGeom>
          <a:solidFill>
            <a:srgbClr val="34D39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07007" y="4379976"/>
            <a:ext cx="95371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3DA"/>
                </a:solidFill>
                <a:latin typeface="Consolas"/>
              </a:rPr>
              <a:t>Composición sobre herencia – C# 12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47604" y="4357116"/>
            <a:ext cx="891539" cy="210312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47604" y="4382719"/>
            <a:ext cx="89153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34D399"/>
                </a:solidFill>
                <a:latin typeface="Segoe UI Semibold"/>
              </a:rPr>
              <a:t>PREFERIDO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473659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678"/>
                </a:solidFill>
                <a:latin typeface="Consolas"/>
              </a:rPr>
              <a:t>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" y="4736592"/>
            <a:ext cx="10360152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EAE"/>
                </a:solidFill>
                <a:latin typeface="Consolas"/>
              </a:rPr>
              <a:t>// Composición: la regla viaja como colaborador, no como rama de un if.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878324"/>
            <a:ext cx="10817352" cy="155448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85800" y="4878324"/>
            <a:ext cx="25603" cy="1554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8096" y="4892040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678"/>
                </a:solidFill>
                <a:latin typeface="Consolas"/>
              </a:rPr>
              <a:t>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" y="4892040"/>
            <a:ext cx="10360152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1000" b="0" i="0">
                <a:solidFill>
                  <a:srgbClr val="A78BFA"/>
                </a:solidFill>
                <a:latin typeface="Consolas"/>
              </a:rPr>
              <a:t>sealed</a:t>
            </a:r>
            <a:r>
              <a:rPr sz="10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1000" b="0" i="0">
                <a:solidFill>
                  <a:srgbClr val="A78BFA"/>
                </a:solidFill>
                <a:latin typeface="Consolas"/>
              </a:rPr>
              <a:t>class</a:t>
            </a:r>
            <a:r>
              <a:rPr sz="10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1000" b="0" i="0">
                <a:solidFill>
                  <a:srgbClr val="22D3EE"/>
                </a:solidFill>
                <a:latin typeface="Consolas"/>
              </a:rPr>
              <a:t>CalculadoraAsistencia</a:t>
            </a:r>
            <a:r>
              <a:rPr sz="100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1000" b="0" i="0">
                <a:solidFill>
                  <a:srgbClr val="22D3EE"/>
                </a:solidFill>
                <a:latin typeface="Consolas"/>
              </a:rPr>
              <a:t>IReglaTolerancia</a:t>
            </a:r>
            <a:r>
              <a:rPr sz="1000" b="0" i="0">
                <a:solidFill>
                  <a:srgbClr val="B7C3DA"/>
                </a:solidFill>
                <a:latin typeface="Consolas"/>
              </a:rPr>
              <a:t> regla)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5047488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678"/>
                </a:solidFill>
                <a:latin typeface="Consolas"/>
              </a:rPr>
              <a:t>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5047488"/>
            <a:ext cx="10360152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C3DA"/>
                </a:solidFill>
                <a:latin typeface="Consolas"/>
              </a:rPr>
              <a:t>{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5189220"/>
            <a:ext cx="10817352" cy="155448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5800" y="5189220"/>
            <a:ext cx="25603" cy="1554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8096" y="520293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678"/>
                </a:solidFill>
                <a:latin typeface="Consolas"/>
              </a:rPr>
              <a:t>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" y="5202936"/>
            <a:ext cx="10360152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1000" b="0" i="0">
                <a:solidFill>
                  <a:srgbClr val="22D3EE"/>
                </a:solidFill>
                <a:latin typeface="Consolas"/>
              </a:rPr>
              <a:t>Resultado</a:t>
            </a:r>
            <a:r>
              <a:rPr sz="10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1000" b="0" i="0">
                <a:solidFill>
                  <a:srgbClr val="22D3EE"/>
                </a:solidFill>
                <a:latin typeface="Consolas"/>
              </a:rPr>
              <a:t>Evaluar</a:t>
            </a:r>
            <a:r>
              <a:rPr sz="100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1000" b="0" i="0">
                <a:solidFill>
                  <a:srgbClr val="22D3EE"/>
                </a:solidFill>
                <a:latin typeface="Consolas"/>
              </a:rPr>
              <a:t>ContextoAsistencia</a:t>
            </a:r>
            <a:r>
              <a:rPr sz="1000" b="0" i="0">
                <a:solidFill>
                  <a:srgbClr val="B7C3DA"/>
                </a:solidFill>
                <a:latin typeface="Consolas"/>
              </a:rPr>
              <a:t> ctx) =&gt; regla.</a:t>
            </a:r>
            <a:r>
              <a:rPr sz="1000" b="0" i="0">
                <a:solidFill>
                  <a:srgbClr val="22D3EE"/>
                </a:solidFill>
                <a:latin typeface="Consolas"/>
              </a:rPr>
              <a:t>Evaluar</a:t>
            </a:r>
            <a:r>
              <a:rPr sz="1000" b="0" i="0">
                <a:solidFill>
                  <a:srgbClr val="B7C3DA"/>
                </a:solidFill>
                <a:latin typeface="Consolas"/>
              </a:rPr>
              <a:t>(ctx);   </a:t>
            </a:r>
            <a:r>
              <a:rPr sz="1000" b="0" i="0">
                <a:solidFill>
                  <a:srgbClr val="7E8EAE"/>
                </a:solidFill>
                <a:latin typeface="Consolas"/>
              </a:rPr>
              <a:t>// sin preguntar por el tipo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" y="5358383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678"/>
                </a:solidFill>
                <a:latin typeface="Consolas"/>
              </a:rPr>
              <a:t> 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5358383"/>
            <a:ext cx="10360152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C3DA"/>
                </a:solidFill>
                <a:latin typeface="Consolas"/>
              </a:rPr>
              <a:t>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90702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Segoe UI"/>
              </a:rPr>
              <a:t>Secuencia recomendada: abstraer → sustituir por polimorfismo → componer → inyectar. El patrón aparece al final, como nombre de lo que ya se construyó.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63" name="Rounded Rectangle 62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65" name="Rounded Rectangle 64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67" name="Rounded Rectangle 66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34D399"/>
                </a:solidFill>
                <a:latin typeface="Segoe UI Semibold"/>
              </a:rPr>
              <a:t>TÉCNICAS</a:t>
            </a:r>
          </a:p>
        </p:txBody>
      </p:sp>
      <p:sp>
        <p:nvSpPr>
          <p:cNvPr id="69" name="Rounded Rectangle 68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71" name="Rounded Rectangle 70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73" name="Rounded Rectangle 72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34D399"/>
                </a:solidFill>
                <a:latin typeface="Segoe UI Semibold"/>
              </a:rPr>
              <a:t>SECCIÓN 03 – TÉCNICAS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Inyección de dependencias y patrones de diseño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Quien decide la implementación concreta y con que vocabulario se nombra la solución.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760720" cy="1965960"/>
          </a:xfrm>
          <a:prstGeom prst="roundRect">
            <a:avLst>
              <a:gd name="adj" fmla="val 4500"/>
            </a:avLst>
          </a:prstGeom>
          <a:solidFill>
            <a:srgbClr val="09112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760720" cy="329184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29967"/>
            <a:ext cx="5760720" cy="1097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860804"/>
            <a:ext cx="77724" cy="77724"/>
          </a:xfrm>
          <a:prstGeom prst="ellipse">
            <a:avLst/>
          </a:prstGeom>
          <a:solidFill>
            <a:srgbClr val="FB718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05256" y="1860804"/>
            <a:ext cx="77724" cy="7772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3271" y="1860804"/>
            <a:ext cx="77724" cy="77724"/>
          </a:xfrm>
          <a:prstGeom prst="ellipse">
            <a:avLst/>
          </a:prstGeom>
          <a:solidFill>
            <a:srgbClr val="34D39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7" y="18196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3DA"/>
                </a:solidFill>
                <a:latin typeface="Consolas"/>
              </a:rPr>
              <a:t>Registro de múltiples implementaciones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1796795"/>
            <a:ext cx="1097280" cy="210312"/>
          </a:xfrm>
          <a:prstGeom prst="roundRect">
            <a:avLst>
              <a:gd name="adj" fmla="val 50000"/>
            </a:avLst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1822399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60A5FA"/>
                </a:solidFill>
                <a:latin typeface="Segoe UI Semibold"/>
              </a:rPr>
              <a:t>ASP.NET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176272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176272"/>
            <a:ext cx="521208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Consolas"/>
              </a:rPr>
              <a:t>// Program.cs  -  composición de la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302459"/>
            <a:ext cx="5669280" cy="139903"/>
          </a:xfrm>
          <a:prstGeom prst="rect">
            <a:avLst/>
          </a:prstGeom>
          <a:solidFill>
            <a:srgbClr val="60A5FA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02459"/>
            <a:ext cx="25603" cy="139903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2316175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316175"/>
            <a:ext cx="521208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builder.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Services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AddSingleton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&lt;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IFormatoMarcacion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,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FormatoDniFechaHora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&gt;();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442362"/>
            <a:ext cx="5669280" cy="139903"/>
          </a:xfrm>
          <a:prstGeom prst="rect">
            <a:avLst/>
          </a:prstGeom>
          <a:solidFill>
            <a:srgbClr val="60A5FA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2442362"/>
            <a:ext cx="25603" cy="139903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2456078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2456078"/>
            <a:ext cx="521208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builder.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Services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AddSingleton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&lt;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IFormatoMarcacion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,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FormatoConLugar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&gt;();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2595981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595981"/>
            <a:ext cx="521208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builder.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Services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AddScoped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&lt;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LectorMarcaciones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&gt;();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2735884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2735884"/>
            <a:ext cx="521208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" y="2875788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2875788"/>
            <a:ext cx="521208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Consolas"/>
              </a:rPr>
              <a:t>// El lector recibe TODAS las variantes registradas: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001975"/>
            <a:ext cx="5669280" cy="139903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01975"/>
            <a:ext cx="25603" cy="13990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3015691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3015691"/>
            <a:ext cx="521208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LectorMarcaciones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IEnumerable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&lt;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IFormatoMarcacion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&gt; formatos) { ... 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11112" y="1737360"/>
            <a:ext cx="4937760" cy="196596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611112" y="1792224"/>
            <a:ext cx="45720" cy="1856231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67144" y="1901952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Por qué esto habilita el OCP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67144" y="221284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60A5FA"/>
                </a:solidFill>
                <a:latin typeface="Segoe UI"/>
              </a:rPr>
              <a:t>▪  </a:t>
            </a:r>
            <a:r>
              <a:rPr sz="950" b="1" i="0">
                <a:solidFill>
                  <a:srgbClr val="F2F6FC"/>
                </a:solidFill>
                <a:latin typeface="Segoe UI Semibold"/>
              </a:rPr>
              <a:t>Inversión de control: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el negocio deja de instanciar clases concretas.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60A5FA"/>
                </a:solidFill>
                <a:latin typeface="Segoe UI"/>
              </a:rPr>
              <a:t>▪  </a:t>
            </a:r>
            <a:r>
              <a:rPr sz="950" b="1" i="0">
                <a:solidFill>
                  <a:srgbClr val="F2F6FC"/>
                </a:solidFill>
                <a:latin typeface="Segoe UI Semibold"/>
              </a:rPr>
              <a:t>Punto único de composición: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el único archivo que crece es el registro.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60A5FA"/>
                </a:solidFill>
                <a:latin typeface="Segoe UI"/>
              </a:rPr>
              <a:t>▪  </a:t>
            </a:r>
            <a:r>
              <a:rPr sz="950" b="1" i="0">
                <a:solidFill>
                  <a:srgbClr val="F2F6FC"/>
                </a:solidFill>
                <a:latin typeface="Segoe UI Semibold"/>
              </a:rPr>
              <a:t>Testabilidad: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en pruebas se inyectan dobles sin tocar producción.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822191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3822191"/>
            <a:ext cx="3547872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" y="3986783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egoe UI Semibold"/>
              </a:rPr>
              <a:t>Strategy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426110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Encapsula un algoritmo intercambiable detrás de una interfaz.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" y="4663440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EVO-RRHH: Reglas de tolerancia, fórmulas de bonificación.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3822191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389120" y="3822191"/>
            <a:ext cx="3547872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26864" y="3986783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8BFA"/>
                </a:solidFill>
                <a:latin typeface="Segoe UI Semibold"/>
              </a:rPr>
              <a:t>Chain of Responsibility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6864" y="426110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Encadena candidatos hasta que uno acepta manejar la petición.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26864" y="4663440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EVO-RRHH: Detección del formato de un archivo de marcaciones.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59" y="3822191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38159" y="3822191"/>
            <a:ext cx="3547872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75903" y="3986783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Segoe UI Semibold"/>
              </a:rPr>
              <a:t>Factory / Registry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3" y="426110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Centraliza la selección de la implementación concreta.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5903" y="4663440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EVO-RRHH: Elección del exportador según el formato pedido.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065776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0080" y="5065776"/>
            <a:ext cx="3547872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7824" y="52303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 Semibold"/>
              </a:rPr>
              <a:t>Template Method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" y="550468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Fija el esqueleto del algoritmo y delega los pasos variables.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" y="5907024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EVO-RRHH: Flujo común de importación con validaciones propias.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89120" y="5065776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89120" y="5065776"/>
            <a:ext cx="3547872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626864" y="52303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0A5FA"/>
                </a:solidFill>
                <a:latin typeface="Segoe UI Semibold"/>
              </a:rPr>
              <a:t>Decorator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26864" y="550468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Añade responsabilidades envolviendo al objeto original.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6864" y="5907024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EVO-RRHH: Auditoría o caché sobre una lógica ya existente.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38159" y="5065776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38159" y="5065776"/>
            <a:ext cx="3547872" cy="411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75903" y="52303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B7185"/>
                </a:solidFill>
                <a:latin typeface="Segoe UI Semibold"/>
              </a:rPr>
              <a:t>Specification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75903" y="550468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Convierte una condición de negocio en objeto componible.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75903" y="5907024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EVO-RRHH: Filtros de empleados activos con permiso vigente.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619963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D399"/>
                </a:solidFill>
                <a:latin typeface="Segoe UI"/>
              </a:rPr>
              <a:t>En el caso práctico combinamos Chain of Responsibility, Strategy y registro por inyección de dependencias.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11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75" name="Rounded Rectangle 74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77" name="Rounded Rectangle 76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79" name="Rounded Rectangle 78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34D399"/>
                </a:solidFill>
                <a:latin typeface="Segoe UI Semibold"/>
              </a:rPr>
              <a:t>TÉCNICAS</a:t>
            </a:r>
          </a:p>
        </p:txBody>
      </p:sp>
      <p:sp>
        <p:nvSpPr>
          <p:cNvPr id="81" name="Rounded Rectangle 80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83" name="Rounded Rectangle 82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85" name="Rounded Rectangle 84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FBBF24"/>
                </a:solidFill>
                <a:latin typeface="Segoe UI Semibold"/>
              </a:rPr>
              <a:t>SECCIÓN 04 – CASO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El proyecto EVO-RRHH y el caso seleccionado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Solución .NET 10 / ASP.NET Core MVC en cuatro capas. El caso vive en la capa de lógica de negocio.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51760" cy="896112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2651760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01952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30">
                <a:solidFill>
                  <a:srgbClr val="60A5FA"/>
                </a:solidFill>
                <a:latin typeface="Segoe UI Semibold"/>
              </a:rPr>
              <a:t>PRESENTACIÓN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3969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Proyecto-Evo-RRLL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737360"/>
            <a:ext cx="2651760" cy="896112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19856" y="1737360"/>
            <a:ext cx="265176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901952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30">
                <a:solidFill>
                  <a:srgbClr val="FBBF24"/>
                </a:solidFill>
                <a:latin typeface="Segoe UI Semibold"/>
              </a:rPr>
              <a:t>LÓGICA DE NEGOCIO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13969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Capa Logica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737360"/>
            <a:ext cx="2651760" cy="896112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2" y="1737360"/>
            <a:ext cx="26517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1901952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30">
                <a:solidFill>
                  <a:srgbClr val="34D399"/>
                </a:solidFill>
                <a:latin typeface="Segoe UI Semibold"/>
              </a:rPr>
              <a:t>ACCESO A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3969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Capa Datos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408" y="1737360"/>
            <a:ext cx="2651760" cy="896112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79408" y="1737360"/>
            <a:ext cx="2651760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98864" y="1901952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30">
                <a:solidFill>
                  <a:srgbClr val="A78BFA"/>
                </a:solidFill>
                <a:latin typeface="Segoe UI Semibold"/>
              </a:rPr>
              <a:t>MODELO DE DOMINIO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13969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Capa Entidades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10128" y="2194560"/>
            <a:ext cx="91440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9904" y="2194560"/>
            <a:ext cx="91440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69680" y="2194560"/>
            <a:ext cx="91440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" y="2834640"/>
            <a:ext cx="2029968" cy="106070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2834640"/>
            <a:ext cx="20299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301752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6FC"/>
                </a:solidFill>
                <a:latin typeface="Segoe UI Semibold"/>
              </a:rPr>
              <a:t>Archivo del reloj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340156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E8EAE"/>
                </a:solidFill>
                <a:latin typeface="Segoe UI"/>
              </a:rPr>
              <a:t>.txt / .csv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15768" y="3346704"/>
            <a:ext cx="301752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71215" y="2834640"/>
            <a:ext cx="2029968" cy="106070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871215" y="2834640"/>
            <a:ext cx="2029968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80944" y="301752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6FC"/>
                </a:solidFill>
                <a:latin typeface="Segoe UI Semibold"/>
              </a:rPr>
              <a:t>Lectura de líneas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79" y="340156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E8EAE"/>
                </a:solidFill>
                <a:latin typeface="Segoe UI"/>
              </a:rPr>
              <a:t>ImportacionAsistenciaLogica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46904" y="3346704"/>
            <a:ext cx="301752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102352" y="2834640"/>
            <a:ext cx="2029968" cy="106070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1397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102352" y="2834640"/>
            <a:ext cx="2029968" cy="411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12080" y="301752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6FC"/>
                </a:solidFill>
                <a:latin typeface="Segoe UI Semibold"/>
              </a:rPr>
              <a:t>Parseo de cada línea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7216" y="340156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E8EAE"/>
                </a:solidFill>
                <a:latin typeface="Segoe UI"/>
              </a:rPr>
              <a:t>MarcacionesParser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78040" y="3346704"/>
            <a:ext cx="301752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333488" y="2834640"/>
            <a:ext cx="2029968" cy="106070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33488" y="2834640"/>
            <a:ext cx="2029968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43215" y="301752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6FC"/>
                </a:solidFill>
                <a:latin typeface="Segoe UI Semibold"/>
              </a:rPr>
              <a:t>Consolidación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8352" y="340156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E8EAE"/>
                </a:solidFill>
                <a:latin typeface="Segoe UI"/>
              </a:rPr>
              <a:t>ConsolidadorAsistenciaCore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409176" y="3346704"/>
            <a:ext cx="301752" cy="0"/>
          </a:xfrm>
          <a:prstGeom prst="line">
            <a:avLst/>
          </a:prstGeom>
          <a:ln w="17780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564624" y="2834640"/>
            <a:ext cx="2029968" cy="106070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564624" y="2834640"/>
            <a:ext cx="2029968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74351" y="301752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6FC"/>
                </a:solidFill>
                <a:latin typeface="Segoe UI Semibold"/>
              </a:rPr>
              <a:t>Registro diario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19488" y="340156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E8EAE"/>
                </a:solidFill>
                <a:latin typeface="Segoe UI"/>
              </a:rPr>
              <a:t>RegAsisDiario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395020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Segoe UI"/>
              </a:rPr>
              <a:t>▲  punto de estudio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4315968"/>
            <a:ext cx="5349240" cy="202996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80" y="4370831"/>
            <a:ext cx="45720" cy="1920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6112" y="4480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F6FC"/>
                </a:solidFill>
                <a:latin typeface="Segoe UI Semibold"/>
              </a:rPr>
              <a:t>La oportunidad de mejora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4791456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C3DA"/>
                </a:solidFill>
                <a:latin typeface="Segoe UI"/>
              </a:rPr>
              <a:t>Cada marca de reloj biométrico llega como una línea de texto, pero no todos los relojes escriben igual: hoy conviven cuatro disposiciones distintas de campos y cada sede que se incorpora puede traer una quinta. La clase que interpreta esas líneas decide el formato con una cadena de condicionales, de modo que cada formato nuevo obliga a editar un método ya probado y en producción.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99632" y="4315968"/>
            <a:ext cx="5349240" cy="202996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199632" y="4370831"/>
            <a:ext cx="45720" cy="192024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55664" y="4480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F6FC"/>
                </a:solidFill>
                <a:latin typeface="Segoe UI Semibold"/>
              </a:rPr>
              <a:t>Los cuatro formatos que hoy conviven en una sola clase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55664" y="482803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Segoe UI Semibold"/>
              </a:rPr>
              <a:t>2 campos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84464" y="482803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Consolas"/>
              </a:rPr>
              <a:t>12345678;2026-03-14 08:02:11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55664" y="519379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Segoe UI Semibold"/>
              </a:rPr>
              <a:t>3 campos + lugar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84464" y="519379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Consolas"/>
              </a:rPr>
              <a:t>12345678;2026-03-14 08:02:11;SEDE-LIMA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55664" y="555955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Segoe UI Semibold"/>
              </a:rPr>
              <a:t>3 campos fecha/hora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4464" y="555955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Consolas"/>
              </a:rPr>
              <a:t>12345678;2026-03-14;08:02:11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592531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Segoe UI Semibold"/>
              </a:rPr>
              <a:t>4 campos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84464" y="592531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Consolas"/>
              </a:rPr>
              <a:t>12345678;2026-03-14;08:02:11;SEDE-LIMA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12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70" name="Rounded Rectangle 69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72" name="Rounded Rectangle 71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74" name="Rounded Rectangle 73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76" name="Rounded Rectangle 75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FBBF24">
              <a:alpha val="22000"/>
            </a:srgbClr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FBBF24"/>
                </a:solidFill>
                <a:latin typeface="Segoe UI Semibold"/>
              </a:rPr>
              <a:t>CASO EVO</a:t>
            </a:r>
          </a:p>
        </p:txBody>
      </p:sp>
      <p:sp>
        <p:nvSpPr>
          <p:cNvPr id="78" name="Rounded Rectangle 77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80" name="Rounded Rectangle 79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FBBF24"/>
                </a:solidFill>
                <a:latin typeface="Segoe UI Semibold"/>
              </a:rPr>
              <a:t>SECCIÓN 04 – CASO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Situación actual: cómo está resuelto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Código real del repositorio – Capa Logica/Logica/MarcacionesParser.cs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903720" cy="2880360"/>
          </a:xfrm>
          <a:prstGeom prst="roundRect">
            <a:avLst>
              <a:gd name="adj" fmla="val 4500"/>
            </a:avLst>
          </a:prstGeom>
          <a:solidFill>
            <a:srgbClr val="09112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6903720" cy="329184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29967"/>
            <a:ext cx="6903720" cy="1097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860804"/>
            <a:ext cx="77724" cy="77724"/>
          </a:xfrm>
          <a:prstGeom prst="ellipse">
            <a:avLst/>
          </a:prstGeom>
          <a:solidFill>
            <a:srgbClr val="FB718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05256" y="1860804"/>
            <a:ext cx="77724" cy="7772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3271" y="1860804"/>
            <a:ext cx="77724" cy="77724"/>
          </a:xfrm>
          <a:prstGeom prst="ellipse">
            <a:avLst/>
          </a:prstGeom>
          <a:solidFill>
            <a:srgbClr val="34D39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7" y="1819656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3DA"/>
                </a:solidFill>
                <a:latin typeface="Consolas"/>
              </a:rPr>
              <a:t>MarcacionesParser.cs  –  extracto fiel del método IntentarParsear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6852" y="1796795"/>
            <a:ext cx="617220" cy="210312"/>
          </a:xfrm>
          <a:prstGeom prst="roundRect">
            <a:avLst>
              <a:gd name="adj" fmla="val 50000"/>
            </a:avLst>
          </a:prstGeom>
          <a:solidFill>
            <a:srgbClr val="FB7185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6852" y="1822399"/>
            <a:ext cx="6172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FB7185"/>
                </a:solidFill>
                <a:latin typeface="Segoe UI Semibold"/>
              </a:rPr>
              <a:t>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176272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176272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static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class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MarcacionesParser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323947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323947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471623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471623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static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bool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IntentarParsear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contenido,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int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numeroLinea,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619298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2619298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               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separador,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out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LineaMarcacion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linea,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out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motivo)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2766974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2766974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2914650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914650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var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limpios =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Separar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(contenido, separador);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062325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3062325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if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(limpios.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Length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&lt;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2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|| limpios.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Length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&gt;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4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) { motivo = </a:t>
            </a:r>
            <a:r>
              <a:rPr sz="950" b="0" i="0">
                <a:solidFill>
                  <a:srgbClr val="34D399"/>
                </a:solidFill>
                <a:latin typeface="Consolas"/>
              </a:rPr>
              <a:t>"Formato"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;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return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false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;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3210001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3210001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343960"/>
            <a:ext cx="6812280" cy="147675"/>
          </a:xfrm>
          <a:prstGeom prst="rect">
            <a:avLst/>
          </a:prstGeom>
          <a:solidFill>
            <a:srgbClr val="FB7185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343960"/>
            <a:ext cx="25603" cy="147675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3357676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3357676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if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(limpios.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Length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==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2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)                        </a:t>
            </a:r>
            <a:r>
              <a:rPr sz="950" b="0" i="0">
                <a:solidFill>
                  <a:srgbClr val="7E8EAE"/>
                </a:solidFill>
                <a:latin typeface="Consolas"/>
              </a:rPr>
              <a:t>// DNI;fechaHora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3491636"/>
            <a:ext cx="6812280" cy="147675"/>
          </a:xfrm>
          <a:prstGeom prst="rect">
            <a:avLst/>
          </a:prstGeom>
          <a:solidFill>
            <a:srgbClr val="FB7185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85800" y="3491636"/>
            <a:ext cx="25603" cy="147675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8096" y="3505352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3505352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else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if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(limpios.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Length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==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3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&amp;&amp;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EsSoloFecha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(limpios[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1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]))   </a:t>
            </a:r>
            <a:r>
              <a:rPr sz="950" b="0" i="0">
                <a:solidFill>
                  <a:srgbClr val="7E8EAE"/>
                </a:solidFill>
                <a:latin typeface="Consolas"/>
              </a:rPr>
              <a:t>// DNI;fecha;hora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3639312"/>
            <a:ext cx="6812280" cy="147675"/>
          </a:xfrm>
          <a:prstGeom prst="rect">
            <a:avLst/>
          </a:prstGeom>
          <a:solidFill>
            <a:srgbClr val="FB7185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3639312"/>
            <a:ext cx="25603" cy="147675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8096" y="3653028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653028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else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if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(limpios.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Length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==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3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)                   </a:t>
            </a:r>
            <a:r>
              <a:rPr sz="950" b="0" i="0">
                <a:solidFill>
                  <a:srgbClr val="7E8EAE"/>
                </a:solidFill>
                <a:latin typeface="Consolas"/>
              </a:rPr>
              <a:t>// DNI;fechaHora;lugar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3786987"/>
            <a:ext cx="6812280" cy="147675"/>
          </a:xfrm>
          <a:prstGeom prst="rect">
            <a:avLst/>
          </a:prstGeom>
          <a:solidFill>
            <a:srgbClr val="FB7185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85800" y="3786987"/>
            <a:ext cx="25603" cy="147675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8096" y="3800703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" y="3800703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else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                                           </a:t>
            </a:r>
            <a:r>
              <a:rPr sz="950" b="0" i="0">
                <a:solidFill>
                  <a:srgbClr val="7E8EAE"/>
                </a:solidFill>
                <a:latin typeface="Consolas"/>
              </a:rPr>
              <a:t>// DNI;fecha;hora;lugar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" y="3948379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" y="3948379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4096054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4096054"/>
            <a:ext cx="635508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54112" y="1737360"/>
            <a:ext cx="3794760" cy="288036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54112" y="1792224"/>
            <a:ext cx="45720" cy="277063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10144" y="190195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Medición sobre el archivo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10144" y="226771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7185"/>
                </a:solidFill>
                <a:latin typeface="Segoe UI Semibold"/>
              </a:rPr>
              <a:t>126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59952" y="230428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líneas en la clase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10144" y="263347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7185"/>
                </a:solidFill>
                <a:latin typeface="Segoe UI Semibold"/>
              </a:rPr>
              <a:t>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59952" y="26700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condicionales (if / else if)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10144" y="299923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7185"/>
                </a:solidFill>
                <a:latin typeface="Segoe UI Semibold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59952" y="30358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operadores lógicos &amp;&amp; y ||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10144" y="3364991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7185"/>
                </a:solidFill>
                <a:latin typeface="Segoe UI Semibold"/>
              </a:rPr>
              <a:t>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59952" y="34015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puntos de retorno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10144" y="373075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7185"/>
                </a:solidFill>
                <a:latin typeface="Segoe UI Semibold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59952" y="376732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formatos codificados en el método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10144" y="4133087"/>
            <a:ext cx="3291840" cy="18288"/>
          </a:xfrm>
          <a:prstGeom prst="rect">
            <a:avLst/>
          </a:prstGeom>
          <a:solidFill>
            <a:srgbClr val="2C3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010144" y="4242816"/>
            <a:ext cx="33649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Además es un método estático: no admite sustitución ni inyección.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47731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El mismo patrón se repite en otros dos puntos del módulo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5102352"/>
            <a:ext cx="3547872" cy="124358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0080" y="5157216"/>
            <a:ext cx="45720" cy="113385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7824" y="524865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7185"/>
                </a:solidFill>
                <a:latin typeface="Segoe UI Semibold"/>
              </a:rPr>
              <a:t>Foco A – Parseo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7824" y="5486400"/>
            <a:ext cx="3063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E"/>
                </a:solidFill>
                <a:latin typeface="Consolas"/>
              </a:rPr>
              <a:t>MarcacionesParser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7824" y="5724144"/>
            <a:ext cx="3090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Un formato nuevo de reloj obliga a añadir otra rama a una cascada que ya tiene cuatro.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89120" y="5102352"/>
            <a:ext cx="3547872" cy="124358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389120" y="5157216"/>
            <a:ext cx="45720" cy="113385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26864" y="524865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Segoe UI Semibold"/>
              </a:rPr>
              <a:t>Foco B – Reglas horarias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26864" y="5486400"/>
            <a:ext cx="3063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E"/>
                </a:solidFill>
                <a:latin typeface="Consolas"/>
              </a:rPr>
              <a:t>ConsolidadorAsistenciaCore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26864" y="5724144"/>
            <a:ext cx="3090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Una tolerancia distinta por sede obliga a insertar condiciones en un método con 12 condicionales.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38159" y="5102352"/>
            <a:ext cx="3547872" cy="124358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138159" y="5157216"/>
            <a:ext cx="45720" cy="113385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75903" y="524865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0A5FA"/>
                </a:solidFill>
                <a:latin typeface="Segoe UI Semibold"/>
              </a:rPr>
              <a:t>Foco C – Exportación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75903" y="5486400"/>
            <a:ext cx="3063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E"/>
                </a:solidFill>
                <a:latin typeface="Consolas"/>
              </a:rPr>
              <a:t>ReporteController.DescargarCsv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75903" y="5724144"/>
            <a:ext cx="3090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Segoe UI"/>
              </a:rPr>
              <a:t>Exportar a Excel o PDF obliga a modificar el controlador y cada acción que llama a DescargarCsv.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13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87" name="Rounded Rectangle 86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89" name="Rounded Rectangle 88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91" name="Rounded Rectangle 90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93" name="Rounded Rectangle 92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FBBF24">
              <a:alpha val="22000"/>
            </a:srgbClr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FBBF24"/>
                </a:solidFill>
                <a:latin typeface="Segoe UI Semibold"/>
              </a:rPr>
              <a:t>CASO EVO</a:t>
            </a:r>
          </a:p>
        </p:txBody>
      </p:sp>
      <p:sp>
        <p:nvSpPr>
          <p:cNvPr id="95" name="Rounded Rectangle 94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97" name="Rounded Rectangle 96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FBBF24"/>
                </a:solidFill>
                <a:latin typeface="Segoe UI Semibold"/>
              </a:rPr>
              <a:t>SECCIÓN 04 – CASO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Diagnóstico: por qué este diseño incumple el OCP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Argumentación técnica apoyada en la evidencia del propio repositorio.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40096" cy="131673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92224"/>
            <a:ext cx="45720" cy="1207007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1956815"/>
            <a:ext cx="402336" cy="402336"/>
          </a:xfrm>
          <a:prstGeom prst="ellipse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034539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56815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La unidad de cambio es un método existente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267712"/>
            <a:ext cx="43891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Añadir un formato no crea código nuevo: edita IntentarParsear, un método ya probado y en producción. Por definición, el módulo está abierto a la modificación.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737360"/>
            <a:ext cx="5340096" cy="131673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08776" y="1792224"/>
            <a:ext cx="45720" cy="1207007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46520" y="1956815"/>
            <a:ext cx="402336" cy="402336"/>
          </a:xfrm>
          <a:prstGeom prst="ellipse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034539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956815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El tipo se decide por inspección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267712"/>
            <a:ext cx="43891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La longitud del arreglo y el contenido de los campos hacen de código de tipo implícito (Primitive Obsession): el comportamiento se selecciona preguntando, no despachando.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5340096" cy="131673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255264"/>
            <a:ext cx="45720" cy="1207007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77824" y="3419856"/>
            <a:ext cx="402336" cy="402336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3497580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341985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Clase estática: sustitución imposible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30752"/>
            <a:ext cx="43891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Al ser static no hay interfaz, ni herencia, ni inyección. Ningún cliente puede aportar un comportamiento nuevo sin recompilar la clase original.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3200400"/>
            <a:ext cx="5340096" cy="131673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08776" y="3255264"/>
            <a:ext cx="45720" cy="1207007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46520" y="3419856"/>
            <a:ext cx="402336" cy="402336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497580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Segoe UI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341985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Varios ejes de variación en una sola unidad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3730752"/>
            <a:ext cx="43891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Separador, disposición de campos y formato de fecha varían de forma independiente pero conviven en el mismo método (Divergent Change).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63440"/>
            <a:ext cx="5340096" cy="131673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4718303"/>
            <a:ext cx="45720" cy="1207007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77824" y="4882896"/>
            <a:ext cx="402336" cy="402336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4960620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Segoe UI Semibol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8176" y="488289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Riesgo de regresión concentrado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8176" y="5193792"/>
            <a:ext cx="43891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Las cuatro ramas comparten variables locales y puntos de retorno: un cambio en la rama nueva puede alterar el resultado de las que ya funcionaban.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8776" y="4663440"/>
            <a:ext cx="5340096" cy="131673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08776" y="4718303"/>
            <a:ext cx="45720" cy="1207007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46520" y="4882896"/>
            <a:ext cx="402336" cy="402336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46520" y="4960620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Segoe UI Semibold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6872" y="488289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Las pruebas se vuelven frágiles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872" y="5193792"/>
            <a:ext cx="43891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MarcacionesParserTests prueba el método completo. Cada formato nuevo obliga a revisar esa suite en lugar de añadir una independiente.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Segoe UI"/>
              </a:rPr>
              <a:t>Conclusión del diagnóstico: el diseño actual cumple su función, pero su coste de cambio crece con cada sede incorporada.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48" name="Rounded Rectangle 47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50" name="Rounded Rectangle 49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52" name="Rounded Rectangle 51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54" name="Rounded Rectangle 53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FBBF24">
              <a:alpha val="22000"/>
            </a:srgbClr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FBBF24"/>
                </a:solidFill>
                <a:latin typeface="Segoe UI Semibold"/>
              </a:rPr>
              <a:t>CASO EVO</a:t>
            </a:r>
          </a:p>
        </p:txBody>
      </p:sp>
      <p:sp>
        <p:nvSpPr>
          <p:cNvPr id="56" name="Rounded Rectangle 55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58" name="Rounded Rectangle 57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60A5FA"/>
                </a:solidFill>
                <a:latin typeface="Segoe UI Semibold"/>
              </a:rPr>
              <a:t>SECCIÓN 05 –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Pasos 1 y 2: el contrato y las estrategias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Extract Interface + Replace Conditional with Polymorphism, con las pruebas existentes como 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669280" cy="2331720"/>
          </a:xfrm>
          <a:prstGeom prst="roundRect">
            <a:avLst>
              <a:gd name="adj" fmla="val 4500"/>
            </a:avLst>
          </a:prstGeom>
          <a:solidFill>
            <a:srgbClr val="09112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669280" cy="329184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29967"/>
            <a:ext cx="5669280" cy="109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860804"/>
            <a:ext cx="77724" cy="77724"/>
          </a:xfrm>
          <a:prstGeom prst="ellipse">
            <a:avLst/>
          </a:prstGeom>
          <a:solidFill>
            <a:srgbClr val="FB718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05256" y="1860804"/>
            <a:ext cx="77724" cy="7772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3271" y="1860804"/>
            <a:ext cx="77724" cy="77724"/>
          </a:xfrm>
          <a:prstGeom prst="ellipse">
            <a:avLst/>
          </a:prstGeom>
          <a:solidFill>
            <a:srgbClr val="34D39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7" y="1819656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3DA"/>
                </a:solidFill>
                <a:latin typeface="Consolas"/>
              </a:rPr>
              <a:t>IFormatoMarcacion.cs  –  el punto que queda cerrado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5252" y="1796795"/>
            <a:ext cx="754380" cy="210312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45252" y="1822399"/>
            <a:ext cx="7543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34D399"/>
                </a:solidFill>
                <a:latin typeface="Segoe UI Semibold"/>
              </a:rPr>
              <a:t>DESPUÉS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176272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176272"/>
            <a:ext cx="512064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sealed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record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LineaCruda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Original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,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[]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Campos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,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int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Numero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323947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323947"/>
            <a:ext cx="512064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457907"/>
            <a:ext cx="5577840" cy="147675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57907"/>
            <a:ext cx="25603" cy="14767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2471623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2471623"/>
            <a:ext cx="512064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interface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IFormatoMarcacion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2619298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2619298"/>
            <a:ext cx="512064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2766974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766974"/>
            <a:ext cx="512064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Codigo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{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get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; }                   </a:t>
            </a:r>
            <a:r>
              <a:rPr sz="950" b="0" i="0">
                <a:solidFill>
                  <a:srgbClr val="7E8EAE"/>
                </a:solidFill>
                <a:latin typeface="Consolas"/>
              </a:rPr>
              <a:t>// identidad para trazas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2914650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2914650"/>
            <a:ext cx="512064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int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Prioridad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{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get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; }                   </a:t>
            </a:r>
            <a:r>
              <a:rPr sz="950" b="0" i="0">
                <a:solidFill>
                  <a:srgbClr val="7E8EAE"/>
                </a:solidFill>
                <a:latin typeface="Consolas"/>
              </a:rPr>
              <a:t>// orden de evaluación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048609"/>
            <a:ext cx="5577840" cy="147675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3048609"/>
            <a:ext cx="25603" cy="14767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" y="3062325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3062325"/>
            <a:ext cx="512064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50" b="0" i="0">
                <a:solidFill>
                  <a:srgbClr val="A78BFA"/>
                </a:solidFill>
                <a:latin typeface="Consolas"/>
              </a:rPr>
              <a:t>bool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Reconoce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LineaCruda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linea);         </a:t>
            </a:r>
            <a:r>
              <a:rPr sz="950" b="0" i="0">
                <a:solidFill>
                  <a:srgbClr val="7E8EAE"/>
                </a:solidFill>
                <a:latin typeface="Consolas"/>
              </a:rPr>
              <a:t>// ¿es mío este formato?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196285"/>
            <a:ext cx="5577840" cy="147675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" y="3196285"/>
            <a:ext cx="25603" cy="14767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" y="3210001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3210001"/>
            <a:ext cx="512064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LineaMarcacion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Interpretar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50" b="0" i="0">
                <a:solidFill>
                  <a:srgbClr val="22D3EE"/>
                </a:solidFill>
                <a:latin typeface="Consolas"/>
              </a:rPr>
              <a:t>LineaCruda</a:t>
            </a:r>
            <a:r>
              <a:rPr sz="950" b="0" i="0">
                <a:solidFill>
                  <a:srgbClr val="B7C3DA"/>
                </a:solidFill>
                <a:latin typeface="Consolas"/>
              </a:rPr>
              <a:t> linea);   </a:t>
            </a:r>
            <a:r>
              <a:rPr sz="950" b="0" i="0">
                <a:solidFill>
                  <a:srgbClr val="7E8EAE"/>
                </a:solidFill>
                <a:latin typeface="Consolas"/>
              </a:rPr>
              <a:t>// conversión al modelo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3357676"/>
            <a:ext cx="310896" cy="1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45678"/>
                </a:solidFill>
                <a:latin typeface="Consolas"/>
              </a:rPr>
              <a:t>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3357676"/>
            <a:ext cx="5120640" cy="1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19672" y="1737360"/>
            <a:ext cx="5029200" cy="2331720"/>
          </a:xfrm>
          <a:prstGeom prst="roundRect">
            <a:avLst>
              <a:gd name="adj" fmla="val 4500"/>
            </a:avLst>
          </a:prstGeom>
          <a:solidFill>
            <a:srgbClr val="09112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519672" y="1737360"/>
            <a:ext cx="5029200" cy="329184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19672" y="2029967"/>
            <a:ext cx="5029200" cy="109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656832" y="1860804"/>
            <a:ext cx="77724" cy="77724"/>
          </a:xfrm>
          <a:prstGeom prst="ellipse">
            <a:avLst/>
          </a:prstGeom>
          <a:solidFill>
            <a:srgbClr val="FB718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784848" y="1860804"/>
            <a:ext cx="77724" cy="7772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912864" y="1860804"/>
            <a:ext cx="77724" cy="77724"/>
          </a:xfrm>
          <a:prstGeom prst="ellipse">
            <a:avLst/>
          </a:prstGeom>
          <a:solidFill>
            <a:srgbClr val="34D39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86600" y="181965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3DA"/>
                </a:solidFill>
                <a:latin typeface="Consolas"/>
              </a:rPr>
              <a:t>Una clase por rama de la cascada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84764" y="1796795"/>
            <a:ext cx="754380" cy="210312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684764" y="1822399"/>
            <a:ext cx="7543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34D399"/>
                </a:solidFill>
                <a:latin typeface="Segoe UI Semibold"/>
              </a:rPr>
              <a:t>DESPUÉS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47688" y="2176272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2176272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sealed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class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FormatoDniFechaHora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: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IFormatoMarcacion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7688" y="2308402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2308402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{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47688" y="2440533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2440533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Codigo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   =&gt; </a:t>
            </a:r>
            <a:r>
              <a:rPr sz="850" b="0" i="0">
                <a:solidFill>
                  <a:srgbClr val="34D399"/>
                </a:solidFill>
                <a:latin typeface="Consolas"/>
              </a:rPr>
              <a:t>"DNI-FECHAHORA"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47688" y="2572664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572664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int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Prioridad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=&gt; </a:t>
            </a:r>
            <a:r>
              <a:rPr sz="850" b="0" i="0">
                <a:solidFill>
                  <a:srgbClr val="FBBF24"/>
                </a:solidFill>
                <a:latin typeface="Consolas"/>
              </a:rPr>
              <a:t>10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47688" y="2704795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5160" y="2704795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565392" y="2823210"/>
            <a:ext cx="4937760" cy="132130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565392" y="2823210"/>
            <a:ext cx="25603" cy="13213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47688" y="2836926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2836926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bool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Reconoce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LineaCruda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l) =&gt;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47688" y="2969056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2969056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      l.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Campos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Length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== </a:t>
            </a:r>
            <a:r>
              <a:rPr sz="850" b="0" i="0">
                <a:solidFill>
                  <a:srgbClr val="FBBF24"/>
                </a:solidFill>
                <a:latin typeface="Consolas"/>
              </a:rPr>
              <a:t>2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&amp;&amp;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Fechas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EsFechaHora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(l.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Campos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[</a:t>
            </a:r>
            <a:r>
              <a:rPr sz="850" b="0" i="0">
                <a:solidFill>
                  <a:srgbClr val="FBBF24"/>
                </a:solidFill>
                <a:latin typeface="Consolas"/>
              </a:rPr>
              <a:t>1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]);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47688" y="3101187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3101187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565392" y="3219602"/>
            <a:ext cx="4937760" cy="132130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565392" y="3219602"/>
            <a:ext cx="25603" cy="13213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647688" y="3233318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95160" y="3233318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LineaMarcacion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Interpretar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LineaCruda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l) =&gt;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47688" y="3365449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95160" y="3365449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new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(l.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Campos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[</a:t>
            </a:r>
            <a:r>
              <a:rPr sz="8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],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Fechas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Parsear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(l.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Campos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[</a:t>
            </a:r>
            <a:r>
              <a:rPr sz="850" b="0" i="0">
                <a:solidFill>
                  <a:srgbClr val="FBBF24"/>
                </a:solidFill>
                <a:latin typeface="Consolas"/>
              </a:rPr>
              <a:t>1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]), </a:t>
            </a:r>
            <a:r>
              <a:rPr sz="850" b="0" i="0">
                <a:solidFill>
                  <a:srgbClr val="A78BFA"/>
                </a:solidFill>
                <a:latin typeface="Consolas"/>
              </a:rPr>
              <a:t>null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47688" y="3497580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95160" y="3497580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          {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IdLinea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= l.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Numero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 };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47688" y="3629710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95160" y="3629710"/>
            <a:ext cx="4480560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}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" y="4224528"/>
            <a:ext cx="5349240" cy="212140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40080" y="4279392"/>
            <a:ext cx="45720" cy="2011679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96112" y="43891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Reparto de responsabilidades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" y="473659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onsolas"/>
              </a:rPr>
              <a:t>LineaCruda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736592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Separa la línea en campos. Un solo lugar conoce el delimitador.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6112" y="5120640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onsolas"/>
              </a:rPr>
              <a:t>IFormatoMarcacion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0" y="5120640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Contrato: reconocer una línea e interpretarla.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6112" y="5504688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onsolas"/>
              </a:rPr>
              <a:t>FormatoXxx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0" y="5504688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Una clase por formato, aislada y probada por separado.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6112" y="588873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onsolas"/>
              </a:rPr>
              <a:t>LectorMarcaciones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0" y="5888736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Recorre los formatos registrados y delega. No cambia nunca.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99632" y="4224528"/>
            <a:ext cx="5349240" cy="212140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199632" y="4279392"/>
            <a:ext cx="45720" cy="2011679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55664" y="43891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Restricciones que nos impusimos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55664" y="4736592"/>
            <a:ext cx="4864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El comportamiento observable debe ser idéntico: MarcacionesParserTests sigue en verde.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La firma pública usada por ImportacionAsistenciaLogica se conserva como fachada.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Ninguna clase de formato conoce a las demás ni al orquestador.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B7C3DA"/>
                </a:solidFill>
                <a:latin typeface="Segoe UI"/>
              </a:rPr>
              <a:t>El único archivo que crece al añadir un formato es Program.cs.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15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96" name="Rounded Rectangle 95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98" name="Rounded Rectangle 97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100" name="Rounded Rectangle 99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102" name="Rounded Rectangle 101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104" name="Rounded Rectangle 103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60A5FA">
              <a:alpha val="22000"/>
            </a:srgbClr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60A5FA"/>
                </a:solidFill>
                <a:latin typeface="Segoe UI Semibold"/>
              </a:rPr>
              <a:t>PROPUESTA</a:t>
            </a:r>
          </a:p>
        </p:txBody>
      </p:sp>
      <p:sp>
        <p:nvSpPr>
          <p:cNvPr id="106" name="Rounded Rectangle 105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60A5FA"/>
                </a:solidFill>
                <a:latin typeface="Segoe UI Semibold"/>
              </a:rPr>
              <a:t>SECCIÓN 05 –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Paso 3: el orquestador cerrado y el registro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Un único recorrido sustituye a la cascada completa; la decisión sube al arranque de la aplicación.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720840" cy="3474720"/>
          </a:xfrm>
          <a:prstGeom prst="roundRect">
            <a:avLst>
              <a:gd name="adj" fmla="val 4500"/>
            </a:avLst>
          </a:prstGeom>
          <a:solidFill>
            <a:srgbClr val="09112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6720840" cy="329184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29967"/>
            <a:ext cx="6720840" cy="1097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860804"/>
            <a:ext cx="77724" cy="77724"/>
          </a:xfrm>
          <a:prstGeom prst="ellipse">
            <a:avLst/>
          </a:prstGeom>
          <a:solidFill>
            <a:srgbClr val="FB718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05256" y="1860804"/>
            <a:ext cx="77724" cy="7772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3271" y="1860804"/>
            <a:ext cx="77724" cy="77724"/>
          </a:xfrm>
          <a:prstGeom prst="ellipse">
            <a:avLst/>
          </a:prstGeom>
          <a:solidFill>
            <a:srgbClr val="34D39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7" y="1819656"/>
            <a:ext cx="5349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3DA"/>
                </a:solidFill>
                <a:latin typeface="Consolas"/>
              </a:rPr>
              <a:t>LectorMarcaciones.cs  –  cerrado a la modificación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6811" y="1796795"/>
            <a:ext cx="754380" cy="210312"/>
          </a:xfrm>
          <a:prstGeom prst="roundRect">
            <a:avLst>
              <a:gd name="adj" fmla="val 50000"/>
            </a:avLst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6811" y="1822399"/>
            <a:ext cx="7543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60A5FA"/>
                </a:solidFill>
                <a:latin typeface="Segoe UI Semibold"/>
              </a:rPr>
              <a:t>DESPUÉS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176272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176272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sealed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class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LectorMarcaciones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316175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316175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456078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456078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private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readonly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IReadOnlyList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&lt;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IFormatoMarcacion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&gt; _formatos;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595981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2595981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722168"/>
            <a:ext cx="6629400" cy="139903"/>
          </a:xfrm>
          <a:prstGeom prst="rect">
            <a:avLst/>
          </a:prstGeom>
          <a:solidFill>
            <a:srgbClr val="60A5FA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722168"/>
            <a:ext cx="25603" cy="139903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2735884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735884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LectorMarcaciones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IEnumerable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&lt;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IFormatoMarcacion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&gt; formatos) =&gt;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2875788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2875788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_formatos = formatos.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OrderBy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(f =&gt; f.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Prioridad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).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ToList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3015691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3015691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" y="3155594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3155594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bool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IntentarParsear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contenido,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int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numero,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separador,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3295497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3295497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                    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out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LineaMarcacion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linea,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out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motivo)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3435400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3435400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3575304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3575304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linea =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null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!; motivo =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Empty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3715207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3715207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var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cruda =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LineaCruda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Desde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(contenido, numero, separador);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" y="3855110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855110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if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(cruda.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Vacia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) { motivo = </a:t>
            </a:r>
            <a:r>
              <a:rPr sz="900" b="0" i="0">
                <a:solidFill>
                  <a:srgbClr val="34D399"/>
                </a:solidFill>
                <a:latin typeface="Consolas"/>
              </a:rPr>
              <a:t>"Línea vacía"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;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false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; 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3995013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" y="3995013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85800" y="4121200"/>
            <a:ext cx="6629400" cy="139903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85800" y="4121200"/>
            <a:ext cx="25603" cy="13990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8096" y="4134916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" y="4134916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foreach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(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var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formato in _formatos)          </a:t>
            </a:r>
            <a:r>
              <a:rPr sz="900" b="0" i="0">
                <a:solidFill>
                  <a:srgbClr val="7E8EAE"/>
                </a:solidFill>
                <a:latin typeface="Consolas"/>
              </a:rPr>
              <a:t>// único punto de decisión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4261104"/>
            <a:ext cx="6629400" cy="139903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85800" y="4261104"/>
            <a:ext cx="25603" cy="13990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8096" y="4274820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" y="4274820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if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(formato.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Reconoce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(cruda)) { linea = formato.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Interpretar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(cruda);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true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;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" y="4414723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" y="4414723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8096" y="4554626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4554626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motivo = </a:t>
            </a:r>
            <a:r>
              <a:rPr sz="900" b="0" i="0">
                <a:solidFill>
                  <a:srgbClr val="34D399"/>
                </a:solidFill>
                <a:latin typeface="Consolas"/>
              </a:rPr>
              <a:t>"Ningún formato registrado reconoce la línea"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" y="4694529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" y="4694529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false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" y="4834432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" y="4834432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" y="4974336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21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" y="4974336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}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16952" y="1737360"/>
            <a:ext cx="3931920" cy="3474720"/>
          </a:xfrm>
          <a:prstGeom prst="roundRect">
            <a:avLst>
              <a:gd name="adj" fmla="val 4500"/>
            </a:avLst>
          </a:prstGeom>
          <a:solidFill>
            <a:srgbClr val="09112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7616952" y="1737360"/>
            <a:ext cx="3931920" cy="329184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616952" y="2029967"/>
            <a:ext cx="3931920" cy="1097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7754112" y="1860804"/>
            <a:ext cx="77724" cy="77724"/>
          </a:xfrm>
          <a:prstGeom prst="ellipse">
            <a:avLst/>
          </a:prstGeom>
          <a:solidFill>
            <a:srgbClr val="FB718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882128" y="1860804"/>
            <a:ext cx="77724" cy="7772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010144" y="1860804"/>
            <a:ext cx="77724" cy="77724"/>
          </a:xfrm>
          <a:prstGeom prst="ellipse">
            <a:avLst/>
          </a:prstGeom>
          <a:solidFill>
            <a:srgbClr val="34D39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1819656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3DA"/>
                </a:solidFill>
                <a:latin typeface="Consolas"/>
              </a:rPr>
              <a:t>Composición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616184" y="1796795"/>
            <a:ext cx="822959" cy="210312"/>
          </a:xfrm>
          <a:prstGeom prst="roundRect">
            <a:avLst>
              <a:gd name="adj" fmla="val 50000"/>
            </a:avLst>
          </a:prstGeom>
          <a:solidFill>
            <a:srgbClr val="A78B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616184" y="1822399"/>
            <a:ext cx="82295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A78BFA"/>
                </a:solidFill>
                <a:latin typeface="Segoe UI Semibold"/>
              </a:rPr>
              <a:t>REGISTRO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968" y="2176272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2440" y="2176272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Consolas"/>
              </a:rPr>
              <a:t>// Program.cs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968" y="2308402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2440" y="2308402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builder.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Services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4968" y="2440533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92440" y="2440533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AddSingleton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&lt;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IFormatoMarcacion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,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4968" y="2572664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92440" y="2572664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             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FormatoDniFechaHora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&gt;();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968" y="2704795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2704795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builder.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Services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4968" y="2836926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92440" y="2836926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AddSingleton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&lt;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IFormatoMarcacion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,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968" y="2969056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92440" y="2969056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             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FormatoConLugar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&gt;();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4968" y="3101187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92440" y="3101187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builder.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Services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968" y="3233318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 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92440" y="3233318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AddSingleton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&lt;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IFormatoMarcacion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,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968" y="3365449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92440" y="3365449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              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FormatoFechaHoraSeparadas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&gt;();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968" y="3497580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92440" y="3497580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744968" y="3629710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2440" y="3629710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builder.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Services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968" y="3761841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92440" y="3761841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7C3DA"/>
                </a:solidFill>
                <a:latin typeface="Consolas"/>
              </a:rPr>
              <a:t>  .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AddScoped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&lt;</a:t>
            </a:r>
            <a:r>
              <a:rPr sz="850" b="0" i="0">
                <a:solidFill>
                  <a:srgbClr val="22D3EE"/>
                </a:solidFill>
                <a:latin typeface="Consolas"/>
              </a:rPr>
              <a:t>LectorMarcaciones</a:t>
            </a:r>
            <a:r>
              <a:rPr sz="850" b="0" i="0">
                <a:solidFill>
                  <a:srgbClr val="B7C3DA"/>
                </a:solidFill>
                <a:latin typeface="Consolas"/>
              </a:rPr>
              <a:t>&gt;();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968" y="3893972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2440" y="3893972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744968" y="4026103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92440" y="4026103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Consolas"/>
              </a:rPr>
              <a:t>// Mañana, un formato nuevo: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968" y="4158234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2440" y="4158234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Consolas"/>
              </a:rPr>
              <a:t>// una línea más aquí y cero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44968" y="4290364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92440" y="4290364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Consolas"/>
              </a:rPr>
              <a:t>// cambios en LectorMarcaciones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44968" y="4422495"/>
            <a:ext cx="310896" cy="13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45678"/>
                </a:solidFill>
                <a:latin typeface="Consolas"/>
              </a:rPr>
              <a:t>18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92440" y="4422495"/>
            <a:ext cx="3383279" cy="13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Consolas"/>
              </a:rPr>
              <a:t>// ni en la capa de importación.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40080" y="5303520"/>
            <a:ext cx="10908792" cy="1042415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3E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640080" y="5358383"/>
            <a:ext cx="45720" cy="9326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14400" y="543153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 Semibold"/>
              </a:rPr>
              <a:t>Lo que cambió en el comportamiento observable: nada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5705856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C3DA"/>
                </a:solidFill>
                <a:latin typeface="Segoe UI"/>
              </a:rPr>
              <a:t>Las mismas entradas producen las mismas salidas. ImportacionAsistenciaLogica sigue llamando a IntentarParsear con la misma firma, ahora sobre una instancia inyectada en lugar de una clase estática. Las pruebas existentes se conservan sin reescribirse.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16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117" name="Rounded Rectangle 116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119" name="Rounded Rectangle 118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121" name="Rounded Rectangle 120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123" name="Rounded Rectangle 122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125" name="Rounded Rectangle 124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60A5FA">
              <a:alpha val="22000"/>
            </a:srgbClr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60A5FA"/>
                </a:solidFill>
                <a:latin typeface="Segoe UI Semibold"/>
              </a:rPr>
              <a:t>PROPUESTA</a:t>
            </a:r>
          </a:p>
        </p:txBody>
      </p:sp>
      <p:sp>
        <p:nvSpPr>
          <p:cNvPr id="127" name="Rounded Rectangle 126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60A5FA"/>
                </a:solidFill>
                <a:latin typeface="Segoe UI Semibold"/>
              </a:rPr>
              <a:t>SECCIÓN 05 –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Evidencia comparativa (1 de 2): antes y después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El mismo flujo, con el punto de decisión dentro del componente y luego fuera de él.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10908792" cy="1938528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865376"/>
            <a:ext cx="4041648" cy="256032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906524"/>
            <a:ext cx="4041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B7185"/>
                </a:solidFill>
                <a:latin typeface="Segoe UI Semibold"/>
              </a:rPr>
              <a:t>ANTES  –  LA DECISIÓN VIVE DENTRO DEL COMPONENTE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04288"/>
            <a:ext cx="1828800" cy="530352"/>
          </a:xfrm>
          <a:prstGeom prst="roundRect">
            <a:avLst>
              <a:gd name="adj" fmla="val 9000"/>
            </a:avLst>
          </a:prstGeom>
          <a:solidFill>
            <a:srgbClr val="1A2542"/>
          </a:solidFill>
          <a:ln w="12700">
            <a:solidFill>
              <a:srgbClr val="3E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441448"/>
            <a:ext cx="16824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6FC"/>
                </a:solidFill>
                <a:latin typeface="Segoe UI Semibold"/>
              </a:rPr>
              <a:t>ReporteController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569464"/>
            <a:ext cx="292608" cy="0"/>
          </a:xfrm>
          <a:prstGeom prst="line">
            <a:avLst/>
          </a:prstGeom>
          <a:ln w="15875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35808" y="2304288"/>
            <a:ext cx="2057400" cy="530352"/>
          </a:xfrm>
          <a:prstGeom prst="roundRect">
            <a:avLst>
              <a:gd name="adj" fmla="val 9000"/>
            </a:avLst>
          </a:prstGeom>
          <a:solidFill>
            <a:srgbClr val="1A254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2441448"/>
            <a:ext cx="19110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F6FC"/>
                </a:solidFill>
                <a:latin typeface="Segoe UI Semibold"/>
              </a:rPr>
              <a:t>ImportacionAsistenciaLogica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93208" y="2569464"/>
            <a:ext cx="320040" cy="0"/>
          </a:xfrm>
          <a:prstGeom prst="line">
            <a:avLst/>
          </a:prstGeom>
          <a:ln w="15875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13248" y="2212848"/>
            <a:ext cx="2926080" cy="713232"/>
          </a:xfrm>
          <a:prstGeom prst="roundRect">
            <a:avLst>
              <a:gd name="adj" fmla="val 9000"/>
            </a:avLst>
          </a:prstGeom>
          <a:solidFill>
            <a:srgbClr val="222F52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2340864"/>
            <a:ext cx="27797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MarcacionesParser.IntentarParsear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6" y="2578608"/>
            <a:ext cx="27980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E8EAE"/>
                </a:solidFill>
                <a:latin typeface="Segoe UI"/>
              </a:rPr>
              <a:t>static – 126 líneas – 14 condicionales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304288"/>
            <a:ext cx="566928" cy="530352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85632" y="2441448"/>
            <a:ext cx="42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0767" y="246888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7C3DA"/>
                </a:solidFill>
                <a:latin typeface="Consolas"/>
              </a:rPr>
              <a:t>len==2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39327" y="2569464"/>
            <a:ext cx="73153" cy="0"/>
          </a:xfrm>
          <a:prstGeom prst="line">
            <a:avLst/>
          </a:prstGeom>
          <a:ln w="1016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15984" y="2304288"/>
            <a:ext cx="566928" cy="530352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89136" y="2441448"/>
            <a:ext cx="42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34272" y="246888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7C3DA"/>
                </a:solidFill>
                <a:latin typeface="Consolas"/>
              </a:rPr>
              <a:t>len==3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39327" y="2569464"/>
            <a:ext cx="676657" cy="0"/>
          </a:xfrm>
          <a:prstGeom prst="line">
            <a:avLst/>
          </a:prstGeom>
          <a:ln w="1016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19488" y="2304288"/>
            <a:ext cx="566928" cy="530352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2441448"/>
            <a:ext cx="42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37776" y="246888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7C3DA"/>
                </a:solidFill>
                <a:latin typeface="Consolas"/>
              </a:rPr>
              <a:t>len==3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39327" y="2569464"/>
            <a:ext cx="1280161" cy="0"/>
          </a:xfrm>
          <a:prstGeom prst="line">
            <a:avLst/>
          </a:prstGeom>
          <a:ln w="1016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222992" y="2304288"/>
            <a:ext cx="566928" cy="530352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96144" y="2441448"/>
            <a:ext cx="42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41280" y="246888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7C3DA"/>
                </a:solidFill>
                <a:latin typeface="Consolas"/>
              </a:rPr>
              <a:t>len==4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39327" y="2569464"/>
            <a:ext cx="1883665" cy="0"/>
          </a:xfrm>
          <a:prstGeom prst="line">
            <a:avLst/>
          </a:prstGeom>
          <a:ln w="1016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63072" y="2304288"/>
            <a:ext cx="621792" cy="530352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FBBF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36224" y="2441448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F6FC"/>
                </a:solidFill>
                <a:latin typeface="Segoe UI Semibold"/>
              </a:rPr>
              <a:t>+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3054096"/>
            <a:ext cx="10424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Segoe UI"/>
              </a:rPr>
              <a:t>Cada formato nuevo entra por dentro: se edita la misma unidad de código ya probada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291840"/>
            <a:ext cx="10424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No existe frontera donde apoyar una extensión, de modo que toda variación modifica el núcleo.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803904"/>
            <a:ext cx="10908792" cy="219456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96112" y="3950208"/>
            <a:ext cx="3808476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3991356"/>
            <a:ext cx="38084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34D399"/>
                </a:solidFill>
                <a:latin typeface="Segoe UI Semibold"/>
              </a:rPr>
              <a:t>DESPUÉS  –  LA DECISIÓN SUBE A LA COMPOSICIÓN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4389120"/>
            <a:ext cx="2057400" cy="566928"/>
          </a:xfrm>
          <a:prstGeom prst="roundRect">
            <a:avLst>
              <a:gd name="adj" fmla="val 9000"/>
            </a:avLst>
          </a:prstGeom>
          <a:solidFill>
            <a:srgbClr val="1A2542"/>
          </a:solidFill>
          <a:ln w="12700">
            <a:solidFill>
              <a:srgbClr val="3E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7552" y="4443983"/>
            <a:ext cx="19110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F6FC"/>
                </a:solidFill>
                <a:latin typeface="Segoe UI Semibold"/>
              </a:rPr>
              <a:t>ImportacionAsistenciaLogica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4681727"/>
            <a:ext cx="1929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E8EAE"/>
                </a:solidFill>
                <a:latin typeface="Segoe UI"/>
              </a:rPr>
              <a:t>cliente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971800" y="4672584"/>
            <a:ext cx="320040" cy="0"/>
          </a:xfrm>
          <a:prstGeom prst="line">
            <a:avLst/>
          </a:prstGeom>
          <a:ln w="15875">
            <a:solidFill>
              <a:srgbClr val="3E55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291840" y="4389120"/>
            <a:ext cx="2148840" cy="566928"/>
          </a:xfrm>
          <a:prstGeom prst="roundRect">
            <a:avLst>
              <a:gd name="adj" fmla="val 9000"/>
            </a:avLst>
          </a:prstGeom>
          <a:solidFill>
            <a:srgbClr val="1A254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64992" y="4443983"/>
            <a:ext cx="20025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LectorMarcaciones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5848" y="4681727"/>
            <a:ext cx="20208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E8EAE"/>
                </a:solidFill>
                <a:latin typeface="Segoe UI"/>
              </a:rPr>
              <a:t>recorre y delega – cerrado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40680" y="4672584"/>
            <a:ext cx="365760" cy="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806440" y="4352544"/>
            <a:ext cx="2788920" cy="640080"/>
          </a:xfrm>
          <a:prstGeom prst="roundRect">
            <a:avLst>
              <a:gd name="adj" fmla="val 9000"/>
            </a:avLst>
          </a:prstGeom>
          <a:solidFill>
            <a:srgbClr val="222F5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79592" y="4443983"/>
            <a:ext cx="26426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6FC"/>
                </a:solidFill>
                <a:latin typeface="Segoe UI Semibold"/>
              </a:rPr>
              <a:t>«interface» IFormatoMarcacion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70448" y="4681727"/>
            <a:ext cx="26609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E8EAE"/>
                </a:solidFill>
                <a:latin typeface="Segoe UI"/>
              </a:rPr>
              <a:t>Reconoce(...) • Interpretar(...)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06440" y="5230368"/>
            <a:ext cx="1517904" cy="457200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879592" y="533095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33872" y="5358384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7C3DA"/>
                </a:solidFill>
                <a:latin typeface="Consolas"/>
              </a:rPr>
              <a:t>FormatoDniFechaHora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6565392" y="4992624"/>
            <a:ext cx="640080" cy="237744"/>
          </a:xfrm>
          <a:prstGeom prst="line">
            <a:avLst/>
          </a:prstGeom>
          <a:ln w="10160">
            <a:solidFill>
              <a:srgbClr val="34D39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397496" y="5230368"/>
            <a:ext cx="1517904" cy="457200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470648" y="533095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24927" y="5358384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7C3DA"/>
                </a:solidFill>
                <a:latin typeface="Consolas"/>
              </a:rPr>
              <a:t>FormatoConLugar</a:t>
            </a:r>
          </a:p>
        </p:txBody>
      </p:sp>
      <p:cxnSp>
        <p:nvCxnSpPr>
          <p:cNvPr id="60" name="Connector 59"/>
          <p:cNvCxnSpPr/>
          <p:nvPr/>
        </p:nvCxnSpPr>
        <p:spPr>
          <a:xfrm flipH="1" flipV="1">
            <a:off x="7205472" y="4992624"/>
            <a:ext cx="950976" cy="237744"/>
          </a:xfrm>
          <a:prstGeom prst="line">
            <a:avLst/>
          </a:prstGeom>
          <a:ln w="10160">
            <a:solidFill>
              <a:srgbClr val="34D39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8988552" y="5230368"/>
            <a:ext cx="1517904" cy="457200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061704" y="533095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15984" y="5358384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7C3DA"/>
                </a:solidFill>
                <a:latin typeface="Consolas"/>
              </a:rPr>
              <a:t>FormatoFechaHoraSep.</a:t>
            </a:r>
          </a:p>
        </p:txBody>
      </p:sp>
      <p:cxnSp>
        <p:nvCxnSpPr>
          <p:cNvPr id="64" name="Connector 63"/>
          <p:cNvCxnSpPr/>
          <p:nvPr/>
        </p:nvCxnSpPr>
        <p:spPr>
          <a:xfrm flipH="1" flipV="1">
            <a:off x="7205472" y="4992624"/>
            <a:ext cx="2542032" cy="237744"/>
          </a:xfrm>
          <a:prstGeom prst="line">
            <a:avLst/>
          </a:prstGeom>
          <a:ln w="10160">
            <a:solidFill>
              <a:srgbClr val="34D39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0625328" y="5230368"/>
            <a:ext cx="877824" cy="457200"/>
          </a:xfrm>
          <a:prstGeom prst="roundRect">
            <a:avLst>
              <a:gd name="adj" fmla="val 9000"/>
            </a:avLst>
          </a:prstGeom>
          <a:solidFill>
            <a:srgbClr val="0D1428"/>
          </a:solidFill>
          <a:ln w="12700">
            <a:solidFill>
              <a:srgbClr val="FBBF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698480" y="5330952"/>
            <a:ext cx="731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F6FC"/>
                </a:solidFill>
                <a:latin typeface="Segoe UI Semibold"/>
              </a:rPr>
              <a:t>+ nuevo</a:t>
            </a:r>
          </a:p>
        </p:txBody>
      </p:sp>
      <p:cxnSp>
        <p:nvCxnSpPr>
          <p:cNvPr id="67" name="Connector 66"/>
          <p:cNvCxnSpPr/>
          <p:nvPr/>
        </p:nvCxnSpPr>
        <p:spPr>
          <a:xfrm flipH="1" flipV="1">
            <a:off x="7205472" y="4992624"/>
            <a:ext cx="3858768" cy="237744"/>
          </a:xfrm>
          <a:prstGeom prst="line">
            <a:avLst/>
          </a:prstGeom>
          <a:ln w="11430">
            <a:solidFill>
              <a:srgbClr val="FBBF2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96112" y="5230368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Las flechas punteadas son realizaciones del contrato. La caja ámbar es cualquier formato futuro: entra al diagrama sin modificar ninguna caja existente.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6089904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0A5FA"/>
                </a:solidFill>
                <a:latin typeface="Segoe UI"/>
              </a:rPr>
              <a:t>Esa es la definición operativa del Principio Abierto-Cerrado: el diagrama crece hacia abajo, nunca hacia adentro.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17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74" name="Rounded Rectangle 73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76" name="Rounded Rectangle 75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78" name="Rounded Rectangle 77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80" name="Rounded Rectangle 79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82" name="Rounded Rectangle 81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60A5FA">
              <a:alpha val="22000"/>
            </a:srgbClr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60A5FA"/>
                </a:solidFill>
                <a:latin typeface="Segoe UI Semibold"/>
              </a:rPr>
              <a:t>PROPUESTA</a:t>
            </a:r>
          </a:p>
        </p:txBody>
      </p:sp>
      <p:sp>
        <p:nvSpPr>
          <p:cNvPr id="84" name="Rounded Rectangle 83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60A5FA"/>
                </a:solidFill>
                <a:latin typeface="Segoe UI Semibold"/>
              </a:rPr>
              <a:t>SECCIÓN 05 –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Evidencia comparativa (2 de 2): costo del cambio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Misma funcionalidad, dos estructuras con costes de mantenimiento muy distintos.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55648"/>
            <a:ext cx="10908792" cy="402336"/>
          </a:xfrm>
          <a:prstGeom prst="roundRect">
            <a:avLst>
              <a:gd name="adj" fmla="val 5000"/>
            </a:avLst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B7C3DA"/>
                </a:solidFill>
                <a:latin typeface="Segoe UI Semibold"/>
              </a:rPr>
              <a:t>CRITERIO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8470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FB7185"/>
                </a:solidFill>
                <a:latin typeface="Segoe UI Semibold"/>
              </a:rPr>
              <a:t>DISEÑO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8470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34D399"/>
                </a:solidFill>
                <a:latin typeface="Segoe UI Semibold"/>
              </a:rPr>
              <a:t>DISEÑO PROPUESTO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31136"/>
            <a:ext cx="10908792" cy="493776"/>
          </a:xfrm>
          <a:prstGeom prst="roundRect">
            <a:avLst>
              <a:gd name="adj" fmla="val 3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Añadir un formato nuevo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2322576"/>
            <a:ext cx="27432" cy="3108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24528" y="2368296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Editar un método probado de 126 líneas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322576"/>
            <a:ext cx="27432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2368296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Crear 1 clase nueva + 1 línea de registro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61488"/>
            <a:ext cx="10908792" cy="493776"/>
          </a:xfrm>
          <a:prstGeom prst="roundRect">
            <a:avLst>
              <a:gd name="adj" fmla="val 3000"/>
            </a:avLst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889504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Archivos existentes modificados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41648" y="2852928"/>
            <a:ext cx="27432" cy="3108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24528" y="289864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2 (parser y lógica de importación)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2852928"/>
            <a:ext cx="27432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289864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91840"/>
            <a:ext cx="10908792" cy="493776"/>
          </a:xfrm>
          <a:prstGeom prst="roundRect">
            <a:avLst>
              <a:gd name="adj" fmla="val 3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41985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Condicionales en el camino crítico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41648" y="3383280"/>
            <a:ext cx="27432" cy="3108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24528" y="342900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14 condicionales y 6 operadores lógicos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3383280"/>
            <a:ext cx="27432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01000" y="342900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1 recorrido sobre la lista de formatos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822191"/>
            <a:ext cx="10908792" cy="493776"/>
          </a:xfrm>
          <a:prstGeom prst="roundRect">
            <a:avLst>
              <a:gd name="adj" fmla="val 3000"/>
            </a:avLst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3950207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Prueba del formato nuevo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41648" y="3913631"/>
            <a:ext cx="27432" cy="3108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24528" y="39593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Ampliar y revisar la suite existente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3913631"/>
            <a:ext cx="27432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01000" y="39593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Suite propia e independiente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352544"/>
            <a:ext cx="10908792" cy="493776"/>
          </a:xfrm>
          <a:prstGeom prst="roundRect">
            <a:avLst>
              <a:gd name="adj" fmla="val 3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480559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Riesgo sobre formatos ya soportados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41648" y="4443983"/>
            <a:ext cx="27432" cy="3108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24528" y="448970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Alto: comparten variables y retornos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4443983"/>
            <a:ext cx="27432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01000" y="448970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Nulo: las clases están aisladas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882896"/>
            <a:ext cx="10908792" cy="493776"/>
          </a:xfrm>
          <a:prstGeom prst="roundRect">
            <a:avLst>
              <a:gd name="adj" fmla="val 3000"/>
            </a:avLst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501091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Sustitución en pruebas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41648" y="4974336"/>
            <a:ext cx="27432" cy="3108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24528" y="5020056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Imposible: clase estática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8120" y="4974336"/>
            <a:ext cx="27432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01000" y="5020056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Directa: se inyectan los formatos deseados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413248"/>
            <a:ext cx="10908792" cy="493776"/>
          </a:xfrm>
          <a:prstGeom prst="roundRect">
            <a:avLst>
              <a:gd name="adj" fmla="val 3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8680" y="5541264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6FC"/>
                </a:solidFill>
                <a:latin typeface="Segoe UI Semibold"/>
              </a:rPr>
              <a:t>Dónde vive el conocimiento del formato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41648" y="5504688"/>
            <a:ext cx="27432" cy="3108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24528" y="555040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Disperso en la cascada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5504688"/>
            <a:ext cx="27432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01000" y="555040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En una clase con nombre propio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998464"/>
            <a:ext cx="10908792" cy="402336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8680" y="608990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A5FA"/>
                </a:solidFill>
                <a:latin typeface="Segoe UI"/>
              </a:rPr>
              <a:t>El indicador decisivo es la segunda fila: pasar de 2 archivos modificados a 0 es, literalmente, cerrar el módulo a la modificación.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59" name="Rounded Rectangle 58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61" name="Rounded Rectangle 60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63" name="Rounded Rectangle 62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65" name="Rounded Rectangle 64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67" name="Rounded Rectangle 66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60A5FA">
              <a:alpha val="22000"/>
            </a:srgbClr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60A5FA"/>
                </a:solidFill>
                <a:latin typeface="Segoe UI Semibold"/>
              </a:rPr>
              <a:t>PROPUESTA</a:t>
            </a:r>
          </a:p>
        </p:txBody>
      </p:sp>
      <p:sp>
        <p:nvSpPr>
          <p:cNvPr id="69" name="Rounded Rectangle 68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IMPACTO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FB7185"/>
                </a:solidFill>
                <a:latin typeface="Segoe UI Semibold"/>
              </a:rPr>
              <a:t>SECCIÓN 06 –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Cómo la propuesta mejora la mantenibilidad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Lectura del resultado contra las subcaracterísticas del modelo de calidad ISO/IEC 25010.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47872" cy="122529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547872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Segoe UI Semibold"/>
              </a:rPr>
              <a:t>Modularidad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309067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Cada formato es una unidad independiente: un cambio en uno no puede alterar el comportamiento de los demás.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547872" cy="122529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547872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19019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Segoe UI Semibold"/>
              </a:rPr>
              <a:t>Modificabilidad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194560"/>
            <a:ext cx="309067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La variación prevista se incorpora añadiendo código; el riesgo de introducir defectos en lo existente tiende a cero.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737360"/>
            <a:ext cx="3547872" cy="122529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1737360"/>
            <a:ext cx="3547872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3" y="19019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egoe UI Semibold"/>
              </a:rPr>
              <a:t>Capacidad de 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3" y="2194560"/>
            <a:ext cx="309067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Cada clase se prueba aislada y el orquestador se prueba con formatos falsos inyectados.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27248"/>
            <a:ext cx="3547872" cy="122529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127248"/>
            <a:ext cx="3547872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32918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egoe UI Semibold"/>
              </a:rPr>
              <a:t>Analizabilidad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584448"/>
            <a:ext cx="309067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Para entender un formato basta abrir su clase: ya no hay que leer una cascada de 126 líneas.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127248"/>
            <a:ext cx="3547872" cy="122529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127248"/>
            <a:ext cx="3547872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26864" y="32918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8BFA"/>
                </a:solidFill>
                <a:latin typeface="Segoe UI Semibold"/>
              </a:rPr>
              <a:t>Reusabilidad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9067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El mismo contrato sirve para la importación por lotes y para una futura integración en línea con el reloj.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3127248"/>
            <a:ext cx="3547872" cy="1225296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59" y="3127248"/>
            <a:ext cx="3547872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75903" y="32918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8BFA"/>
                </a:solidFill>
                <a:latin typeface="Segoe UI Semibold"/>
              </a:rPr>
              <a:t>Adaptabilidad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3" y="3584448"/>
            <a:ext cx="309067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EAE"/>
                </a:solidFill>
                <a:latin typeface="Segoe UI"/>
              </a:rPr>
              <a:t>Incorporar una sede con equipamiento distinto deja de ser un cambio en el núcleo del sistema.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902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Evidencia de regresión: las cuatro suites existentes siguen pasando sin ser reescritas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19472"/>
            <a:ext cx="2651760" cy="115214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974336"/>
            <a:ext cx="45720" cy="104241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7" y="506577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F6FC"/>
                </a:solidFill>
                <a:latin typeface="Consolas"/>
              </a:rPr>
              <a:t>MarcacionesParserTests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53035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Ahora ejercita LectorMarcaciones con los formatos reales inyectados.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7" y="577900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7" y="58201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100">
                <a:solidFill>
                  <a:srgbClr val="34D399"/>
                </a:solidFill>
                <a:latin typeface="Segoe UI Semibold"/>
              </a:rPr>
              <a:t>EN VERDE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19856" y="4919472"/>
            <a:ext cx="2651760" cy="115214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419856" y="4974336"/>
            <a:ext cx="45720" cy="10424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21024" y="506577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F6FC"/>
                </a:solidFill>
                <a:latin typeface="Consolas"/>
              </a:rPr>
              <a:t>ConsolidadorAsistenciaCoreTests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21024" y="53035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Intacta: sirve de red para la refactorización del Foco B.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21024" y="577900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21024" y="58201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100">
                <a:solidFill>
                  <a:srgbClr val="34D399"/>
                </a:solidFill>
                <a:latin typeface="Segoe UI Semibold"/>
              </a:rPr>
              <a:t>EN VERDE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4919472"/>
            <a:ext cx="2651760" cy="115214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99632" y="4974336"/>
            <a:ext cx="45720" cy="104241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506577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F6FC"/>
                </a:solidFill>
                <a:latin typeface="Consolas"/>
              </a:rPr>
              <a:t>CalculoAsistenciaHelperTests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3035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Sin cambios: el helper no participa del punto de variación.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577900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58201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100">
                <a:solidFill>
                  <a:srgbClr val="34D399"/>
                </a:solidFill>
                <a:latin typeface="Segoe UI Semibold"/>
              </a:rPr>
              <a:t>EN VERDE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79408" y="4919472"/>
            <a:ext cx="2651760" cy="1152144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979408" y="4974336"/>
            <a:ext cx="45720" cy="104241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80576" y="506577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F6FC"/>
                </a:solidFill>
                <a:latin typeface="Consolas"/>
              </a:rPr>
              <a:t>CsvExporterTests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53035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Se conserva al introducir IExportadorReporte en el Foco C.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80576" y="577900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80576" y="58201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100">
                <a:solidFill>
                  <a:srgbClr val="34D399"/>
                </a:solidFill>
                <a:latin typeface="Segoe UI Semibold"/>
              </a:rPr>
              <a:t>EN VERDE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19963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Segoe UI"/>
              </a:rPr>
              <a:t>Criterio de aceptación de la refactorización: mismas entradas, mismas salidas, cero pruebas reescritas.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19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61" name="Rounded Rectangle 60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63" name="Rounded Rectangle 62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65" name="Rounded Rectangle 64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67" name="Rounded Rectangle 66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69" name="Rounded Rectangle 68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71" name="Rounded Rectangle 70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FB7185">
              <a:alpha val="22000"/>
            </a:srgbClr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FB7185"/>
                </a:solidFill>
                <a:latin typeface="Segoe UI Semibold"/>
              </a:rPr>
              <a:t>IMPACTO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FB7185"/>
                </a:solidFill>
                <a:latin typeface="Segoe UI Semibold"/>
              </a:rPr>
              <a:t>SECCIÓN 06 –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Prueba del principio: ¿y si mañana llega un reloj nuevo?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Escenario real: una sede incorpora un equipo que exporta en ancho fijo, sin separadores.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08792" cy="621792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Segoe UI Semibold"/>
              </a:rPr>
              <a:t>Requerimiento nuevo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10332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Consolas"/>
              </a:rPr>
              <a:t>12345678 2026-03-14 08:02:11 SEDE-TRUJILLO    →  una sola cadena de 40 caracteres, campos por posición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23744"/>
            <a:ext cx="6720840" cy="2560320"/>
          </a:xfrm>
          <a:prstGeom prst="roundRect">
            <a:avLst>
              <a:gd name="adj" fmla="val 4500"/>
            </a:avLst>
          </a:prstGeom>
          <a:solidFill>
            <a:srgbClr val="09112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523744"/>
            <a:ext cx="6720840" cy="329184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816351"/>
            <a:ext cx="6720840" cy="109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2647187"/>
            <a:ext cx="77724" cy="77724"/>
          </a:xfrm>
          <a:prstGeom prst="ellipse">
            <a:avLst/>
          </a:prstGeom>
          <a:solidFill>
            <a:srgbClr val="FB718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05256" y="2647187"/>
            <a:ext cx="77724" cy="7772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3271" y="2647187"/>
            <a:ext cx="77724" cy="77724"/>
          </a:xfrm>
          <a:prstGeom prst="ellipse">
            <a:avLst/>
          </a:prstGeom>
          <a:solidFill>
            <a:srgbClr val="34D39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7" y="2606039"/>
            <a:ext cx="5349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3DA"/>
                </a:solidFill>
                <a:latin typeface="Consolas"/>
              </a:rPr>
              <a:t>FormatoAnchoFijo.cs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9651" y="2583179"/>
            <a:ext cx="891539" cy="210312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9651" y="2608783"/>
            <a:ext cx="89153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34D399"/>
                </a:solidFill>
                <a:latin typeface="Segoe UI Semibold"/>
              </a:rPr>
              <a:t>EXTENSIÓN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48939"/>
            <a:ext cx="6629400" cy="139903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948939"/>
            <a:ext cx="25603" cy="13990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2962656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2962656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Consolas"/>
              </a:rPr>
              <a:t>// ARCHIVO NUEVO. No se modifica ninguna clase existente.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088843"/>
            <a:ext cx="6629400" cy="139903"/>
          </a:xfrm>
          <a:prstGeom prst="rect">
            <a:avLst/>
          </a:prstGeom>
          <a:solidFill>
            <a:srgbClr val="34D3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088843"/>
            <a:ext cx="25603" cy="13990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" y="3102559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102559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sealed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class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FormatoAnchoFijo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: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IFormatoMarcacion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42462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242462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3382365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3382365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string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Codigo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   =&gt; </a:t>
            </a:r>
            <a:r>
              <a:rPr sz="900" b="0" i="0">
                <a:solidFill>
                  <a:srgbClr val="34D399"/>
                </a:solidFill>
                <a:latin typeface="Consolas"/>
              </a:rPr>
              <a:t>"ANCHO-FIJO-40"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522268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3522268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int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Prioridad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=&gt; </a:t>
            </a:r>
            <a:r>
              <a:rPr sz="900" b="0" i="0">
                <a:solidFill>
                  <a:srgbClr val="FBBF24"/>
                </a:solidFill>
                <a:latin typeface="Consolas"/>
              </a:rPr>
              <a:t>40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662172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3662172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8096" y="3802075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3802075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bool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Reconoce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LineaCruda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l) =&gt;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3941978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3941978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l.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Campos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Length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== </a:t>
            </a:r>
            <a:r>
              <a:rPr sz="900" b="0" i="0">
                <a:solidFill>
                  <a:srgbClr val="FBBF24"/>
                </a:solidFill>
                <a:latin typeface="Consolas"/>
              </a:rPr>
              <a:t>1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&amp;&amp; l.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Original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Length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== </a:t>
            </a:r>
            <a:r>
              <a:rPr sz="900" b="0" i="0">
                <a:solidFill>
                  <a:srgbClr val="FBBF24"/>
                </a:solidFill>
                <a:latin typeface="Consolas"/>
              </a:rPr>
              <a:t>40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4081881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 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4081881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" y="4221784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4221784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public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LineaMarcacion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Interpretar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LineaCruda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l) =&gt; </a:t>
            </a:r>
            <a:r>
              <a:rPr sz="900" b="0" i="0">
                <a:solidFill>
                  <a:srgbClr val="A78BFA"/>
                </a:solidFill>
                <a:latin typeface="Consolas"/>
              </a:rPr>
              <a:t>new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" y="4361688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" y="4361688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l.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Original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[..</a:t>
            </a:r>
            <a:r>
              <a:rPr sz="900" b="0" i="0">
                <a:solidFill>
                  <a:srgbClr val="FBBF24"/>
                </a:solidFill>
                <a:latin typeface="Consolas"/>
              </a:rPr>
              <a:t>8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].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Trim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(),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" y="4501591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" y="4501591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Fechas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Parsear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(l.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Original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Substring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</a:t>
            </a:r>
            <a:r>
              <a:rPr sz="900" b="0" i="0">
                <a:solidFill>
                  <a:srgbClr val="FBBF24"/>
                </a:solidFill>
                <a:latin typeface="Consolas"/>
              </a:rPr>
              <a:t>8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, </a:t>
            </a:r>
            <a:r>
              <a:rPr sz="900" b="0" i="0">
                <a:solidFill>
                  <a:srgbClr val="FBBF24"/>
                </a:solidFill>
                <a:latin typeface="Consolas"/>
              </a:rPr>
              <a:t>19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)),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" y="4641494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" y="4641494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        l.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Original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[</a:t>
            </a:r>
            <a:r>
              <a:rPr sz="900" b="0" i="0">
                <a:solidFill>
                  <a:srgbClr val="FBBF24"/>
                </a:solidFill>
                <a:latin typeface="Consolas"/>
              </a:rPr>
              <a:t>27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..].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Trim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()) { 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IdLinea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= l.</a:t>
            </a:r>
            <a:r>
              <a:rPr sz="900" b="0" i="0">
                <a:solidFill>
                  <a:srgbClr val="22D3EE"/>
                </a:solidFill>
                <a:latin typeface="Consolas"/>
              </a:rPr>
              <a:t>Numero</a:t>
            </a:r>
            <a:r>
              <a:rPr sz="900" b="0" i="0">
                <a:solidFill>
                  <a:srgbClr val="B7C3DA"/>
                </a:solidFill>
                <a:latin typeface="Consolas"/>
              </a:rPr>
              <a:t> };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" y="4781397"/>
            <a:ext cx="310896" cy="13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45678"/>
                </a:solidFill>
                <a:latin typeface="Consolas"/>
              </a:rPr>
              <a:t>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" y="4781397"/>
            <a:ext cx="6172200" cy="1399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7C3DA"/>
                </a:solidFill>
                <a:latin typeface="Consolas"/>
              </a:rPr>
              <a:t>}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16952" y="2523744"/>
            <a:ext cx="3931920" cy="256032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616952" y="2578608"/>
            <a:ext cx="45720" cy="2450591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72983" y="268833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Balance del cambio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72983" y="3017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egoe UI Semibold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05409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archivo creado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72983" y="3383279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egoe UI Semibold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41985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línea añadida en Program.cs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72983" y="3749039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egoe UI Semibold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785615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archivos existentes modificados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72983" y="4114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egoe UI Semibold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415137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pruebas existentes reescritas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72983" y="44805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 Semibold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451713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8EAE"/>
                </a:solidFill>
                <a:latin typeface="Segoe UI"/>
              </a:rPr>
              <a:t>suite de pruebas nueva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72983" y="4663440"/>
            <a:ext cx="3474720" cy="18288"/>
          </a:xfrm>
          <a:prstGeom prst="rect">
            <a:avLst/>
          </a:prstGeom>
          <a:solidFill>
            <a:srgbClr val="2C3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872983" y="4773168"/>
            <a:ext cx="3493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Segoe UI"/>
              </a:rPr>
              <a:t>El núcleo no se recompila por una razón funcional: se recompone.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5230368"/>
            <a:ext cx="5349240" cy="111556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3E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40080" y="5285231"/>
            <a:ext cx="45720" cy="10058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6112" y="535838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Segoe UI Semibold"/>
              </a:rPr>
              <a:t>Con el diseño propuesto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" y="5614416"/>
            <a:ext cx="486460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Se crea una clase y se registra una línea. La ampliación no exige modificar la lógica central: el módulo está cerrado a la modificación y abierto a la extensión.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99632" y="5230368"/>
            <a:ext cx="5349240" cy="1115568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199632" y="5285231"/>
            <a:ext cx="45720" cy="100584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55664" y="535838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Segoe UI Semibold"/>
              </a:rPr>
              <a:t>Con el diseño anterior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55664" y="5614416"/>
            <a:ext cx="486460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7C3DA"/>
                </a:solidFill>
                <a:latin typeface="Segoe UI"/>
              </a:rPr>
              <a:t>El mismo requerimiento habría significado abrir MarcacionesParser, añadir una quinta rama y volver a validar las cuatro anteriores.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78" name="Rounded Rectangle 77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80" name="Rounded Rectangle 79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82" name="Rounded Rectangle 81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84" name="Rounded Rectangle 83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86" name="Rounded Rectangle 85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88" name="Rounded Rectangle 87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FB7185">
              <a:alpha val="22000"/>
            </a:srgbClr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FB7185"/>
                </a:solidFill>
                <a:latin typeface="Segoe UI Semibold"/>
              </a:rPr>
              <a:t>IMPACTO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FB7185"/>
                </a:solidFill>
                <a:latin typeface="Segoe UI Semibold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Lo que este trabajo deja demostrado sobre el diseño del proyecto EVO-RRHH.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08792" cy="82296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92224"/>
            <a:ext cx="45720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1947672"/>
            <a:ext cx="402336" cy="402336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25395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88366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La refactorización mejora la estructura sin alterar el comportamiento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57984"/>
            <a:ext cx="9921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EAE"/>
                </a:solidFill>
                <a:latin typeface="Segoe UI"/>
              </a:rPr>
              <a:t>Reorganizamos el parseo de marcaciones conservando exactamente las mismas salidas y sin reescribir una sola prueba existente.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15184"/>
            <a:ext cx="10908792" cy="822960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670048"/>
            <a:ext cx="45720" cy="71323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6112" y="2825496"/>
            <a:ext cx="402336" cy="402336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903220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2761488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El OCP convierte la modificación en extensión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035808"/>
            <a:ext cx="9921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EAE"/>
                </a:solidFill>
                <a:latin typeface="Segoe UI"/>
              </a:rPr>
              <a:t>Un formato nuevo pasa de editar un método probado de 126 líneas a crear una clase y registrar una línea: los archivos existentes modificados pasan de dos a cero.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93008"/>
            <a:ext cx="10908792" cy="82296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547872"/>
            <a:ext cx="45720" cy="71323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6112" y="3703320"/>
            <a:ext cx="402336" cy="402336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781044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3639312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Aplicarlo reduce riesgo y mejora la escalabilidad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3913632"/>
            <a:ext cx="9921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EAE"/>
                </a:solidFill>
                <a:latin typeface="Segoe UI"/>
              </a:rPr>
              <a:t>Al aislar cada variante desaparece el riesgo de regresión sobre los formatos que ya funcionaban, y el coste de incorporar una sede nueva deja de crecer con el sistema.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70831"/>
            <a:ext cx="10908792" cy="822960"/>
          </a:xfrm>
          <a:prstGeom prst="roundRect">
            <a:avLst>
              <a:gd name="adj" fmla="val 5500"/>
            </a:avLst>
          </a:prstGeom>
          <a:solidFill>
            <a:srgbClr val="1A2542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425695"/>
            <a:ext cx="45720" cy="7132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96112" y="4581144"/>
            <a:ext cx="402336" cy="402336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4658868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Segoe UI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51713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El principio se aplica donde la variación ya se manifestó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4791455"/>
            <a:ext cx="9921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EAE"/>
                </a:solidFill>
                <a:latin typeface="Segoe UI"/>
              </a:rPr>
              <a:t>Elegimos el módulo de Asistencia porque la variación de formatos y reglas es un hecho del dominio, no una hipótesis. Abstraer sin esa evidencia habría añadido complejidad accidental.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48655"/>
            <a:ext cx="10908792" cy="822960"/>
          </a:xfrm>
          <a:prstGeom prst="roundRect">
            <a:avLst>
              <a:gd name="adj" fmla="val 55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303519"/>
            <a:ext cx="45720" cy="71323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96112" y="5458968"/>
            <a:ext cx="402336" cy="402336"/>
          </a:xfrm>
          <a:prstGeom prst="ellipse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5536692"/>
            <a:ext cx="4023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Segoe UI Semibol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5394959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Pensar en extensibilidad desde el diseño produce software sostenible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5669279"/>
            <a:ext cx="9921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EAE"/>
                </a:solidFill>
                <a:latin typeface="Segoe UI"/>
              </a:rPr>
              <a:t>El mismo contrato que cierra el parseo sirve para las reglas de consolidación y para la exportación de reportes: una decisión de diseño, tres módulos protegidos.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163056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7185"/>
                </a:solidFill>
                <a:latin typeface="Segoe UI"/>
              </a:rPr>
              <a:t>Un código bien diseñado es más fácil de entender, reutilizar y adaptar a nuevos requerimientos.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hlinkClick r:id="rId2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42" name="Rounded Rectangle 41">
            <a:hlinkClick r:id="rId3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44" name="Rounded Rectangle 43">
            <a:hlinkClick r:id="rId4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46" name="Rounded Rectangle 45">
            <a:hlinkClick r:id="rId5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48" name="Rounded Rectangle 47">
            <a:hlinkClick r:id="rId6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50" name="Rounded Rectangle 49">
            <a:hlinkClick r:id="rId7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52" name="Rounded Rectangle 51">
            <a:hlinkClick r:id="rId8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FB7185">
              <a:alpha val="22000"/>
            </a:srgbClr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FB7185"/>
                </a:solidFill>
                <a:latin typeface="Segoe UI Semibold"/>
              </a:rPr>
              <a:t>IMPACTO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FB7185"/>
                </a:solidFill>
                <a:latin typeface="Segoe UI Semibold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C"/>
                </a:solidFill>
                <a:latin typeface="Segoe UI Semibold"/>
              </a:rPr>
              <a:t>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7C3DA"/>
                </a:solidFill>
                <a:latin typeface="Segoe UI"/>
              </a:rPr>
              <a:t>Formato APA, 7.ª edición. Los enlaces son activos: se puede hacer clic sobre ellos.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2D3EE"/>
                </a:solidFill>
                <a:latin typeface="Segoe UI Semibold"/>
              </a:rPr>
              <a:t>LIBROS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349240" cy="18288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66543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2F6FC"/>
                </a:solidFill>
                <a:latin typeface="Segoe UI"/>
              </a:rPr>
              <a:t>Blé Jurado, C. (2022). </a:t>
            </a:r>
            <a:r>
              <a:rPr sz="900" b="0" i="1">
                <a:solidFill>
                  <a:srgbClr val="B7C3DA"/>
                </a:solidFill>
                <a:latin typeface="Segoe UI"/>
              </a:rPr>
              <a:t>Código sostenible: Cómo programar código fácil de mantener</a:t>
            </a:r>
            <a:r>
              <a:rPr sz="900" b="0" i="0">
                <a:solidFill>
                  <a:srgbClr val="B7C3DA"/>
                </a:solidFill>
                <a:latin typeface="Segoe UI"/>
              </a:rPr>
              <a:t>. Editorial Savvily. </a:t>
            </a:r>
            <a:r>
              <a:rPr sz="900" b="0" i="0">
                <a:solidFill>
                  <a:srgbClr val="22D3EE"/>
                </a:solidFill>
                <a:latin typeface="Segoe UI"/>
                <a:hlinkClick r:id="rId2"/>
              </a:rPr>
              <a:t>https://savvily.es/libros/codigo-sostenible/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2F6FC"/>
                </a:solidFill>
                <a:latin typeface="Segoe UI"/>
              </a:rPr>
              <a:t>Fowler, M. (2018). </a:t>
            </a:r>
            <a:r>
              <a:rPr sz="900" b="0" i="1">
                <a:solidFill>
                  <a:srgbClr val="B7C3DA"/>
                </a:solidFill>
                <a:latin typeface="Segoe UI"/>
              </a:rPr>
              <a:t>Refactoring: Improving the design of existing code</a:t>
            </a:r>
            <a:r>
              <a:rPr sz="900" b="0" i="0">
                <a:solidFill>
                  <a:srgbClr val="B7C3DA"/>
                </a:solidFill>
                <a:latin typeface="Segoe UI"/>
              </a:rPr>
              <a:t> (2.ª ed.). Addison-Wesley.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2F6FC"/>
                </a:solidFill>
                <a:latin typeface="Segoe UI"/>
              </a:rPr>
              <a:t>Gamma, E., Helm, R., Johnson, R. y Vlissides, J. (1994). </a:t>
            </a:r>
            <a:r>
              <a:rPr sz="900" b="0" i="1">
                <a:solidFill>
                  <a:srgbClr val="B7C3DA"/>
                </a:solidFill>
                <a:latin typeface="Segoe UI"/>
              </a:rPr>
              <a:t>Design patterns: Elements of reusable object-oriented software</a:t>
            </a:r>
            <a:r>
              <a:rPr sz="900" b="0" i="0">
                <a:solidFill>
                  <a:srgbClr val="B7C3DA"/>
                </a:solidFill>
                <a:latin typeface="Segoe UI"/>
              </a:rPr>
              <a:t>. Addison-Wesley.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2F6FC"/>
                </a:solidFill>
                <a:latin typeface="Segoe UI"/>
              </a:rPr>
              <a:t>Martin, R. C. (2017). </a:t>
            </a:r>
            <a:r>
              <a:rPr sz="900" b="0" i="1">
                <a:solidFill>
                  <a:srgbClr val="B7C3DA"/>
                </a:solidFill>
                <a:latin typeface="Segoe UI"/>
              </a:rPr>
              <a:t>Clean architecture: A craftsman's guide to software structure and design</a:t>
            </a:r>
            <a:r>
              <a:rPr sz="900" b="0" i="0">
                <a:solidFill>
                  <a:srgbClr val="B7C3DA"/>
                </a:solidFill>
                <a:latin typeface="Segoe UI"/>
              </a:rPr>
              <a:t>. Prentice Hall.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2F6FC"/>
                </a:solidFill>
                <a:latin typeface="Segoe UI"/>
              </a:rPr>
              <a:t>Meyer, B. (1988). </a:t>
            </a:r>
            <a:r>
              <a:rPr sz="900" b="0" i="1">
                <a:solidFill>
                  <a:srgbClr val="B7C3DA"/>
                </a:solidFill>
                <a:latin typeface="Segoe UI"/>
              </a:rPr>
              <a:t>Object-oriented software construction</a:t>
            </a:r>
            <a:r>
              <a:rPr sz="900" b="0" i="0">
                <a:solidFill>
                  <a:srgbClr val="B7C3DA"/>
                </a:solidFill>
                <a:latin typeface="Segoe UI"/>
              </a:rPr>
              <a:t>. Prentice Hall.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BBF24"/>
                </a:solidFill>
                <a:latin typeface="Segoe UI Semibold"/>
              </a:rPr>
              <a:t>FUENTE PRIMARIA DEL CASO PRÁCTICO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21808"/>
            <a:ext cx="5349240" cy="18288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449824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EAE"/>
                </a:solidFill>
                <a:latin typeface="Segoe UI"/>
              </a:rPr>
              <a:t>Repositorio del proyecto EVO-RRHH: Capa Logica/Logica/MarcacionesParser.cs, ConsolidadorAsistenciaCore.cs, ImportacionAsistenciaLogica.cs y Proyecto-Evo-RRLL/Controllers/ReporteController.cs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737360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A78BFA"/>
                </a:solidFill>
                <a:latin typeface="Segoe UI Semibold"/>
              </a:rPr>
              <a:t>ARTÍCULOS CIENTÍFICOS Y PROFESIONALES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938528"/>
            <a:ext cx="5349240" cy="18288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2066543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2F6FC"/>
                </a:solidFill>
                <a:latin typeface="Segoe UI"/>
              </a:rPr>
              <a:t>Larman, C. (2001). Protected variation: The importance of being closed. </a:t>
            </a:r>
            <a:r>
              <a:rPr sz="900" b="0" i="1">
                <a:solidFill>
                  <a:srgbClr val="B7C3DA"/>
                </a:solidFill>
                <a:latin typeface="Segoe UI"/>
              </a:rPr>
              <a:t>IEEE Software, 18</a:t>
            </a:r>
            <a:r>
              <a:rPr sz="900" b="0" i="0">
                <a:solidFill>
                  <a:srgbClr val="B7C3DA"/>
                </a:solidFill>
                <a:latin typeface="Segoe UI"/>
              </a:rPr>
              <a:t>(3), 89-91. </a:t>
            </a:r>
            <a:r>
              <a:rPr sz="900" b="0" i="0">
                <a:solidFill>
                  <a:srgbClr val="22D3EE"/>
                </a:solidFill>
                <a:latin typeface="Segoe UI"/>
                <a:hlinkClick r:id="rId3"/>
              </a:rPr>
              <a:t>https://doi.org/10.1109/52.922731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779776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2F6FC"/>
                </a:solidFill>
                <a:latin typeface="Segoe UI"/>
              </a:rPr>
              <a:t>Martin, R. C. (1996, enero). The open-closed principle [Columna Engineering Notebook]. </a:t>
            </a:r>
            <a:r>
              <a:rPr sz="900" b="0" i="1">
                <a:solidFill>
                  <a:srgbClr val="B7C3DA"/>
                </a:solidFill>
                <a:latin typeface="Segoe UI"/>
              </a:rPr>
              <a:t>C++ Report</a:t>
            </a:r>
            <a:r>
              <a:rPr sz="900" b="0" i="0">
                <a:solidFill>
                  <a:srgbClr val="B7C3DA"/>
                </a:solidFill>
                <a:latin typeface="Segoe UI"/>
              </a:rPr>
              <a:t>. </a:t>
            </a:r>
            <a:r>
              <a:rPr sz="900" b="0" i="0">
                <a:solidFill>
                  <a:srgbClr val="22D3EE"/>
                </a:solidFill>
                <a:latin typeface="Segoe UI"/>
                <a:hlinkClick r:id="rId4"/>
              </a:rPr>
              <a:t>https://www.cs.utexas.edu/~downing/papers/OCP-1996.pdf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547872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34D399"/>
                </a:solidFill>
                <a:latin typeface="Segoe UI Semibold"/>
              </a:rPr>
              <a:t>NORMAS E INFORMES INSTITUCIONALES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3749039"/>
            <a:ext cx="5349240" cy="18288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9632" y="3877056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2F6FC"/>
                </a:solidFill>
                <a:latin typeface="Segoe UI"/>
              </a:rPr>
              <a:t>Consortium for Information &amp; Software Quality. (2022). </a:t>
            </a:r>
            <a:r>
              <a:rPr sz="900" b="0" i="1">
                <a:solidFill>
                  <a:srgbClr val="B7C3DA"/>
                </a:solidFill>
                <a:latin typeface="Segoe UI"/>
              </a:rPr>
              <a:t>The cost of poor software quality in the US: A 2022 report</a:t>
            </a:r>
            <a:r>
              <a:rPr sz="900" b="0" i="0">
                <a:solidFill>
                  <a:srgbClr val="B7C3DA"/>
                </a:solidFill>
                <a:latin typeface="Segoe UI"/>
              </a:rPr>
              <a:t>. </a:t>
            </a:r>
            <a:r>
              <a:rPr sz="900" b="0" i="0">
                <a:solidFill>
                  <a:srgbClr val="22D3EE"/>
                </a:solidFill>
                <a:latin typeface="Segoe UI"/>
                <a:hlinkClick r:id="rId5"/>
              </a:rPr>
              <a:t>https://www.it-cisq.org/the-cost-of-poor-quality-software-in-the-us-a-2022-report/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4590288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2F6FC"/>
                </a:solidFill>
                <a:latin typeface="Segoe UI"/>
              </a:rPr>
              <a:t>International Organization for Standardization. (2023). </a:t>
            </a:r>
            <a:r>
              <a:rPr sz="900" b="0" i="1">
                <a:solidFill>
                  <a:srgbClr val="B7C3DA"/>
                </a:solidFill>
                <a:latin typeface="Segoe UI"/>
              </a:rPr>
              <a:t>Systems and software engineering — SQuaRE — Product quality model</a:t>
            </a:r>
            <a:r>
              <a:rPr sz="900" b="0" i="0">
                <a:solidFill>
                  <a:srgbClr val="B7C3DA"/>
                </a:solidFill>
                <a:latin typeface="Segoe UI"/>
              </a:rPr>
              <a:t> (ISO/IEC 25010:2023). </a:t>
            </a:r>
            <a:r>
              <a:rPr sz="900" b="0" i="0">
                <a:solidFill>
                  <a:srgbClr val="22D3EE"/>
                </a:solidFill>
                <a:latin typeface="Segoe UI"/>
                <a:hlinkClick r:id="rId6"/>
              </a:rPr>
              <a:t>https://www.iso.org/standard/78176.html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5358384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60A5FA"/>
                </a:solidFill>
                <a:latin typeface="Segoe UI Semibold"/>
              </a:rPr>
              <a:t>DOCUMENTACIÓN TÉCNICA EN LÍNEA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5559552"/>
            <a:ext cx="5349240" cy="18288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9632" y="5687568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2F6FC"/>
                </a:solidFill>
                <a:latin typeface="Segoe UI"/>
              </a:rPr>
              <a:t>Fowler, M. (s. f.). Replace conditional with polymorphism. En </a:t>
            </a:r>
            <a:r>
              <a:rPr sz="850" b="0" i="1">
                <a:solidFill>
                  <a:srgbClr val="B7C3DA"/>
                </a:solidFill>
                <a:latin typeface="Segoe UI"/>
              </a:rPr>
              <a:t>Catalog of refactorings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. </a:t>
            </a:r>
            <a:r>
              <a:rPr sz="850" b="0" i="0">
                <a:solidFill>
                  <a:srgbClr val="22D3EE"/>
                </a:solidFill>
                <a:latin typeface="Segoe UI"/>
                <a:hlinkClick r:id="rId7"/>
              </a:rPr>
              <a:t>https://refactoring.com/catalog/replaceConditionalWithPolymorphism.html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6071616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2F6FC"/>
                </a:solidFill>
                <a:latin typeface="Segoe UI"/>
              </a:rPr>
              <a:t>Microsoft. (s. f.). </a:t>
            </a:r>
            <a:r>
              <a:rPr sz="850" b="0" i="1">
                <a:solidFill>
                  <a:srgbClr val="B7C3DA"/>
                </a:solidFill>
                <a:latin typeface="Segoe UI"/>
              </a:rPr>
              <a:t>Dependency injection in .NET</a:t>
            </a:r>
            <a:r>
              <a:rPr sz="850" b="0" i="0">
                <a:solidFill>
                  <a:srgbClr val="B7C3DA"/>
                </a:solidFill>
                <a:latin typeface="Segoe UI"/>
              </a:rPr>
              <a:t>. Microsoft Learn. </a:t>
            </a:r>
            <a:r>
              <a:rPr sz="850" b="0" i="0">
                <a:solidFill>
                  <a:srgbClr val="22D3EE"/>
                </a:solidFill>
                <a:latin typeface="Segoe UI"/>
                <a:hlinkClick r:id="rId8"/>
              </a:rPr>
              <a:t>https://learn.microsoft.com/dotnet/core/extensions/dependency-injection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38404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2F52"/>
                </a:solidFill>
                <a:latin typeface="Segoe UI Semibold"/>
              </a:rPr>
              <a:t>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2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>
            <a:hlinkClick r:id="rId9" action="ppaction://hlinksldjump"/>
          </p:cNvPr>
          <p:cNvSpPr/>
          <p:nvPr/>
        </p:nvSpPr>
        <p:spPr>
          <a:xfrm>
            <a:off x="640080" y="6528816"/>
            <a:ext cx="768096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57453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ÍNDICE</a:t>
            </a:r>
          </a:p>
        </p:txBody>
      </p:sp>
      <p:sp>
        <p:nvSpPr>
          <p:cNvPr id="33" name="Rounded Rectangle 32">
            <a:hlinkClick r:id="rId10" action="ppaction://hlinksldjump"/>
          </p:cNvPr>
          <p:cNvSpPr/>
          <p:nvPr/>
        </p:nvSpPr>
        <p:spPr>
          <a:xfrm>
            <a:off x="148132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8132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FUNDAMENTOS</a:t>
            </a:r>
          </a:p>
        </p:txBody>
      </p:sp>
      <p:sp>
        <p:nvSpPr>
          <p:cNvPr id="35" name="Rounded Rectangle 34">
            <a:hlinkClick r:id="rId11" action="ppaction://hlinksldjump"/>
          </p:cNvPr>
          <p:cNvSpPr/>
          <p:nvPr/>
        </p:nvSpPr>
        <p:spPr>
          <a:xfrm>
            <a:off x="2926080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0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REFACTORIZAR</a:t>
            </a:r>
          </a:p>
        </p:txBody>
      </p:sp>
      <p:sp>
        <p:nvSpPr>
          <p:cNvPr id="37" name="Rounded Rectangle 36">
            <a:hlinkClick r:id="rId12" action="ppaction://hlinksldjump"/>
          </p:cNvPr>
          <p:cNvSpPr/>
          <p:nvPr/>
        </p:nvSpPr>
        <p:spPr>
          <a:xfrm>
            <a:off x="4370832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70832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TÉCNICAS</a:t>
            </a:r>
          </a:p>
        </p:txBody>
      </p:sp>
      <p:sp>
        <p:nvSpPr>
          <p:cNvPr id="39" name="Rounded Rectangle 38">
            <a:hlinkClick r:id="rId13" action="ppaction://hlinksldjump"/>
          </p:cNvPr>
          <p:cNvSpPr/>
          <p:nvPr/>
        </p:nvSpPr>
        <p:spPr>
          <a:xfrm>
            <a:off x="5815584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15584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CASO EVO</a:t>
            </a:r>
          </a:p>
        </p:txBody>
      </p:sp>
      <p:sp>
        <p:nvSpPr>
          <p:cNvPr id="41" name="Rounded Rectangle 40">
            <a:hlinkClick r:id="rId14" action="ppaction://hlinksldjump"/>
          </p:cNvPr>
          <p:cNvSpPr/>
          <p:nvPr/>
        </p:nvSpPr>
        <p:spPr>
          <a:xfrm>
            <a:off x="7260336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141D35"/>
          </a:solidFill>
          <a:ln w="9525">
            <a:solidFill>
              <a:srgbClr val="2C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60336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E8EAE"/>
                </a:solidFill>
                <a:latin typeface="Segoe UI Semibold"/>
              </a:rPr>
              <a:t>PROPUESTA</a:t>
            </a:r>
          </a:p>
        </p:txBody>
      </p:sp>
      <p:sp>
        <p:nvSpPr>
          <p:cNvPr id="43" name="Rounded Rectangle 42">
            <a:hlinkClick r:id="rId15" action="ppaction://hlinksldjump"/>
          </p:cNvPr>
          <p:cNvSpPr/>
          <p:nvPr/>
        </p:nvSpPr>
        <p:spPr>
          <a:xfrm>
            <a:off x="8705088" y="6528816"/>
            <a:ext cx="1389888" cy="246888"/>
          </a:xfrm>
          <a:prstGeom prst="roundRect">
            <a:avLst>
              <a:gd name="adj" fmla="val 50000"/>
            </a:avLst>
          </a:prstGeom>
          <a:solidFill>
            <a:srgbClr val="FB7185">
              <a:alpha val="22000"/>
            </a:srgbClr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05088" y="6574536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FB7185"/>
                </a:solidFill>
                <a:latin typeface="Segoe UI Semibold"/>
              </a:rPr>
              <a:t>IMPACTO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4432" y="657453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8EAE"/>
                </a:solidFill>
                <a:latin typeface="Segoe UI Semibold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D3EE"/>
      </a:hlink>
      <a:folHlink>
        <a:srgbClr val="A78BF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8F99DEA-7EA6-42AD-9726-CD781DFF5FAF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c82750c6-8dc6-473d-ac9e-1799e5cd2af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5613</Words>
  <Application>Microsoft Office PowerPoint</Application>
  <PresentationFormat>Panorámica</PresentationFormat>
  <Paragraphs>890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Refactorizacion y el Principio Abierto-Cerrado - EVO-RRHH</dc:title>
  <dc:subject>Evolucion y Configuracion de Software - Semana 05 - Trabajo grupal</dc:subject>
  <dc:creator>Equipo Proyecto EVO-RRHH</dc:creator>
  <cp:keywords>OCP, SOLID, refactorizacion, mantenibilidad, ISO/IEC 25010, .NET</cp:keywords>
  <dc:description>Caso practico: modulo de Asistencia (importacion de marcaciones). Referencias en formato APA 7.a edicion.</dc:description>
  <cp:lastModifiedBy>Anderson Benites</cp:lastModifiedBy>
  <cp:revision>2</cp:revision>
  <dcterms:created xsi:type="dcterms:W3CDTF">2013-01-27T09:14:16Z</dcterms:created>
  <dcterms:modified xsi:type="dcterms:W3CDTF">2026-09-18T19:04:20Z</dcterms:modified>
  <cp:category/>
</cp:coreProperties>
</file>